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5"/>
  </p:notesMasterIdLst>
  <p:sldIdLst>
    <p:sldId id="256" r:id="rId2"/>
    <p:sldId id="258" r:id="rId3"/>
    <p:sldId id="295" r:id="rId4"/>
    <p:sldId id="307" r:id="rId5"/>
    <p:sldId id="300" r:id="rId6"/>
    <p:sldId id="261" r:id="rId7"/>
    <p:sldId id="264" r:id="rId8"/>
    <p:sldId id="306" r:id="rId9"/>
    <p:sldId id="263" r:id="rId10"/>
    <p:sldId id="260" r:id="rId11"/>
    <p:sldId id="312" r:id="rId12"/>
    <p:sldId id="313" r:id="rId13"/>
    <p:sldId id="301" r:id="rId14"/>
    <p:sldId id="314" r:id="rId15"/>
    <p:sldId id="316" r:id="rId16"/>
    <p:sldId id="308" r:id="rId17"/>
    <p:sldId id="292" r:id="rId18"/>
    <p:sldId id="303" r:id="rId19"/>
    <p:sldId id="309" r:id="rId20"/>
    <p:sldId id="311" r:id="rId21"/>
    <p:sldId id="310" r:id="rId22"/>
    <p:sldId id="271" r:id="rId23"/>
    <p:sldId id="298" r:id="rId24"/>
  </p:sldIdLst>
  <p:sldSz cx="9144000" cy="5143500" type="screen16x9"/>
  <p:notesSz cx="6858000" cy="9144000"/>
  <p:embeddedFontLst>
    <p:embeddedFont>
      <p:font typeface="Anaheim" pitchFamily="2" charset="77"/>
      <p:regular r:id="rId26"/>
      <p:bold r:id="rId27"/>
    </p:embeddedFont>
    <p:embeddedFont>
      <p:font typeface="Andale Mono" panose="020B0509000000000004" pitchFamily="49" charset="0"/>
      <p:regular r:id="rId28"/>
    </p:embeddedFont>
    <p:embeddedFont>
      <p:font typeface="DM Sans" pitchFamily="2" charset="77"/>
      <p:regular r:id="rId29"/>
      <p:bold r:id="rId30"/>
      <p:italic r:id="rId31"/>
      <p:boldItalic r:id="rId32"/>
    </p:embeddedFont>
    <p:embeddedFont>
      <p:font typeface="Inria Serif" pitchFamily="2" charset="77"/>
      <p:regular r:id="rId33"/>
      <p:bold r:id="rId34"/>
      <p:italic r:id="rId35"/>
      <p:boldItalic r:id="rId36"/>
    </p:embeddedFont>
    <p:embeddedFont>
      <p:font typeface="Inter" panose="02000503000000020004" pitchFamily="2" charset="0"/>
      <p:regular r:id="rId37"/>
      <p:bold r:id="rId38"/>
      <p:italic r:id="rId39"/>
      <p:boldItalic r:id="rId40"/>
    </p:embeddedFont>
    <p:embeddedFont>
      <p:font typeface="Kohinoor Bangla" panose="02000000000000000000" pitchFamily="2" charset="77"/>
      <p:regular r:id="rId41"/>
      <p:bold r:id="rId42"/>
    </p:embeddedFon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Nunito Light" panose="020F0302020204030204" pitchFamily="34" charset="0"/>
      <p:regular r:id="rId47"/>
      <p: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4F5F"/>
    <a:srgbClr val="EED3D2"/>
    <a:srgbClr val="4E1426"/>
    <a:srgbClr val="4F15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B295B9-28AD-4922-8AE8-49C1ABDC0B6D}">
  <a:tblStyle styleId="{36B295B9-28AD-4922-8AE8-49C1ABDC0B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4"/>
    <p:restoredTop sz="93710"/>
  </p:normalViewPr>
  <p:slideViewPr>
    <p:cSldViewPr snapToGrid="0">
      <p:cViewPr varScale="1">
        <p:scale>
          <a:sx n="164" d="100"/>
          <a:sy n="164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F59005-1C81-B540-BA87-1B057185D401}" type="doc">
      <dgm:prSet loTypeId="urn:microsoft.com/office/officeart/2005/8/layout/hierarchy1" loCatId="" qsTypeId="urn:microsoft.com/office/officeart/2005/8/quickstyle/3d3" qsCatId="3D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750231A8-43CC-9746-937D-B8A751D14416}">
      <dgm:prSet phldrT="[Text]"/>
      <dgm:spPr/>
      <dgm:t>
        <a:bodyPr/>
        <a:lstStyle/>
        <a:p>
          <a:r>
            <a:rPr lang="en-US" dirty="0"/>
            <a:t>No Report Generated </a:t>
          </a:r>
        </a:p>
      </dgm:t>
    </dgm:pt>
    <dgm:pt modelId="{2A29D6B6-2109-7746-BA83-C0558C6E492F}" type="parTrans" cxnId="{177A4716-529D-8042-BBC6-3E829972A391}">
      <dgm:prSet/>
      <dgm:spPr/>
      <dgm:t>
        <a:bodyPr/>
        <a:lstStyle/>
        <a:p>
          <a:endParaRPr lang="en-US"/>
        </a:p>
      </dgm:t>
    </dgm:pt>
    <dgm:pt modelId="{ACB6276B-59E3-F645-B01D-9AF60182848C}" type="sibTrans" cxnId="{177A4716-529D-8042-BBC6-3E829972A391}">
      <dgm:prSet/>
      <dgm:spPr/>
      <dgm:t>
        <a:bodyPr/>
        <a:lstStyle/>
        <a:p>
          <a:endParaRPr lang="en-US"/>
        </a:p>
      </dgm:t>
    </dgm:pt>
    <dgm:pt modelId="{783D7EEB-921B-7541-A3D2-718C0AB27AC1}">
      <dgm:prSet phldrT="[Text]"/>
      <dgm:spPr/>
      <dgm:t>
        <a:bodyPr/>
        <a:lstStyle/>
        <a:p>
          <a:r>
            <a:rPr lang="en-US" dirty="0"/>
            <a:t>No report</a:t>
          </a:r>
        </a:p>
      </dgm:t>
    </dgm:pt>
    <dgm:pt modelId="{9084E9E4-57EA-D946-8147-001126A5C8B5}" type="parTrans" cxnId="{AD359762-B07B-C644-9D79-4F1C5C1B4461}">
      <dgm:prSet/>
      <dgm:spPr/>
      <dgm:t>
        <a:bodyPr/>
        <a:lstStyle/>
        <a:p>
          <a:endParaRPr lang="en-US"/>
        </a:p>
      </dgm:t>
    </dgm:pt>
    <dgm:pt modelId="{4E15C093-84BA-094C-87C9-1A98ED919288}" type="sibTrans" cxnId="{AD359762-B07B-C644-9D79-4F1C5C1B4461}">
      <dgm:prSet/>
      <dgm:spPr/>
      <dgm:t>
        <a:bodyPr/>
        <a:lstStyle/>
        <a:p>
          <a:endParaRPr lang="en-US"/>
        </a:p>
      </dgm:t>
    </dgm:pt>
    <dgm:pt modelId="{74887C73-4438-5A48-A640-F8F28CBD5EEC}">
      <dgm:prSet phldrT="[Text]"/>
      <dgm:spPr/>
      <dgm:t>
        <a:bodyPr/>
        <a:lstStyle/>
        <a:p>
          <a:r>
            <a:rPr lang="en-US" dirty="0"/>
            <a:t>Service/Non-Criminal</a:t>
          </a:r>
        </a:p>
      </dgm:t>
    </dgm:pt>
    <dgm:pt modelId="{B74DBE51-0C10-7747-8E8E-2456217D6567}" type="parTrans" cxnId="{57A50669-7AA6-A445-8960-A7117A0D080E}">
      <dgm:prSet/>
      <dgm:spPr/>
      <dgm:t>
        <a:bodyPr/>
        <a:lstStyle/>
        <a:p>
          <a:endParaRPr lang="en-US"/>
        </a:p>
      </dgm:t>
    </dgm:pt>
    <dgm:pt modelId="{6AC1FDA5-CE9B-A749-B49A-D27481FB56DC}" type="sibTrans" cxnId="{57A50669-7AA6-A445-8960-A7117A0D080E}">
      <dgm:prSet/>
      <dgm:spPr/>
      <dgm:t>
        <a:bodyPr/>
        <a:lstStyle/>
        <a:p>
          <a:endParaRPr lang="en-US"/>
        </a:p>
      </dgm:t>
    </dgm:pt>
    <dgm:pt modelId="{A46E41FD-7389-A545-880D-96294B9A27FE}">
      <dgm:prSet phldrT="[Text]"/>
      <dgm:spPr/>
      <dgm:t>
        <a:bodyPr/>
        <a:lstStyle/>
        <a:p>
          <a:r>
            <a:rPr lang="en-US" dirty="0"/>
            <a:t>Report</a:t>
          </a:r>
        </a:p>
      </dgm:t>
    </dgm:pt>
    <dgm:pt modelId="{07B8D557-BD0E-AD46-AE10-AED4E5FC24DA}" type="parTrans" cxnId="{B26504E1-9629-3048-A871-4E25F83D0001}">
      <dgm:prSet/>
      <dgm:spPr/>
      <dgm:t>
        <a:bodyPr/>
        <a:lstStyle/>
        <a:p>
          <a:endParaRPr lang="en-US"/>
        </a:p>
      </dgm:t>
    </dgm:pt>
    <dgm:pt modelId="{A9C979B0-ACD4-C441-9A68-605A73EB8CED}" type="sibTrans" cxnId="{B26504E1-9629-3048-A871-4E25F83D0001}">
      <dgm:prSet/>
      <dgm:spPr/>
      <dgm:t>
        <a:bodyPr/>
        <a:lstStyle/>
        <a:p>
          <a:endParaRPr lang="en-US"/>
        </a:p>
      </dgm:t>
    </dgm:pt>
    <dgm:pt modelId="{361F2009-F32B-1B40-AE97-7AB391D4A1C4}">
      <dgm:prSet phldrT="[Text]"/>
      <dgm:spPr>
        <a:solidFill>
          <a:srgbClr val="EED3D2">
            <a:alpha val="91059"/>
          </a:srgbClr>
        </a:solidFill>
      </dgm:spPr>
      <dgm:t>
        <a:bodyPr/>
        <a:lstStyle/>
        <a:p>
          <a:r>
            <a:rPr lang="en-US" dirty="0"/>
            <a:t>Mismatch</a:t>
          </a:r>
        </a:p>
      </dgm:t>
    </dgm:pt>
    <dgm:pt modelId="{8639759E-9577-2E46-8047-0EFB3A440D71}" type="parTrans" cxnId="{FDCDBB91-A577-BD4D-B1F3-8FFCABA3693A}">
      <dgm:prSet/>
      <dgm:spPr/>
      <dgm:t>
        <a:bodyPr/>
        <a:lstStyle/>
        <a:p>
          <a:endParaRPr lang="en-US"/>
        </a:p>
      </dgm:t>
    </dgm:pt>
    <dgm:pt modelId="{7059B9CC-FF4C-4D41-8BAE-067B856A29C1}" type="sibTrans" cxnId="{FDCDBB91-A577-BD4D-B1F3-8FFCABA3693A}">
      <dgm:prSet/>
      <dgm:spPr/>
      <dgm:t>
        <a:bodyPr/>
        <a:lstStyle/>
        <a:p>
          <a:endParaRPr lang="en-US"/>
        </a:p>
      </dgm:t>
    </dgm:pt>
    <dgm:pt modelId="{DA1F8DAF-83C2-6842-B7AE-FAD5AF7AF8B7}">
      <dgm:prSet/>
      <dgm:spPr/>
      <dgm:t>
        <a:bodyPr/>
        <a:lstStyle/>
        <a:p>
          <a:r>
            <a:rPr lang="en-US" dirty="0"/>
            <a:t>Match</a:t>
          </a:r>
        </a:p>
      </dgm:t>
    </dgm:pt>
    <dgm:pt modelId="{CE1FA447-F55C-0847-B2E5-2F1E37FE00A8}" type="parTrans" cxnId="{342E3922-2BE2-B848-9B41-AFE1C77EB43A}">
      <dgm:prSet/>
      <dgm:spPr/>
      <dgm:t>
        <a:bodyPr/>
        <a:lstStyle/>
        <a:p>
          <a:endParaRPr lang="en-US"/>
        </a:p>
      </dgm:t>
    </dgm:pt>
    <dgm:pt modelId="{11CDA0AF-6559-8640-BBEE-E6FAE3CD7F32}" type="sibTrans" cxnId="{342E3922-2BE2-B848-9B41-AFE1C77EB43A}">
      <dgm:prSet/>
      <dgm:spPr/>
      <dgm:t>
        <a:bodyPr/>
        <a:lstStyle/>
        <a:p>
          <a:endParaRPr lang="en-US"/>
        </a:p>
      </dgm:t>
    </dgm:pt>
    <dgm:pt modelId="{A0BEE869-A05B-5F4C-9017-C1CDBFA48492}">
      <dgm:prSet/>
      <dgm:spPr/>
      <dgm:t>
        <a:bodyPr/>
        <a:lstStyle/>
        <a:p>
          <a:r>
            <a:rPr lang="en-US" dirty="0"/>
            <a:t>Downgraded</a:t>
          </a:r>
        </a:p>
      </dgm:t>
    </dgm:pt>
    <dgm:pt modelId="{4EBCA48E-202A-C643-8AD9-AACE10827BE5}" type="parTrans" cxnId="{02C58788-E4FF-EA42-88C7-2A3D9D8B3A83}">
      <dgm:prSet/>
      <dgm:spPr/>
      <dgm:t>
        <a:bodyPr/>
        <a:lstStyle/>
        <a:p>
          <a:endParaRPr lang="en-US"/>
        </a:p>
      </dgm:t>
    </dgm:pt>
    <dgm:pt modelId="{1E74D582-951E-4A49-962B-FD473C2139C0}" type="sibTrans" cxnId="{02C58788-E4FF-EA42-88C7-2A3D9D8B3A83}">
      <dgm:prSet/>
      <dgm:spPr/>
      <dgm:t>
        <a:bodyPr/>
        <a:lstStyle/>
        <a:p>
          <a:endParaRPr lang="en-US"/>
        </a:p>
      </dgm:t>
    </dgm:pt>
    <dgm:pt modelId="{EDF0A259-4210-544D-9168-43FDB78043FC}">
      <dgm:prSet/>
      <dgm:spPr/>
      <dgm:t>
        <a:bodyPr/>
        <a:lstStyle/>
        <a:p>
          <a:r>
            <a:rPr lang="en-US" dirty="0"/>
            <a:t>Upgraded</a:t>
          </a:r>
        </a:p>
      </dgm:t>
    </dgm:pt>
    <dgm:pt modelId="{26A22D6C-05C8-EE4A-93F3-4F250D86C6F0}" type="parTrans" cxnId="{D51786DE-9596-CA42-9666-DDE4C537610A}">
      <dgm:prSet/>
      <dgm:spPr/>
      <dgm:t>
        <a:bodyPr/>
        <a:lstStyle/>
        <a:p>
          <a:endParaRPr lang="en-US"/>
        </a:p>
      </dgm:t>
    </dgm:pt>
    <dgm:pt modelId="{C3625AD8-72C7-3748-8C35-EDBBF4958B4A}" type="sibTrans" cxnId="{D51786DE-9596-CA42-9666-DDE4C537610A}">
      <dgm:prSet/>
      <dgm:spPr/>
      <dgm:t>
        <a:bodyPr/>
        <a:lstStyle/>
        <a:p>
          <a:endParaRPr lang="en-US"/>
        </a:p>
      </dgm:t>
    </dgm:pt>
    <dgm:pt modelId="{CD095A2F-9C41-0F44-8074-CAC50372BA71}">
      <dgm:prSet/>
      <dgm:spPr/>
      <dgm:t>
        <a:bodyPr/>
        <a:lstStyle/>
        <a:p>
          <a:r>
            <a:rPr lang="en-US" dirty="0"/>
            <a:t>Service to Crime</a:t>
          </a:r>
        </a:p>
      </dgm:t>
    </dgm:pt>
    <dgm:pt modelId="{E78930F6-889A-5240-9214-1C82A8CC3A9D}" type="parTrans" cxnId="{83F33DFF-E7B2-864D-BB7E-AEF59DFB080B}">
      <dgm:prSet/>
      <dgm:spPr/>
      <dgm:t>
        <a:bodyPr/>
        <a:lstStyle/>
        <a:p>
          <a:endParaRPr lang="en-US"/>
        </a:p>
      </dgm:t>
    </dgm:pt>
    <dgm:pt modelId="{467D6145-6A62-4445-8117-E86E02291E55}" type="sibTrans" cxnId="{83F33DFF-E7B2-864D-BB7E-AEF59DFB080B}">
      <dgm:prSet/>
      <dgm:spPr/>
      <dgm:t>
        <a:bodyPr/>
        <a:lstStyle/>
        <a:p>
          <a:endParaRPr lang="en-US"/>
        </a:p>
      </dgm:t>
    </dgm:pt>
    <dgm:pt modelId="{E063C362-1BC0-874E-AB18-DEB30DB4B7E8}" type="pres">
      <dgm:prSet presAssocID="{C9F59005-1C81-B540-BA87-1B057185D40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9AC409-32F3-6340-A3F6-8D3C7B5F7353}" type="pres">
      <dgm:prSet presAssocID="{750231A8-43CC-9746-937D-B8A751D14416}" presName="hierRoot1" presStyleCnt="0"/>
      <dgm:spPr/>
    </dgm:pt>
    <dgm:pt modelId="{C486205F-8DCD-D541-973F-83A4F64C82A3}" type="pres">
      <dgm:prSet presAssocID="{750231A8-43CC-9746-937D-B8A751D14416}" presName="composite" presStyleCnt="0"/>
      <dgm:spPr/>
    </dgm:pt>
    <dgm:pt modelId="{C110FE6C-4A0A-1944-83A0-E58C6033B696}" type="pres">
      <dgm:prSet presAssocID="{750231A8-43CC-9746-937D-B8A751D14416}" presName="background" presStyleLbl="node0" presStyleIdx="0" presStyleCnt="2"/>
      <dgm:spPr/>
    </dgm:pt>
    <dgm:pt modelId="{A723DA4D-8F5B-B94E-B0D7-523A67DE603E}" type="pres">
      <dgm:prSet presAssocID="{750231A8-43CC-9746-937D-B8A751D14416}" presName="text" presStyleLbl="fgAcc0" presStyleIdx="0" presStyleCnt="2" custScaleX="172323" custScaleY="74337">
        <dgm:presLayoutVars>
          <dgm:chPref val="3"/>
        </dgm:presLayoutVars>
      </dgm:prSet>
      <dgm:spPr/>
    </dgm:pt>
    <dgm:pt modelId="{CBB214C0-5467-CF41-A771-D6FD0DBBB100}" type="pres">
      <dgm:prSet presAssocID="{750231A8-43CC-9746-937D-B8A751D14416}" presName="hierChild2" presStyleCnt="0"/>
      <dgm:spPr/>
    </dgm:pt>
    <dgm:pt modelId="{58CA71A0-F66C-334D-AE60-B29655E8109C}" type="pres">
      <dgm:prSet presAssocID="{9084E9E4-57EA-D946-8147-001126A5C8B5}" presName="Name10" presStyleLbl="parChTrans1D2" presStyleIdx="0" presStyleCnt="4"/>
      <dgm:spPr/>
    </dgm:pt>
    <dgm:pt modelId="{097076EF-266B-0741-97D9-031A144B3EB2}" type="pres">
      <dgm:prSet presAssocID="{783D7EEB-921B-7541-A3D2-718C0AB27AC1}" presName="hierRoot2" presStyleCnt="0"/>
      <dgm:spPr/>
    </dgm:pt>
    <dgm:pt modelId="{27B59D57-01E5-124B-B231-75DD735D0F1C}" type="pres">
      <dgm:prSet presAssocID="{783D7EEB-921B-7541-A3D2-718C0AB27AC1}" presName="composite2" presStyleCnt="0"/>
      <dgm:spPr/>
    </dgm:pt>
    <dgm:pt modelId="{CABC5FB2-7EF8-5D4F-9110-90A9098AE8B0}" type="pres">
      <dgm:prSet presAssocID="{783D7EEB-921B-7541-A3D2-718C0AB27AC1}" presName="background2" presStyleLbl="node2" presStyleIdx="0" presStyleCnt="4"/>
      <dgm:spPr/>
    </dgm:pt>
    <dgm:pt modelId="{BF60D52C-82EF-A646-A801-FFB060497428}" type="pres">
      <dgm:prSet presAssocID="{783D7EEB-921B-7541-A3D2-718C0AB27AC1}" presName="text2" presStyleLbl="fgAcc2" presStyleIdx="0" presStyleCnt="4" custScaleY="78354">
        <dgm:presLayoutVars>
          <dgm:chPref val="3"/>
        </dgm:presLayoutVars>
      </dgm:prSet>
      <dgm:spPr/>
    </dgm:pt>
    <dgm:pt modelId="{14A41A9D-4794-D34B-845D-42C12FD89728}" type="pres">
      <dgm:prSet presAssocID="{783D7EEB-921B-7541-A3D2-718C0AB27AC1}" presName="hierChild3" presStyleCnt="0"/>
      <dgm:spPr/>
    </dgm:pt>
    <dgm:pt modelId="{60737D66-26D3-D94A-AC7A-8321E36C10CB}" type="pres">
      <dgm:prSet presAssocID="{B74DBE51-0C10-7747-8E8E-2456217D6567}" presName="Name10" presStyleLbl="parChTrans1D2" presStyleIdx="1" presStyleCnt="4"/>
      <dgm:spPr/>
    </dgm:pt>
    <dgm:pt modelId="{8174F95B-F4FB-C44D-8006-A5ACD65C83D1}" type="pres">
      <dgm:prSet presAssocID="{74887C73-4438-5A48-A640-F8F28CBD5EEC}" presName="hierRoot2" presStyleCnt="0"/>
      <dgm:spPr/>
    </dgm:pt>
    <dgm:pt modelId="{6CABD10F-A77E-C649-AC42-23F0A4F43A2C}" type="pres">
      <dgm:prSet presAssocID="{74887C73-4438-5A48-A640-F8F28CBD5EEC}" presName="composite2" presStyleCnt="0"/>
      <dgm:spPr/>
    </dgm:pt>
    <dgm:pt modelId="{C8BD160B-529C-804C-8E8A-44344CF15B3A}" type="pres">
      <dgm:prSet presAssocID="{74887C73-4438-5A48-A640-F8F28CBD5EEC}" presName="background2" presStyleLbl="node2" presStyleIdx="1" presStyleCnt="4"/>
      <dgm:spPr/>
    </dgm:pt>
    <dgm:pt modelId="{9180AE38-F6AD-3844-B7FF-67F0B7C9ED99}" type="pres">
      <dgm:prSet presAssocID="{74887C73-4438-5A48-A640-F8F28CBD5EEC}" presName="text2" presStyleLbl="fgAcc2" presStyleIdx="1" presStyleCnt="4" custScaleX="111111" custScaleY="85546">
        <dgm:presLayoutVars>
          <dgm:chPref val="3"/>
        </dgm:presLayoutVars>
      </dgm:prSet>
      <dgm:spPr/>
    </dgm:pt>
    <dgm:pt modelId="{AE4FDC21-BD55-344D-A44D-F3B8431CFCA7}" type="pres">
      <dgm:prSet presAssocID="{74887C73-4438-5A48-A640-F8F28CBD5EEC}" presName="hierChild3" presStyleCnt="0"/>
      <dgm:spPr/>
    </dgm:pt>
    <dgm:pt modelId="{59E037C3-B261-5546-B3BF-377127A02981}" type="pres">
      <dgm:prSet presAssocID="{A46E41FD-7389-A545-880D-96294B9A27FE}" presName="hierRoot1" presStyleCnt="0"/>
      <dgm:spPr/>
    </dgm:pt>
    <dgm:pt modelId="{C5D26BDB-455D-9A42-A14F-BC1E173137AE}" type="pres">
      <dgm:prSet presAssocID="{A46E41FD-7389-A545-880D-96294B9A27FE}" presName="composite" presStyleCnt="0"/>
      <dgm:spPr/>
    </dgm:pt>
    <dgm:pt modelId="{697B72F9-4BA4-2E45-A7A0-2265B4E02FF9}" type="pres">
      <dgm:prSet presAssocID="{A46E41FD-7389-A545-880D-96294B9A27FE}" presName="background" presStyleLbl="node0" presStyleIdx="1" presStyleCnt="2"/>
      <dgm:spPr/>
    </dgm:pt>
    <dgm:pt modelId="{D5D7D2B1-8BFA-3941-9C9C-6D8B72A7268B}" type="pres">
      <dgm:prSet presAssocID="{A46E41FD-7389-A545-880D-96294B9A27FE}" presName="text" presStyleLbl="fgAcc0" presStyleIdx="1" presStyleCnt="2" custScaleY="68451" custLinFactNeighborX="21391">
        <dgm:presLayoutVars>
          <dgm:chPref val="3"/>
        </dgm:presLayoutVars>
      </dgm:prSet>
      <dgm:spPr/>
    </dgm:pt>
    <dgm:pt modelId="{CE5E5F20-E7E0-114F-84FF-6D4BDA67A959}" type="pres">
      <dgm:prSet presAssocID="{A46E41FD-7389-A545-880D-96294B9A27FE}" presName="hierChild2" presStyleCnt="0"/>
      <dgm:spPr/>
    </dgm:pt>
    <dgm:pt modelId="{ED64E09A-E485-8A4E-9EBF-E554F1378C8A}" type="pres">
      <dgm:prSet presAssocID="{8639759E-9577-2E46-8047-0EFB3A440D71}" presName="Name10" presStyleLbl="parChTrans1D2" presStyleIdx="2" presStyleCnt="4"/>
      <dgm:spPr/>
    </dgm:pt>
    <dgm:pt modelId="{B1EFC018-D0E3-A147-9791-E219CCC719AD}" type="pres">
      <dgm:prSet presAssocID="{361F2009-F32B-1B40-AE97-7AB391D4A1C4}" presName="hierRoot2" presStyleCnt="0"/>
      <dgm:spPr/>
    </dgm:pt>
    <dgm:pt modelId="{4C2A24B4-470A-3442-A947-85EB99C77C1E}" type="pres">
      <dgm:prSet presAssocID="{361F2009-F32B-1B40-AE97-7AB391D4A1C4}" presName="composite2" presStyleCnt="0"/>
      <dgm:spPr/>
    </dgm:pt>
    <dgm:pt modelId="{9E5CDF1B-9016-9C4E-BC19-8B630B82BC13}" type="pres">
      <dgm:prSet presAssocID="{361F2009-F32B-1B40-AE97-7AB391D4A1C4}" presName="background2" presStyleLbl="node2" presStyleIdx="2" presStyleCnt="4"/>
      <dgm:spPr/>
    </dgm:pt>
    <dgm:pt modelId="{4E5FC293-3EAD-2B42-9E5A-480106D158F6}" type="pres">
      <dgm:prSet presAssocID="{361F2009-F32B-1B40-AE97-7AB391D4A1C4}" presName="text2" presStyleLbl="fgAcc2" presStyleIdx="2" presStyleCnt="4" custScaleY="80298" custLinFactNeighborX="20213">
        <dgm:presLayoutVars>
          <dgm:chPref val="3"/>
        </dgm:presLayoutVars>
      </dgm:prSet>
      <dgm:spPr/>
    </dgm:pt>
    <dgm:pt modelId="{4A0ED2B8-9EB2-A14D-91A9-549A29F4374A}" type="pres">
      <dgm:prSet presAssocID="{361F2009-F32B-1B40-AE97-7AB391D4A1C4}" presName="hierChild3" presStyleCnt="0"/>
      <dgm:spPr/>
    </dgm:pt>
    <dgm:pt modelId="{C941E5B4-1C5F-FD4F-ABFD-4BE3BDFA4673}" type="pres">
      <dgm:prSet presAssocID="{4EBCA48E-202A-C643-8AD9-AACE10827BE5}" presName="Name17" presStyleLbl="parChTrans1D3" presStyleIdx="0" presStyleCnt="2"/>
      <dgm:spPr/>
    </dgm:pt>
    <dgm:pt modelId="{0DFEE2A9-8482-1C47-98E3-1CD4C22E6304}" type="pres">
      <dgm:prSet presAssocID="{A0BEE869-A05B-5F4C-9017-C1CDBFA48492}" presName="hierRoot3" presStyleCnt="0"/>
      <dgm:spPr/>
    </dgm:pt>
    <dgm:pt modelId="{A86DD51C-A14C-7D45-A1C1-2171CB87EDA6}" type="pres">
      <dgm:prSet presAssocID="{A0BEE869-A05B-5F4C-9017-C1CDBFA48492}" presName="composite3" presStyleCnt="0"/>
      <dgm:spPr/>
    </dgm:pt>
    <dgm:pt modelId="{9175FB47-B0A6-624B-A35E-2DDD7F7FEEA7}" type="pres">
      <dgm:prSet presAssocID="{A0BEE869-A05B-5F4C-9017-C1CDBFA48492}" presName="background3" presStyleLbl="node3" presStyleIdx="0" presStyleCnt="2"/>
      <dgm:spPr/>
    </dgm:pt>
    <dgm:pt modelId="{98C00918-BE90-6D4F-B874-F11034FD672A}" type="pres">
      <dgm:prSet presAssocID="{A0BEE869-A05B-5F4C-9017-C1CDBFA48492}" presName="text3" presStyleLbl="fgAcc3" presStyleIdx="0" presStyleCnt="2" custScaleY="59755" custLinFactNeighborX="20213">
        <dgm:presLayoutVars>
          <dgm:chPref val="3"/>
        </dgm:presLayoutVars>
      </dgm:prSet>
      <dgm:spPr/>
    </dgm:pt>
    <dgm:pt modelId="{02FC7901-ADAF-C347-93EC-A15C39859656}" type="pres">
      <dgm:prSet presAssocID="{A0BEE869-A05B-5F4C-9017-C1CDBFA48492}" presName="hierChild4" presStyleCnt="0"/>
      <dgm:spPr/>
    </dgm:pt>
    <dgm:pt modelId="{0342B85D-643C-CE49-8C80-C421B6A48EC1}" type="pres">
      <dgm:prSet presAssocID="{26A22D6C-05C8-EE4A-93F3-4F250D86C6F0}" presName="Name17" presStyleLbl="parChTrans1D3" presStyleIdx="1" presStyleCnt="2"/>
      <dgm:spPr/>
    </dgm:pt>
    <dgm:pt modelId="{CA8FA82B-6D52-9E4C-977C-7113C5921F3A}" type="pres">
      <dgm:prSet presAssocID="{EDF0A259-4210-544D-9168-43FDB78043FC}" presName="hierRoot3" presStyleCnt="0"/>
      <dgm:spPr/>
    </dgm:pt>
    <dgm:pt modelId="{381BB4F4-7EC5-D34D-8CEF-D724420285F3}" type="pres">
      <dgm:prSet presAssocID="{EDF0A259-4210-544D-9168-43FDB78043FC}" presName="composite3" presStyleCnt="0"/>
      <dgm:spPr/>
    </dgm:pt>
    <dgm:pt modelId="{A796C05F-7AAF-5A4B-8380-4E28A44D1239}" type="pres">
      <dgm:prSet presAssocID="{EDF0A259-4210-544D-9168-43FDB78043FC}" presName="background3" presStyleLbl="node3" presStyleIdx="1" presStyleCnt="2"/>
      <dgm:spPr/>
    </dgm:pt>
    <dgm:pt modelId="{A2B6B88B-D765-4B40-80A0-C1D8BF9C7FE5}" type="pres">
      <dgm:prSet presAssocID="{EDF0A259-4210-544D-9168-43FDB78043FC}" presName="text3" presStyleLbl="fgAcc3" presStyleIdx="1" presStyleCnt="2" custScaleY="60944" custLinFactNeighborX="20213">
        <dgm:presLayoutVars>
          <dgm:chPref val="3"/>
        </dgm:presLayoutVars>
      </dgm:prSet>
      <dgm:spPr/>
    </dgm:pt>
    <dgm:pt modelId="{DD16A3F8-D495-AA46-9DF4-2DEBDDD09DA4}" type="pres">
      <dgm:prSet presAssocID="{EDF0A259-4210-544D-9168-43FDB78043FC}" presName="hierChild4" presStyleCnt="0"/>
      <dgm:spPr/>
    </dgm:pt>
    <dgm:pt modelId="{8B8AEC00-3EA7-E545-9E43-E003C21D2215}" type="pres">
      <dgm:prSet presAssocID="{E78930F6-889A-5240-9214-1C82A8CC3A9D}" presName="Name23" presStyleLbl="parChTrans1D4" presStyleIdx="0" presStyleCnt="1"/>
      <dgm:spPr/>
    </dgm:pt>
    <dgm:pt modelId="{CD1B6AB0-D1F7-CD4E-B6E7-CE055E36E88E}" type="pres">
      <dgm:prSet presAssocID="{CD095A2F-9C41-0F44-8074-CAC50372BA71}" presName="hierRoot4" presStyleCnt="0"/>
      <dgm:spPr/>
    </dgm:pt>
    <dgm:pt modelId="{B82EF049-7DCE-964C-83BC-16C3CB10A01D}" type="pres">
      <dgm:prSet presAssocID="{CD095A2F-9C41-0F44-8074-CAC50372BA71}" presName="composite4" presStyleCnt="0"/>
      <dgm:spPr/>
    </dgm:pt>
    <dgm:pt modelId="{2C449167-C45E-414D-9A36-C554DEF882C0}" type="pres">
      <dgm:prSet presAssocID="{CD095A2F-9C41-0F44-8074-CAC50372BA71}" presName="background4" presStyleLbl="node4" presStyleIdx="0" presStyleCnt="1"/>
      <dgm:spPr/>
    </dgm:pt>
    <dgm:pt modelId="{6328BE19-5DF1-EA43-8FBE-26E425C9081A}" type="pres">
      <dgm:prSet presAssocID="{CD095A2F-9C41-0F44-8074-CAC50372BA71}" presName="text4" presStyleLbl="fgAcc4" presStyleIdx="0" presStyleCnt="1" custAng="0" custScaleX="159919" custScaleY="47726" custLinFactX="20046" custLinFactNeighborX="100000" custLinFactNeighborY="-16820">
        <dgm:presLayoutVars>
          <dgm:chPref val="3"/>
        </dgm:presLayoutVars>
      </dgm:prSet>
      <dgm:spPr/>
    </dgm:pt>
    <dgm:pt modelId="{3689EA11-3EF9-0840-8B1F-C62EF64D7A57}" type="pres">
      <dgm:prSet presAssocID="{CD095A2F-9C41-0F44-8074-CAC50372BA71}" presName="hierChild5" presStyleCnt="0"/>
      <dgm:spPr/>
    </dgm:pt>
    <dgm:pt modelId="{5E29E0C6-BB0F-C549-A766-E769AF0DCD35}" type="pres">
      <dgm:prSet presAssocID="{CE1FA447-F55C-0847-B2E5-2F1E37FE00A8}" presName="Name10" presStyleLbl="parChTrans1D2" presStyleIdx="3" presStyleCnt="4"/>
      <dgm:spPr/>
    </dgm:pt>
    <dgm:pt modelId="{A18C016B-C82D-B241-9378-9323823A310C}" type="pres">
      <dgm:prSet presAssocID="{DA1F8DAF-83C2-6842-B7AE-FAD5AF7AF8B7}" presName="hierRoot2" presStyleCnt="0"/>
      <dgm:spPr/>
    </dgm:pt>
    <dgm:pt modelId="{1FA2C8CA-6688-7B42-AB09-31B55AF9CE29}" type="pres">
      <dgm:prSet presAssocID="{DA1F8DAF-83C2-6842-B7AE-FAD5AF7AF8B7}" presName="composite2" presStyleCnt="0"/>
      <dgm:spPr/>
    </dgm:pt>
    <dgm:pt modelId="{200BBBAB-5880-9342-826A-0A9C3DBAB502}" type="pres">
      <dgm:prSet presAssocID="{DA1F8DAF-83C2-6842-B7AE-FAD5AF7AF8B7}" presName="background2" presStyleLbl="node2" presStyleIdx="3" presStyleCnt="4"/>
      <dgm:spPr/>
    </dgm:pt>
    <dgm:pt modelId="{D012353A-37F9-E748-BCE6-DFBD55C3ACF7}" type="pres">
      <dgm:prSet presAssocID="{DA1F8DAF-83C2-6842-B7AE-FAD5AF7AF8B7}" presName="text2" presStyleLbl="fgAcc2" presStyleIdx="3" presStyleCnt="4" custScaleY="75375" custLinFactNeighborX="20213">
        <dgm:presLayoutVars>
          <dgm:chPref val="3"/>
        </dgm:presLayoutVars>
      </dgm:prSet>
      <dgm:spPr/>
    </dgm:pt>
    <dgm:pt modelId="{3F43A097-01FD-4740-9923-5B164C83D426}" type="pres">
      <dgm:prSet presAssocID="{DA1F8DAF-83C2-6842-B7AE-FAD5AF7AF8B7}" presName="hierChild3" presStyleCnt="0"/>
      <dgm:spPr/>
    </dgm:pt>
  </dgm:ptLst>
  <dgm:cxnLst>
    <dgm:cxn modelId="{133EE900-2F11-094F-B53F-0CF4B5659F12}" type="presOf" srcId="{A46E41FD-7389-A545-880D-96294B9A27FE}" destId="{D5D7D2B1-8BFA-3941-9C9C-6D8B72A7268B}" srcOrd="0" destOrd="0" presId="urn:microsoft.com/office/officeart/2005/8/layout/hierarchy1"/>
    <dgm:cxn modelId="{105ADD01-FEB0-8B40-8F77-C58114E82764}" type="presOf" srcId="{EDF0A259-4210-544D-9168-43FDB78043FC}" destId="{A2B6B88B-D765-4B40-80A0-C1D8BF9C7FE5}" srcOrd="0" destOrd="0" presId="urn:microsoft.com/office/officeart/2005/8/layout/hierarchy1"/>
    <dgm:cxn modelId="{177A4716-529D-8042-BBC6-3E829972A391}" srcId="{C9F59005-1C81-B540-BA87-1B057185D401}" destId="{750231A8-43CC-9746-937D-B8A751D14416}" srcOrd="0" destOrd="0" parTransId="{2A29D6B6-2109-7746-BA83-C0558C6E492F}" sibTransId="{ACB6276B-59E3-F645-B01D-9AF60182848C}"/>
    <dgm:cxn modelId="{49232517-63C7-D646-807F-1FD62B092AF7}" type="presOf" srcId="{74887C73-4438-5A48-A640-F8F28CBD5EEC}" destId="{9180AE38-F6AD-3844-B7FF-67F0B7C9ED99}" srcOrd="0" destOrd="0" presId="urn:microsoft.com/office/officeart/2005/8/layout/hierarchy1"/>
    <dgm:cxn modelId="{F3E10718-EE2F-AE4F-A053-66BD93506345}" type="presOf" srcId="{CE1FA447-F55C-0847-B2E5-2F1E37FE00A8}" destId="{5E29E0C6-BB0F-C549-A766-E769AF0DCD35}" srcOrd="0" destOrd="0" presId="urn:microsoft.com/office/officeart/2005/8/layout/hierarchy1"/>
    <dgm:cxn modelId="{04E42E19-6370-6B42-ACCE-7C6EFEAEE127}" type="presOf" srcId="{A0BEE869-A05B-5F4C-9017-C1CDBFA48492}" destId="{98C00918-BE90-6D4F-B874-F11034FD672A}" srcOrd="0" destOrd="0" presId="urn:microsoft.com/office/officeart/2005/8/layout/hierarchy1"/>
    <dgm:cxn modelId="{C858E31F-4332-7C4E-83C4-EA539ED50522}" type="presOf" srcId="{CD095A2F-9C41-0F44-8074-CAC50372BA71}" destId="{6328BE19-5DF1-EA43-8FBE-26E425C9081A}" srcOrd="0" destOrd="0" presId="urn:microsoft.com/office/officeart/2005/8/layout/hierarchy1"/>
    <dgm:cxn modelId="{342E3922-2BE2-B848-9B41-AFE1C77EB43A}" srcId="{A46E41FD-7389-A545-880D-96294B9A27FE}" destId="{DA1F8DAF-83C2-6842-B7AE-FAD5AF7AF8B7}" srcOrd="1" destOrd="0" parTransId="{CE1FA447-F55C-0847-B2E5-2F1E37FE00A8}" sibTransId="{11CDA0AF-6559-8640-BBEE-E6FAE3CD7F32}"/>
    <dgm:cxn modelId="{5D23E024-6E15-C84D-908A-1C05F4108DE2}" type="presOf" srcId="{750231A8-43CC-9746-937D-B8A751D14416}" destId="{A723DA4D-8F5B-B94E-B0D7-523A67DE603E}" srcOrd="0" destOrd="0" presId="urn:microsoft.com/office/officeart/2005/8/layout/hierarchy1"/>
    <dgm:cxn modelId="{E9AD9836-0D46-7A4F-BBE0-1305983B13F8}" type="presOf" srcId="{26A22D6C-05C8-EE4A-93F3-4F250D86C6F0}" destId="{0342B85D-643C-CE49-8C80-C421B6A48EC1}" srcOrd="0" destOrd="0" presId="urn:microsoft.com/office/officeart/2005/8/layout/hierarchy1"/>
    <dgm:cxn modelId="{ED1E6D38-D05F-D24C-A328-28F1F09C6973}" type="presOf" srcId="{4EBCA48E-202A-C643-8AD9-AACE10827BE5}" destId="{C941E5B4-1C5F-FD4F-ABFD-4BE3BDFA4673}" srcOrd="0" destOrd="0" presId="urn:microsoft.com/office/officeart/2005/8/layout/hierarchy1"/>
    <dgm:cxn modelId="{274D9945-5E20-5649-A4C3-6F437D8EB5CE}" type="presOf" srcId="{DA1F8DAF-83C2-6842-B7AE-FAD5AF7AF8B7}" destId="{D012353A-37F9-E748-BCE6-DFBD55C3ACF7}" srcOrd="0" destOrd="0" presId="urn:microsoft.com/office/officeart/2005/8/layout/hierarchy1"/>
    <dgm:cxn modelId="{2B882B47-98A6-6946-8BBD-E5A7520C777B}" type="presOf" srcId="{8639759E-9577-2E46-8047-0EFB3A440D71}" destId="{ED64E09A-E485-8A4E-9EBF-E554F1378C8A}" srcOrd="0" destOrd="0" presId="urn:microsoft.com/office/officeart/2005/8/layout/hierarchy1"/>
    <dgm:cxn modelId="{C2813853-F5DA-D740-804D-AFBFF4E28AEB}" type="presOf" srcId="{361F2009-F32B-1B40-AE97-7AB391D4A1C4}" destId="{4E5FC293-3EAD-2B42-9E5A-480106D158F6}" srcOrd="0" destOrd="0" presId="urn:microsoft.com/office/officeart/2005/8/layout/hierarchy1"/>
    <dgm:cxn modelId="{AD359762-B07B-C644-9D79-4F1C5C1B4461}" srcId="{750231A8-43CC-9746-937D-B8A751D14416}" destId="{783D7EEB-921B-7541-A3D2-718C0AB27AC1}" srcOrd="0" destOrd="0" parTransId="{9084E9E4-57EA-D946-8147-001126A5C8B5}" sibTransId="{4E15C093-84BA-094C-87C9-1A98ED919288}"/>
    <dgm:cxn modelId="{57A50669-7AA6-A445-8960-A7117A0D080E}" srcId="{750231A8-43CC-9746-937D-B8A751D14416}" destId="{74887C73-4438-5A48-A640-F8F28CBD5EEC}" srcOrd="1" destOrd="0" parTransId="{B74DBE51-0C10-7747-8E8E-2456217D6567}" sibTransId="{6AC1FDA5-CE9B-A749-B49A-D27481FB56DC}"/>
    <dgm:cxn modelId="{CA6EBE69-900E-3746-AE9D-2314BF56F270}" type="presOf" srcId="{9084E9E4-57EA-D946-8147-001126A5C8B5}" destId="{58CA71A0-F66C-334D-AE60-B29655E8109C}" srcOrd="0" destOrd="0" presId="urn:microsoft.com/office/officeart/2005/8/layout/hierarchy1"/>
    <dgm:cxn modelId="{02C58788-E4FF-EA42-88C7-2A3D9D8B3A83}" srcId="{361F2009-F32B-1B40-AE97-7AB391D4A1C4}" destId="{A0BEE869-A05B-5F4C-9017-C1CDBFA48492}" srcOrd="0" destOrd="0" parTransId="{4EBCA48E-202A-C643-8AD9-AACE10827BE5}" sibTransId="{1E74D582-951E-4A49-962B-FD473C2139C0}"/>
    <dgm:cxn modelId="{BA5E7091-E564-D440-91D1-62198FF0A4FF}" type="presOf" srcId="{B74DBE51-0C10-7747-8E8E-2456217D6567}" destId="{60737D66-26D3-D94A-AC7A-8321E36C10CB}" srcOrd="0" destOrd="0" presId="urn:microsoft.com/office/officeart/2005/8/layout/hierarchy1"/>
    <dgm:cxn modelId="{FDCDBB91-A577-BD4D-B1F3-8FFCABA3693A}" srcId="{A46E41FD-7389-A545-880D-96294B9A27FE}" destId="{361F2009-F32B-1B40-AE97-7AB391D4A1C4}" srcOrd="0" destOrd="0" parTransId="{8639759E-9577-2E46-8047-0EFB3A440D71}" sibTransId="{7059B9CC-FF4C-4D41-8BAE-067B856A29C1}"/>
    <dgm:cxn modelId="{A4721C95-6C59-5748-9D04-36BC9832FCE9}" type="presOf" srcId="{C9F59005-1C81-B540-BA87-1B057185D401}" destId="{E063C362-1BC0-874E-AB18-DEB30DB4B7E8}" srcOrd="0" destOrd="0" presId="urn:microsoft.com/office/officeart/2005/8/layout/hierarchy1"/>
    <dgm:cxn modelId="{D8BB33BF-35A7-1F48-A9F0-9A3292CCE73F}" type="presOf" srcId="{783D7EEB-921B-7541-A3D2-718C0AB27AC1}" destId="{BF60D52C-82EF-A646-A801-FFB060497428}" srcOrd="0" destOrd="0" presId="urn:microsoft.com/office/officeart/2005/8/layout/hierarchy1"/>
    <dgm:cxn modelId="{D51786DE-9596-CA42-9666-DDE4C537610A}" srcId="{361F2009-F32B-1B40-AE97-7AB391D4A1C4}" destId="{EDF0A259-4210-544D-9168-43FDB78043FC}" srcOrd="1" destOrd="0" parTransId="{26A22D6C-05C8-EE4A-93F3-4F250D86C6F0}" sibTransId="{C3625AD8-72C7-3748-8C35-EDBBF4958B4A}"/>
    <dgm:cxn modelId="{B26504E1-9629-3048-A871-4E25F83D0001}" srcId="{C9F59005-1C81-B540-BA87-1B057185D401}" destId="{A46E41FD-7389-A545-880D-96294B9A27FE}" srcOrd="1" destOrd="0" parTransId="{07B8D557-BD0E-AD46-AE10-AED4E5FC24DA}" sibTransId="{A9C979B0-ACD4-C441-9A68-605A73EB8CED}"/>
    <dgm:cxn modelId="{87502BEE-DB51-E549-BECF-21D20E97F630}" type="presOf" srcId="{E78930F6-889A-5240-9214-1C82A8CC3A9D}" destId="{8B8AEC00-3EA7-E545-9E43-E003C21D2215}" srcOrd="0" destOrd="0" presId="urn:microsoft.com/office/officeart/2005/8/layout/hierarchy1"/>
    <dgm:cxn modelId="{83F33DFF-E7B2-864D-BB7E-AEF59DFB080B}" srcId="{EDF0A259-4210-544D-9168-43FDB78043FC}" destId="{CD095A2F-9C41-0F44-8074-CAC50372BA71}" srcOrd="0" destOrd="0" parTransId="{E78930F6-889A-5240-9214-1C82A8CC3A9D}" sibTransId="{467D6145-6A62-4445-8117-E86E02291E55}"/>
    <dgm:cxn modelId="{174DF4BA-6CE4-264B-9786-EEB1FB3F1383}" type="presParOf" srcId="{E063C362-1BC0-874E-AB18-DEB30DB4B7E8}" destId="{D49AC409-32F3-6340-A3F6-8D3C7B5F7353}" srcOrd="0" destOrd="0" presId="urn:microsoft.com/office/officeart/2005/8/layout/hierarchy1"/>
    <dgm:cxn modelId="{3E37A3F0-2802-FA46-8266-4CE2D312A6BA}" type="presParOf" srcId="{D49AC409-32F3-6340-A3F6-8D3C7B5F7353}" destId="{C486205F-8DCD-D541-973F-83A4F64C82A3}" srcOrd="0" destOrd="0" presId="urn:microsoft.com/office/officeart/2005/8/layout/hierarchy1"/>
    <dgm:cxn modelId="{55EEC021-316A-E34A-9176-FBB6A891BFA4}" type="presParOf" srcId="{C486205F-8DCD-D541-973F-83A4F64C82A3}" destId="{C110FE6C-4A0A-1944-83A0-E58C6033B696}" srcOrd="0" destOrd="0" presId="urn:microsoft.com/office/officeart/2005/8/layout/hierarchy1"/>
    <dgm:cxn modelId="{3DFD24A7-C622-6146-89E4-9E60C821C2A7}" type="presParOf" srcId="{C486205F-8DCD-D541-973F-83A4F64C82A3}" destId="{A723DA4D-8F5B-B94E-B0D7-523A67DE603E}" srcOrd="1" destOrd="0" presId="urn:microsoft.com/office/officeart/2005/8/layout/hierarchy1"/>
    <dgm:cxn modelId="{BA203F3A-BCB0-3C49-8493-AB515C9630DD}" type="presParOf" srcId="{D49AC409-32F3-6340-A3F6-8D3C7B5F7353}" destId="{CBB214C0-5467-CF41-A771-D6FD0DBBB100}" srcOrd="1" destOrd="0" presId="urn:microsoft.com/office/officeart/2005/8/layout/hierarchy1"/>
    <dgm:cxn modelId="{2AFFC615-5CC5-7A46-A599-C1E27E5F8F9A}" type="presParOf" srcId="{CBB214C0-5467-CF41-A771-D6FD0DBBB100}" destId="{58CA71A0-F66C-334D-AE60-B29655E8109C}" srcOrd="0" destOrd="0" presId="urn:microsoft.com/office/officeart/2005/8/layout/hierarchy1"/>
    <dgm:cxn modelId="{79136E4B-E510-AD47-ABDA-4D208EFA0CA7}" type="presParOf" srcId="{CBB214C0-5467-CF41-A771-D6FD0DBBB100}" destId="{097076EF-266B-0741-97D9-031A144B3EB2}" srcOrd="1" destOrd="0" presId="urn:microsoft.com/office/officeart/2005/8/layout/hierarchy1"/>
    <dgm:cxn modelId="{056B6C9D-A698-994F-9FD2-8EBDC4DC5C7E}" type="presParOf" srcId="{097076EF-266B-0741-97D9-031A144B3EB2}" destId="{27B59D57-01E5-124B-B231-75DD735D0F1C}" srcOrd="0" destOrd="0" presId="urn:microsoft.com/office/officeart/2005/8/layout/hierarchy1"/>
    <dgm:cxn modelId="{BBD36EB0-F2FE-824B-A556-7930EA3F9329}" type="presParOf" srcId="{27B59D57-01E5-124B-B231-75DD735D0F1C}" destId="{CABC5FB2-7EF8-5D4F-9110-90A9098AE8B0}" srcOrd="0" destOrd="0" presId="urn:microsoft.com/office/officeart/2005/8/layout/hierarchy1"/>
    <dgm:cxn modelId="{32451F16-6491-DB4F-96EF-C299AF2CC43A}" type="presParOf" srcId="{27B59D57-01E5-124B-B231-75DD735D0F1C}" destId="{BF60D52C-82EF-A646-A801-FFB060497428}" srcOrd="1" destOrd="0" presId="urn:microsoft.com/office/officeart/2005/8/layout/hierarchy1"/>
    <dgm:cxn modelId="{0B6969C8-2429-7349-9214-C0441209E535}" type="presParOf" srcId="{097076EF-266B-0741-97D9-031A144B3EB2}" destId="{14A41A9D-4794-D34B-845D-42C12FD89728}" srcOrd="1" destOrd="0" presId="urn:microsoft.com/office/officeart/2005/8/layout/hierarchy1"/>
    <dgm:cxn modelId="{6E38CB61-BC72-3A45-8091-CAEDB56DE5D3}" type="presParOf" srcId="{CBB214C0-5467-CF41-A771-D6FD0DBBB100}" destId="{60737D66-26D3-D94A-AC7A-8321E36C10CB}" srcOrd="2" destOrd="0" presId="urn:microsoft.com/office/officeart/2005/8/layout/hierarchy1"/>
    <dgm:cxn modelId="{C3D7F035-BAC6-BC43-B144-A22C296A885B}" type="presParOf" srcId="{CBB214C0-5467-CF41-A771-D6FD0DBBB100}" destId="{8174F95B-F4FB-C44D-8006-A5ACD65C83D1}" srcOrd="3" destOrd="0" presId="urn:microsoft.com/office/officeart/2005/8/layout/hierarchy1"/>
    <dgm:cxn modelId="{6D060308-A62E-E74F-BF09-F47D051F0649}" type="presParOf" srcId="{8174F95B-F4FB-C44D-8006-A5ACD65C83D1}" destId="{6CABD10F-A77E-C649-AC42-23F0A4F43A2C}" srcOrd="0" destOrd="0" presId="urn:microsoft.com/office/officeart/2005/8/layout/hierarchy1"/>
    <dgm:cxn modelId="{791A5B45-470C-5C44-9EA5-8DDA390DFB48}" type="presParOf" srcId="{6CABD10F-A77E-C649-AC42-23F0A4F43A2C}" destId="{C8BD160B-529C-804C-8E8A-44344CF15B3A}" srcOrd="0" destOrd="0" presId="urn:microsoft.com/office/officeart/2005/8/layout/hierarchy1"/>
    <dgm:cxn modelId="{6B426056-F9BE-6642-91B3-217ED955C0EE}" type="presParOf" srcId="{6CABD10F-A77E-C649-AC42-23F0A4F43A2C}" destId="{9180AE38-F6AD-3844-B7FF-67F0B7C9ED99}" srcOrd="1" destOrd="0" presId="urn:microsoft.com/office/officeart/2005/8/layout/hierarchy1"/>
    <dgm:cxn modelId="{D1300F45-4E20-B240-929E-92BFB3E58564}" type="presParOf" srcId="{8174F95B-F4FB-C44D-8006-A5ACD65C83D1}" destId="{AE4FDC21-BD55-344D-A44D-F3B8431CFCA7}" srcOrd="1" destOrd="0" presId="urn:microsoft.com/office/officeart/2005/8/layout/hierarchy1"/>
    <dgm:cxn modelId="{A7E7D8A0-C6A9-004F-ABD8-77325539E141}" type="presParOf" srcId="{E063C362-1BC0-874E-AB18-DEB30DB4B7E8}" destId="{59E037C3-B261-5546-B3BF-377127A02981}" srcOrd="1" destOrd="0" presId="urn:microsoft.com/office/officeart/2005/8/layout/hierarchy1"/>
    <dgm:cxn modelId="{21F6C33F-0A5E-9547-AD16-89C03B265696}" type="presParOf" srcId="{59E037C3-B261-5546-B3BF-377127A02981}" destId="{C5D26BDB-455D-9A42-A14F-BC1E173137AE}" srcOrd="0" destOrd="0" presId="urn:microsoft.com/office/officeart/2005/8/layout/hierarchy1"/>
    <dgm:cxn modelId="{A00EBE5C-83B0-B949-AAEF-A6ED507CAED5}" type="presParOf" srcId="{C5D26BDB-455D-9A42-A14F-BC1E173137AE}" destId="{697B72F9-4BA4-2E45-A7A0-2265B4E02FF9}" srcOrd="0" destOrd="0" presId="urn:microsoft.com/office/officeart/2005/8/layout/hierarchy1"/>
    <dgm:cxn modelId="{7F9F4782-418D-0E4D-A02F-79C3C2FDF429}" type="presParOf" srcId="{C5D26BDB-455D-9A42-A14F-BC1E173137AE}" destId="{D5D7D2B1-8BFA-3941-9C9C-6D8B72A7268B}" srcOrd="1" destOrd="0" presId="urn:microsoft.com/office/officeart/2005/8/layout/hierarchy1"/>
    <dgm:cxn modelId="{49AD6596-87D2-8647-BD58-BFC03490BED3}" type="presParOf" srcId="{59E037C3-B261-5546-B3BF-377127A02981}" destId="{CE5E5F20-E7E0-114F-84FF-6D4BDA67A959}" srcOrd="1" destOrd="0" presId="urn:microsoft.com/office/officeart/2005/8/layout/hierarchy1"/>
    <dgm:cxn modelId="{531A3D8C-0A7C-B14D-A422-F6C28064731B}" type="presParOf" srcId="{CE5E5F20-E7E0-114F-84FF-6D4BDA67A959}" destId="{ED64E09A-E485-8A4E-9EBF-E554F1378C8A}" srcOrd="0" destOrd="0" presId="urn:microsoft.com/office/officeart/2005/8/layout/hierarchy1"/>
    <dgm:cxn modelId="{09FC9744-CD38-2142-B123-E7042C57D122}" type="presParOf" srcId="{CE5E5F20-E7E0-114F-84FF-6D4BDA67A959}" destId="{B1EFC018-D0E3-A147-9791-E219CCC719AD}" srcOrd="1" destOrd="0" presId="urn:microsoft.com/office/officeart/2005/8/layout/hierarchy1"/>
    <dgm:cxn modelId="{F82D9A9D-C02A-6444-A72A-49C7789C766C}" type="presParOf" srcId="{B1EFC018-D0E3-A147-9791-E219CCC719AD}" destId="{4C2A24B4-470A-3442-A947-85EB99C77C1E}" srcOrd="0" destOrd="0" presId="urn:microsoft.com/office/officeart/2005/8/layout/hierarchy1"/>
    <dgm:cxn modelId="{677BABEF-AE18-6A4F-AB35-7E429C4AB6DC}" type="presParOf" srcId="{4C2A24B4-470A-3442-A947-85EB99C77C1E}" destId="{9E5CDF1B-9016-9C4E-BC19-8B630B82BC13}" srcOrd="0" destOrd="0" presId="urn:microsoft.com/office/officeart/2005/8/layout/hierarchy1"/>
    <dgm:cxn modelId="{47D5C45D-C16C-9942-BA0E-4BB0DD05B2D6}" type="presParOf" srcId="{4C2A24B4-470A-3442-A947-85EB99C77C1E}" destId="{4E5FC293-3EAD-2B42-9E5A-480106D158F6}" srcOrd="1" destOrd="0" presId="urn:microsoft.com/office/officeart/2005/8/layout/hierarchy1"/>
    <dgm:cxn modelId="{B35C1288-B145-D749-A753-E6BA4C605EAC}" type="presParOf" srcId="{B1EFC018-D0E3-A147-9791-E219CCC719AD}" destId="{4A0ED2B8-9EB2-A14D-91A9-549A29F4374A}" srcOrd="1" destOrd="0" presId="urn:microsoft.com/office/officeart/2005/8/layout/hierarchy1"/>
    <dgm:cxn modelId="{FAD450E1-D596-7A4E-A8F6-5C838083BDD4}" type="presParOf" srcId="{4A0ED2B8-9EB2-A14D-91A9-549A29F4374A}" destId="{C941E5B4-1C5F-FD4F-ABFD-4BE3BDFA4673}" srcOrd="0" destOrd="0" presId="urn:microsoft.com/office/officeart/2005/8/layout/hierarchy1"/>
    <dgm:cxn modelId="{8379662B-8197-3A49-AD56-91EEA1BA8373}" type="presParOf" srcId="{4A0ED2B8-9EB2-A14D-91A9-549A29F4374A}" destId="{0DFEE2A9-8482-1C47-98E3-1CD4C22E6304}" srcOrd="1" destOrd="0" presId="urn:microsoft.com/office/officeart/2005/8/layout/hierarchy1"/>
    <dgm:cxn modelId="{9A50336E-A779-3544-88D7-B12ED8E8FE7F}" type="presParOf" srcId="{0DFEE2A9-8482-1C47-98E3-1CD4C22E6304}" destId="{A86DD51C-A14C-7D45-A1C1-2171CB87EDA6}" srcOrd="0" destOrd="0" presId="urn:microsoft.com/office/officeart/2005/8/layout/hierarchy1"/>
    <dgm:cxn modelId="{552EF075-9E2D-E846-BB79-13A0718B09E6}" type="presParOf" srcId="{A86DD51C-A14C-7D45-A1C1-2171CB87EDA6}" destId="{9175FB47-B0A6-624B-A35E-2DDD7F7FEEA7}" srcOrd="0" destOrd="0" presId="urn:microsoft.com/office/officeart/2005/8/layout/hierarchy1"/>
    <dgm:cxn modelId="{FEB7BE2C-BF42-6E4A-87E7-2A51DA5F3F56}" type="presParOf" srcId="{A86DD51C-A14C-7D45-A1C1-2171CB87EDA6}" destId="{98C00918-BE90-6D4F-B874-F11034FD672A}" srcOrd="1" destOrd="0" presId="urn:microsoft.com/office/officeart/2005/8/layout/hierarchy1"/>
    <dgm:cxn modelId="{5DE557A3-5DFC-134D-9172-0117BA2AD74C}" type="presParOf" srcId="{0DFEE2A9-8482-1C47-98E3-1CD4C22E6304}" destId="{02FC7901-ADAF-C347-93EC-A15C39859656}" srcOrd="1" destOrd="0" presId="urn:microsoft.com/office/officeart/2005/8/layout/hierarchy1"/>
    <dgm:cxn modelId="{55FD4CF0-2031-D848-AEFB-080CFA8D1927}" type="presParOf" srcId="{4A0ED2B8-9EB2-A14D-91A9-549A29F4374A}" destId="{0342B85D-643C-CE49-8C80-C421B6A48EC1}" srcOrd="2" destOrd="0" presId="urn:microsoft.com/office/officeart/2005/8/layout/hierarchy1"/>
    <dgm:cxn modelId="{70BCF111-17B8-134A-A018-33E17414CA25}" type="presParOf" srcId="{4A0ED2B8-9EB2-A14D-91A9-549A29F4374A}" destId="{CA8FA82B-6D52-9E4C-977C-7113C5921F3A}" srcOrd="3" destOrd="0" presId="urn:microsoft.com/office/officeart/2005/8/layout/hierarchy1"/>
    <dgm:cxn modelId="{134B0F80-2DCB-EE47-BDF8-B61939ABD68A}" type="presParOf" srcId="{CA8FA82B-6D52-9E4C-977C-7113C5921F3A}" destId="{381BB4F4-7EC5-D34D-8CEF-D724420285F3}" srcOrd="0" destOrd="0" presId="urn:microsoft.com/office/officeart/2005/8/layout/hierarchy1"/>
    <dgm:cxn modelId="{2407F550-854D-034B-99CF-7F0A03DA3AAB}" type="presParOf" srcId="{381BB4F4-7EC5-D34D-8CEF-D724420285F3}" destId="{A796C05F-7AAF-5A4B-8380-4E28A44D1239}" srcOrd="0" destOrd="0" presId="urn:microsoft.com/office/officeart/2005/8/layout/hierarchy1"/>
    <dgm:cxn modelId="{84E5CF56-18C4-E141-834D-AE27037E1092}" type="presParOf" srcId="{381BB4F4-7EC5-D34D-8CEF-D724420285F3}" destId="{A2B6B88B-D765-4B40-80A0-C1D8BF9C7FE5}" srcOrd="1" destOrd="0" presId="urn:microsoft.com/office/officeart/2005/8/layout/hierarchy1"/>
    <dgm:cxn modelId="{9E285CF2-E351-FB4A-9A16-1AC449813504}" type="presParOf" srcId="{CA8FA82B-6D52-9E4C-977C-7113C5921F3A}" destId="{DD16A3F8-D495-AA46-9DF4-2DEBDDD09DA4}" srcOrd="1" destOrd="0" presId="urn:microsoft.com/office/officeart/2005/8/layout/hierarchy1"/>
    <dgm:cxn modelId="{5AFB2FB2-3D67-B847-9320-0DC46FE0E2EA}" type="presParOf" srcId="{DD16A3F8-D495-AA46-9DF4-2DEBDDD09DA4}" destId="{8B8AEC00-3EA7-E545-9E43-E003C21D2215}" srcOrd="0" destOrd="0" presId="urn:microsoft.com/office/officeart/2005/8/layout/hierarchy1"/>
    <dgm:cxn modelId="{693B98D5-4E29-5E4B-8BB2-A8C101E64DBA}" type="presParOf" srcId="{DD16A3F8-D495-AA46-9DF4-2DEBDDD09DA4}" destId="{CD1B6AB0-D1F7-CD4E-B6E7-CE055E36E88E}" srcOrd="1" destOrd="0" presId="urn:microsoft.com/office/officeart/2005/8/layout/hierarchy1"/>
    <dgm:cxn modelId="{8EC263B6-4FAA-4B43-A4FB-35C1C9D9B3F0}" type="presParOf" srcId="{CD1B6AB0-D1F7-CD4E-B6E7-CE055E36E88E}" destId="{B82EF049-7DCE-964C-83BC-16C3CB10A01D}" srcOrd="0" destOrd="0" presId="urn:microsoft.com/office/officeart/2005/8/layout/hierarchy1"/>
    <dgm:cxn modelId="{7AE798DF-AC88-CF49-8EC9-C1BCD682F0D7}" type="presParOf" srcId="{B82EF049-7DCE-964C-83BC-16C3CB10A01D}" destId="{2C449167-C45E-414D-9A36-C554DEF882C0}" srcOrd="0" destOrd="0" presId="urn:microsoft.com/office/officeart/2005/8/layout/hierarchy1"/>
    <dgm:cxn modelId="{ABFDE911-99E5-0643-B3D2-B23E716CEB64}" type="presParOf" srcId="{B82EF049-7DCE-964C-83BC-16C3CB10A01D}" destId="{6328BE19-5DF1-EA43-8FBE-26E425C9081A}" srcOrd="1" destOrd="0" presId="urn:microsoft.com/office/officeart/2005/8/layout/hierarchy1"/>
    <dgm:cxn modelId="{6CEC71BD-9E68-4447-BF66-06F87DE087E7}" type="presParOf" srcId="{CD1B6AB0-D1F7-CD4E-B6E7-CE055E36E88E}" destId="{3689EA11-3EF9-0840-8B1F-C62EF64D7A57}" srcOrd="1" destOrd="0" presId="urn:microsoft.com/office/officeart/2005/8/layout/hierarchy1"/>
    <dgm:cxn modelId="{B836C853-6F2F-5F49-935C-59C132A025D7}" type="presParOf" srcId="{CE5E5F20-E7E0-114F-84FF-6D4BDA67A959}" destId="{5E29E0C6-BB0F-C549-A766-E769AF0DCD35}" srcOrd="2" destOrd="0" presId="urn:microsoft.com/office/officeart/2005/8/layout/hierarchy1"/>
    <dgm:cxn modelId="{C6845FDB-0525-E34A-BE9A-F6F5F3719F91}" type="presParOf" srcId="{CE5E5F20-E7E0-114F-84FF-6D4BDA67A959}" destId="{A18C016B-C82D-B241-9378-9323823A310C}" srcOrd="3" destOrd="0" presId="urn:microsoft.com/office/officeart/2005/8/layout/hierarchy1"/>
    <dgm:cxn modelId="{3796AA09-B8C5-BF49-B27B-AAAFEE9668EA}" type="presParOf" srcId="{A18C016B-C82D-B241-9378-9323823A310C}" destId="{1FA2C8CA-6688-7B42-AB09-31B55AF9CE29}" srcOrd="0" destOrd="0" presId="urn:microsoft.com/office/officeart/2005/8/layout/hierarchy1"/>
    <dgm:cxn modelId="{F38247C6-8B30-8444-B698-EBF9EDB1845C}" type="presParOf" srcId="{1FA2C8CA-6688-7B42-AB09-31B55AF9CE29}" destId="{200BBBAB-5880-9342-826A-0A9C3DBAB502}" srcOrd="0" destOrd="0" presId="urn:microsoft.com/office/officeart/2005/8/layout/hierarchy1"/>
    <dgm:cxn modelId="{7A23672B-B25C-BC48-A868-3FCFB8D2D340}" type="presParOf" srcId="{1FA2C8CA-6688-7B42-AB09-31B55AF9CE29}" destId="{D012353A-37F9-E748-BCE6-DFBD55C3ACF7}" srcOrd="1" destOrd="0" presId="urn:microsoft.com/office/officeart/2005/8/layout/hierarchy1"/>
    <dgm:cxn modelId="{0173B5CC-0556-0942-92DD-70B0851BD1BE}" type="presParOf" srcId="{A18C016B-C82D-B241-9378-9323823A310C}" destId="{3F43A097-01FD-4740-9923-5B164C83D42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29E0C6-BB0F-C549-A766-E769AF0DCD35}">
      <dsp:nvSpPr>
        <dsp:cNvPr id="0" name=""/>
        <dsp:cNvSpPr/>
      </dsp:nvSpPr>
      <dsp:spPr>
        <a:xfrm>
          <a:off x="6252070" y="644870"/>
          <a:ext cx="886201" cy="430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3060"/>
              </a:lnTo>
              <a:lnTo>
                <a:pt x="886201" y="293060"/>
              </a:lnTo>
              <a:lnTo>
                <a:pt x="886201" y="430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8AEC00-3EA7-E545-9E43-E003C21D2215}">
      <dsp:nvSpPr>
        <dsp:cNvPr id="0" name=""/>
        <dsp:cNvSpPr/>
      </dsp:nvSpPr>
      <dsp:spPr>
        <a:xfrm>
          <a:off x="6234652" y="2831135"/>
          <a:ext cx="675795" cy="272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130"/>
              </a:lnTo>
              <a:lnTo>
                <a:pt x="675795" y="135130"/>
              </a:lnTo>
              <a:lnTo>
                <a:pt x="675795" y="27211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42B85D-643C-CE49-8C80-C421B6A48EC1}">
      <dsp:nvSpPr>
        <dsp:cNvPr id="0" name=""/>
        <dsp:cNvSpPr/>
      </dsp:nvSpPr>
      <dsp:spPr>
        <a:xfrm>
          <a:off x="5331031" y="1828864"/>
          <a:ext cx="903620" cy="430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3060"/>
              </a:lnTo>
              <a:lnTo>
                <a:pt x="903620" y="293060"/>
              </a:lnTo>
              <a:lnTo>
                <a:pt x="903620" y="430041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41E5B4-1C5F-FD4F-ABFD-4BE3BDFA4673}">
      <dsp:nvSpPr>
        <dsp:cNvPr id="0" name=""/>
        <dsp:cNvSpPr/>
      </dsp:nvSpPr>
      <dsp:spPr>
        <a:xfrm>
          <a:off x="4427411" y="1828864"/>
          <a:ext cx="903620" cy="430041"/>
        </a:xfrm>
        <a:custGeom>
          <a:avLst/>
          <a:gdLst/>
          <a:ahLst/>
          <a:cxnLst/>
          <a:rect l="0" t="0" r="0" b="0"/>
          <a:pathLst>
            <a:path>
              <a:moveTo>
                <a:pt x="903620" y="0"/>
              </a:moveTo>
              <a:lnTo>
                <a:pt x="903620" y="293060"/>
              </a:lnTo>
              <a:lnTo>
                <a:pt x="0" y="293060"/>
              </a:lnTo>
              <a:lnTo>
                <a:pt x="0" y="430041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64E09A-E485-8A4E-9EBF-E554F1378C8A}">
      <dsp:nvSpPr>
        <dsp:cNvPr id="0" name=""/>
        <dsp:cNvSpPr/>
      </dsp:nvSpPr>
      <dsp:spPr>
        <a:xfrm>
          <a:off x="5331031" y="644870"/>
          <a:ext cx="921038" cy="430041"/>
        </a:xfrm>
        <a:custGeom>
          <a:avLst/>
          <a:gdLst/>
          <a:ahLst/>
          <a:cxnLst/>
          <a:rect l="0" t="0" r="0" b="0"/>
          <a:pathLst>
            <a:path>
              <a:moveTo>
                <a:pt x="921038" y="0"/>
              </a:moveTo>
              <a:lnTo>
                <a:pt x="921038" y="293060"/>
              </a:lnTo>
              <a:lnTo>
                <a:pt x="0" y="293060"/>
              </a:lnTo>
              <a:lnTo>
                <a:pt x="0" y="430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737D66-26D3-D94A-AC7A-8321E36C10CB}">
      <dsp:nvSpPr>
        <dsp:cNvPr id="0" name=""/>
        <dsp:cNvSpPr/>
      </dsp:nvSpPr>
      <dsp:spPr>
        <a:xfrm>
          <a:off x="2239144" y="700136"/>
          <a:ext cx="903620" cy="430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3060"/>
              </a:lnTo>
              <a:lnTo>
                <a:pt x="903620" y="293060"/>
              </a:lnTo>
              <a:lnTo>
                <a:pt x="903620" y="430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CA71A0-F66C-334D-AE60-B29655E8109C}">
      <dsp:nvSpPr>
        <dsp:cNvPr id="0" name=""/>
        <dsp:cNvSpPr/>
      </dsp:nvSpPr>
      <dsp:spPr>
        <a:xfrm>
          <a:off x="1253377" y="700136"/>
          <a:ext cx="985766" cy="430041"/>
        </a:xfrm>
        <a:custGeom>
          <a:avLst/>
          <a:gdLst/>
          <a:ahLst/>
          <a:cxnLst/>
          <a:rect l="0" t="0" r="0" b="0"/>
          <a:pathLst>
            <a:path>
              <a:moveTo>
                <a:pt x="985766" y="0"/>
              </a:moveTo>
              <a:lnTo>
                <a:pt x="985766" y="293060"/>
              </a:lnTo>
              <a:lnTo>
                <a:pt x="0" y="293060"/>
              </a:lnTo>
              <a:lnTo>
                <a:pt x="0" y="430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10FE6C-4A0A-1944-83A0-E58C6033B696}">
      <dsp:nvSpPr>
        <dsp:cNvPr id="0" name=""/>
        <dsp:cNvSpPr/>
      </dsp:nvSpPr>
      <dsp:spPr>
        <a:xfrm>
          <a:off x="965115" y="2153"/>
          <a:ext cx="2548056" cy="69798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723DA4D-8F5B-B94E-B0D7-523A67DE603E}">
      <dsp:nvSpPr>
        <dsp:cNvPr id="0" name=""/>
        <dsp:cNvSpPr/>
      </dsp:nvSpPr>
      <dsp:spPr>
        <a:xfrm>
          <a:off x="1129410" y="158233"/>
          <a:ext cx="2548056" cy="697982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 Report Generated </a:t>
          </a:r>
        </a:p>
      </dsp:txBody>
      <dsp:txXfrm>
        <a:off x="1149853" y="178676"/>
        <a:ext cx="2507170" cy="657096"/>
      </dsp:txXfrm>
    </dsp:sp>
    <dsp:sp modelId="{CABC5FB2-7EF8-5D4F-9110-90A9098AE8B0}">
      <dsp:nvSpPr>
        <dsp:cNvPr id="0" name=""/>
        <dsp:cNvSpPr/>
      </dsp:nvSpPr>
      <dsp:spPr>
        <a:xfrm>
          <a:off x="514051" y="1130177"/>
          <a:ext cx="1478651" cy="7357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60D52C-82EF-A646-A801-FFB060497428}">
      <dsp:nvSpPr>
        <dsp:cNvPr id="0" name=""/>
        <dsp:cNvSpPr/>
      </dsp:nvSpPr>
      <dsp:spPr>
        <a:xfrm>
          <a:off x="678346" y="1286257"/>
          <a:ext cx="1478651" cy="7357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 report</a:t>
          </a:r>
        </a:p>
      </dsp:txBody>
      <dsp:txXfrm>
        <a:off x="699894" y="1307805"/>
        <a:ext cx="1435555" cy="692604"/>
      </dsp:txXfrm>
    </dsp:sp>
    <dsp:sp modelId="{C8BD160B-529C-804C-8E8A-44344CF15B3A}">
      <dsp:nvSpPr>
        <dsp:cNvPr id="0" name=""/>
        <dsp:cNvSpPr/>
      </dsp:nvSpPr>
      <dsp:spPr>
        <a:xfrm>
          <a:off x="2321292" y="1130177"/>
          <a:ext cx="1642944" cy="8032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180AE38-F6AD-3844-B7FF-67F0B7C9ED99}">
      <dsp:nvSpPr>
        <dsp:cNvPr id="0" name=""/>
        <dsp:cNvSpPr/>
      </dsp:nvSpPr>
      <dsp:spPr>
        <a:xfrm>
          <a:off x="2485587" y="1286257"/>
          <a:ext cx="1642944" cy="803228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Service/Non-Criminal</a:t>
          </a:r>
        </a:p>
      </dsp:txBody>
      <dsp:txXfrm>
        <a:off x="2509113" y="1309783"/>
        <a:ext cx="1595892" cy="756176"/>
      </dsp:txXfrm>
    </dsp:sp>
    <dsp:sp modelId="{697B72F9-4BA4-2E45-A7A0-2265B4E02FF9}">
      <dsp:nvSpPr>
        <dsp:cNvPr id="0" name=""/>
        <dsp:cNvSpPr/>
      </dsp:nvSpPr>
      <dsp:spPr>
        <a:xfrm>
          <a:off x="5512745" y="2153"/>
          <a:ext cx="1478651" cy="6427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D7D2B1-8BFA-3941-9C9C-6D8B72A7268B}">
      <dsp:nvSpPr>
        <dsp:cNvPr id="0" name=""/>
        <dsp:cNvSpPr/>
      </dsp:nvSpPr>
      <dsp:spPr>
        <a:xfrm>
          <a:off x="5677039" y="158233"/>
          <a:ext cx="1478651" cy="642716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Report</a:t>
          </a:r>
        </a:p>
      </dsp:txBody>
      <dsp:txXfrm>
        <a:off x="5695864" y="177058"/>
        <a:ext cx="1441001" cy="605066"/>
      </dsp:txXfrm>
    </dsp:sp>
    <dsp:sp modelId="{9E5CDF1B-9016-9C4E-BC19-8B630B82BC13}">
      <dsp:nvSpPr>
        <dsp:cNvPr id="0" name=""/>
        <dsp:cNvSpPr/>
      </dsp:nvSpPr>
      <dsp:spPr>
        <a:xfrm>
          <a:off x="4591706" y="1074911"/>
          <a:ext cx="1478651" cy="7539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E5FC293-3EAD-2B42-9E5A-480106D158F6}">
      <dsp:nvSpPr>
        <dsp:cNvPr id="0" name=""/>
        <dsp:cNvSpPr/>
      </dsp:nvSpPr>
      <dsp:spPr>
        <a:xfrm>
          <a:off x="4756000" y="1230991"/>
          <a:ext cx="1478651" cy="753953"/>
        </a:xfrm>
        <a:prstGeom prst="roundRect">
          <a:avLst>
            <a:gd name="adj" fmla="val 10000"/>
          </a:avLst>
        </a:prstGeom>
        <a:solidFill>
          <a:srgbClr val="EED3D2">
            <a:alpha val="91059"/>
          </a:srgb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Mismatch</a:t>
          </a:r>
        </a:p>
      </dsp:txBody>
      <dsp:txXfrm>
        <a:off x="4778083" y="1253074"/>
        <a:ext cx="1434485" cy="709787"/>
      </dsp:txXfrm>
    </dsp:sp>
    <dsp:sp modelId="{9175FB47-B0A6-624B-A35E-2DDD7F7FEEA7}">
      <dsp:nvSpPr>
        <dsp:cNvPr id="0" name=""/>
        <dsp:cNvSpPr/>
      </dsp:nvSpPr>
      <dsp:spPr>
        <a:xfrm>
          <a:off x="3688085" y="2258905"/>
          <a:ext cx="1478651" cy="5610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C00918-BE90-6D4F-B874-F11034FD672A}">
      <dsp:nvSpPr>
        <dsp:cNvPr id="0" name=""/>
        <dsp:cNvSpPr/>
      </dsp:nvSpPr>
      <dsp:spPr>
        <a:xfrm>
          <a:off x="3852380" y="2414985"/>
          <a:ext cx="1478651" cy="561065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Downgraded</a:t>
          </a:r>
        </a:p>
      </dsp:txBody>
      <dsp:txXfrm>
        <a:off x="3868813" y="2431418"/>
        <a:ext cx="1445785" cy="528199"/>
      </dsp:txXfrm>
    </dsp:sp>
    <dsp:sp modelId="{A796C05F-7AAF-5A4B-8380-4E28A44D1239}">
      <dsp:nvSpPr>
        <dsp:cNvPr id="0" name=""/>
        <dsp:cNvSpPr/>
      </dsp:nvSpPr>
      <dsp:spPr>
        <a:xfrm>
          <a:off x="5495326" y="2258905"/>
          <a:ext cx="1478651" cy="5722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2B6B88B-D765-4B40-80A0-C1D8BF9C7FE5}">
      <dsp:nvSpPr>
        <dsp:cNvPr id="0" name=""/>
        <dsp:cNvSpPr/>
      </dsp:nvSpPr>
      <dsp:spPr>
        <a:xfrm>
          <a:off x="5659621" y="2414985"/>
          <a:ext cx="1478651" cy="57222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Upgraded</a:t>
          </a:r>
        </a:p>
      </dsp:txBody>
      <dsp:txXfrm>
        <a:off x="5676381" y="2431745"/>
        <a:ext cx="1445131" cy="538709"/>
      </dsp:txXfrm>
    </dsp:sp>
    <dsp:sp modelId="{2C449167-C45E-414D-9A36-C554DEF882C0}">
      <dsp:nvSpPr>
        <dsp:cNvPr id="0" name=""/>
        <dsp:cNvSpPr/>
      </dsp:nvSpPr>
      <dsp:spPr>
        <a:xfrm>
          <a:off x="5728125" y="3103246"/>
          <a:ext cx="2364644" cy="44812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328BE19-5DF1-EA43-8FBE-26E425C9081A}">
      <dsp:nvSpPr>
        <dsp:cNvPr id="0" name=""/>
        <dsp:cNvSpPr/>
      </dsp:nvSpPr>
      <dsp:spPr>
        <a:xfrm>
          <a:off x="5892420" y="3259326"/>
          <a:ext cx="2364644" cy="44812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Service to Crime</a:t>
          </a:r>
        </a:p>
      </dsp:txBody>
      <dsp:txXfrm>
        <a:off x="5905545" y="3272451"/>
        <a:ext cx="2338394" cy="421870"/>
      </dsp:txXfrm>
    </dsp:sp>
    <dsp:sp modelId="{200BBBAB-5880-9342-826A-0A9C3DBAB502}">
      <dsp:nvSpPr>
        <dsp:cNvPr id="0" name=""/>
        <dsp:cNvSpPr/>
      </dsp:nvSpPr>
      <dsp:spPr>
        <a:xfrm>
          <a:off x="6398947" y="1074911"/>
          <a:ext cx="1478651" cy="7077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12353A-37F9-E748-BCE6-DFBD55C3ACF7}">
      <dsp:nvSpPr>
        <dsp:cNvPr id="0" name=""/>
        <dsp:cNvSpPr/>
      </dsp:nvSpPr>
      <dsp:spPr>
        <a:xfrm>
          <a:off x="6563241" y="1230991"/>
          <a:ext cx="1478651" cy="707728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Match</a:t>
          </a:r>
        </a:p>
      </dsp:txBody>
      <dsp:txXfrm>
        <a:off x="6583970" y="1251720"/>
        <a:ext cx="1437193" cy="666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A9CBD318-7BE4-FF18-F197-56778EB88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dda1946d_6_308:notes">
            <a:extLst>
              <a:ext uri="{FF2B5EF4-FFF2-40B4-BE49-F238E27FC236}">
                <a16:creationId xmlns:a16="http://schemas.microsoft.com/office/drawing/2014/main" id="{3B42973C-BBFC-B600-7ACF-B47EE9C738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dda1946d_6_308:notes">
            <a:extLst>
              <a:ext uri="{FF2B5EF4-FFF2-40B4-BE49-F238E27FC236}">
                <a16:creationId xmlns:a16="http://schemas.microsoft.com/office/drawing/2014/main" id="{63863FDC-7147-4DB1-263F-A107128E9A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8443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F0B9347D-0AA9-3F29-8C20-1D3A5A2A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0675D8C2-EB90-5946-A09D-2F40FC2D4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54A4FEC9-7E5F-B74A-E791-754A2E6A6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9537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46B76D1E-2EAB-16BB-B2B4-E4BA78A8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dda1946d_6_308:notes">
            <a:extLst>
              <a:ext uri="{FF2B5EF4-FFF2-40B4-BE49-F238E27FC236}">
                <a16:creationId xmlns:a16="http://schemas.microsoft.com/office/drawing/2014/main" id="{47F618E5-3978-C795-C6BD-3AADFAC3BD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dda1946d_6_308:notes">
            <a:extLst>
              <a:ext uri="{FF2B5EF4-FFF2-40B4-BE49-F238E27FC236}">
                <a16:creationId xmlns:a16="http://schemas.microsoft.com/office/drawing/2014/main" id="{10CF40DA-BECE-CA54-B9BF-206854530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5914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4D8EFAF2-2883-DAFF-404B-9FB8B1569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54dda1946d_4_2720:notes">
            <a:extLst>
              <a:ext uri="{FF2B5EF4-FFF2-40B4-BE49-F238E27FC236}">
                <a16:creationId xmlns:a16="http://schemas.microsoft.com/office/drawing/2014/main" id="{02DCC1BC-B0F6-0CC2-8215-4769481CC3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54dda1946d_4_2720:notes">
            <a:extLst>
              <a:ext uri="{FF2B5EF4-FFF2-40B4-BE49-F238E27FC236}">
                <a16:creationId xmlns:a16="http://schemas.microsoft.com/office/drawing/2014/main" id="{93A09FB6-5296-7701-E29E-C3B43F0E3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3696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8CF885C4-9753-4AD1-FF22-818B8A6C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dda1946d_6_308:notes">
            <a:extLst>
              <a:ext uri="{FF2B5EF4-FFF2-40B4-BE49-F238E27FC236}">
                <a16:creationId xmlns:a16="http://schemas.microsoft.com/office/drawing/2014/main" id="{BB32F74F-C210-20AF-9D8E-C80BB94AF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dda1946d_6_308:notes">
            <a:extLst>
              <a:ext uri="{FF2B5EF4-FFF2-40B4-BE49-F238E27FC236}">
                <a16:creationId xmlns:a16="http://schemas.microsoft.com/office/drawing/2014/main" id="{1FF701C3-680D-CC19-2557-23E6024D1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004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F3225496-75BF-39CD-B1C3-5186BF46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4C98987E-6AEF-72F1-3F5A-FC7053876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60E08427-6F68-F098-9491-B1D54F712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320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02BD8DF8-FFB5-1A8B-D21B-7EC50775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dda1946d_6_308:notes">
            <a:extLst>
              <a:ext uri="{FF2B5EF4-FFF2-40B4-BE49-F238E27FC236}">
                <a16:creationId xmlns:a16="http://schemas.microsoft.com/office/drawing/2014/main" id="{A68B1F9D-4147-B394-9B20-F6C3E1AB2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dda1946d_6_308:notes">
            <a:extLst>
              <a:ext uri="{FF2B5EF4-FFF2-40B4-BE49-F238E27FC236}">
                <a16:creationId xmlns:a16="http://schemas.microsoft.com/office/drawing/2014/main" id="{C2C79C9E-7644-AF06-D5C7-5B304745D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919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9B6DB42C-E679-6A60-F847-C645E1D46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DC6763C9-AD0E-95A6-301E-04ADDDFF49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6395BF18-DC3D-68A7-185F-C01D6739F8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063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EA6A0C94-5730-998F-46B8-0D39D8E70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46A3AFEA-87A6-66D7-96E0-41B98D4A8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34537D21-F898-46BA-02FA-91C500F1D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57802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1D174214-741D-5BA6-DA08-0EE2455E0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dda1946d_6_308:notes">
            <a:extLst>
              <a:ext uri="{FF2B5EF4-FFF2-40B4-BE49-F238E27FC236}">
                <a16:creationId xmlns:a16="http://schemas.microsoft.com/office/drawing/2014/main" id="{00C5FB86-3EA1-75CA-9B32-0E7FAD81D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dda1946d_6_308:notes">
            <a:extLst>
              <a:ext uri="{FF2B5EF4-FFF2-40B4-BE49-F238E27FC236}">
                <a16:creationId xmlns:a16="http://schemas.microsoft.com/office/drawing/2014/main" id="{D31FAED8-6761-67F6-397D-D84D30C17F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2662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A5160A05-6BD4-AEC7-A9DE-EF2624B9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D4CFE65F-6816-05AD-2D7B-CD1DCC0FBB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7593A1FA-E11C-776D-BEA8-F5EE4CA7CC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564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0EBAD17F-D3B6-2A6E-E82E-220FDD45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dda1946d_6_308:notes">
            <a:extLst>
              <a:ext uri="{FF2B5EF4-FFF2-40B4-BE49-F238E27FC236}">
                <a16:creationId xmlns:a16="http://schemas.microsoft.com/office/drawing/2014/main" id="{6BB1C53E-9F90-0481-6A62-E6E5B91924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dda1946d_6_308:notes">
            <a:extLst>
              <a:ext uri="{FF2B5EF4-FFF2-40B4-BE49-F238E27FC236}">
                <a16:creationId xmlns:a16="http://schemas.microsoft.com/office/drawing/2014/main" id="{65789A96-ABB3-D3A9-4C12-85984B4D4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1206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3890477A-72D7-14CD-6DA5-148B37A5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AA8370D6-8F14-205E-A6AE-073C582BA6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B447FC83-5466-1759-D291-16C26E0E88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0223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8D800F36-CEF1-BE6C-E31F-9F682C88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DC69D845-68C7-B354-7519-A10A462D7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B5D5FDBC-AC30-744C-6CA5-DEFB3C4BD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3059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9A168611-1CBA-8683-3064-0CE2B2848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BE3E4AC2-43EC-BE60-0564-5AE4486FE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A7F3C445-9493-90B3-F6DB-E34C205E60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9762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1ea6b7c87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51ea6b7c87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3493E531-67AD-F0A2-E5A0-23AFF4DE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1ea6b7c87_0_200:notes">
            <a:extLst>
              <a:ext uri="{FF2B5EF4-FFF2-40B4-BE49-F238E27FC236}">
                <a16:creationId xmlns:a16="http://schemas.microsoft.com/office/drawing/2014/main" id="{5D393160-8A2D-4965-7ABA-879E83734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51ea6b7c87_0_200:notes">
            <a:extLst>
              <a:ext uri="{FF2B5EF4-FFF2-40B4-BE49-F238E27FC236}">
                <a16:creationId xmlns:a16="http://schemas.microsoft.com/office/drawing/2014/main" id="{8EB4ED80-34DC-1808-7CB1-C86970B98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2047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713225" y="539500"/>
            <a:ext cx="3785700" cy="25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713225" y="3066049"/>
            <a:ext cx="3785700" cy="15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4645100" y="1453575"/>
            <a:ext cx="3785700" cy="3690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2" name="Google Shape;12;p2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90350" y="1345275"/>
            <a:ext cx="4239300" cy="17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190350" y="539488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4190350" y="3094700"/>
            <a:ext cx="4239300" cy="15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>
            <a:spLocks noGrp="1"/>
          </p:cNvSpPr>
          <p:nvPr>
            <p:ph type="pic" idx="3"/>
          </p:nvPr>
        </p:nvSpPr>
        <p:spPr>
          <a:xfrm>
            <a:off x="714350" y="1453575"/>
            <a:ext cx="3336600" cy="3690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8" name="Google Shape;18;p3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1" name="Google Shape;31;p6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36741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>
            <a:spLocks noGrp="1"/>
          </p:cNvSpPr>
          <p:nvPr>
            <p:ph type="pic" idx="2"/>
          </p:nvPr>
        </p:nvSpPr>
        <p:spPr>
          <a:xfrm>
            <a:off x="5175575" y="1336375"/>
            <a:ext cx="3255300" cy="2982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6" name="Google Shape;36;p7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39" name="Google Shape;39;p8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057549"/>
            <a:ext cx="6576000" cy="171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ubTitle" idx="1"/>
          </p:nvPr>
        </p:nvSpPr>
        <p:spPr>
          <a:xfrm>
            <a:off x="1284000" y="2774099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50" name="Google Shape;50;p11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1597575" y="1443025"/>
            <a:ext cx="2477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2" hasCustomPrompt="1"/>
          </p:nvPr>
        </p:nvSpPr>
        <p:spPr>
          <a:xfrm>
            <a:off x="710480" y="1443025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3"/>
          </p:nvPr>
        </p:nvSpPr>
        <p:spPr>
          <a:xfrm>
            <a:off x="1597575" y="2209200"/>
            <a:ext cx="2477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4" hasCustomPrompt="1"/>
          </p:nvPr>
        </p:nvSpPr>
        <p:spPr>
          <a:xfrm>
            <a:off x="710480" y="2209200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5"/>
          </p:nvPr>
        </p:nvSpPr>
        <p:spPr>
          <a:xfrm>
            <a:off x="1597575" y="2975375"/>
            <a:ext cx="2477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6" hasCustomPrompt="1"/>
          </p:nvPr>
        </p:nvSpPr>
        <p:spPr>
          <a:xfrm>
            <a:off x="710480" y="2975375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7"/>
          </p:nvPr>
        </p:nvSpPr>
        <p:spPr>
          <a:xfrm>
            <a:off x="1597575" y="3741550"/>
            <a:ext cx="2477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8"/>
          </p:nvPr>
        </p:nvSpPr>
        <p:spPr>
          <a:xfrm>
            <a:off x="4151175" y="3852747"/>
            <a:ext cx="38826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9" hasCustomPrompt="1"/>
          </p:nvPr>
        </p:nvSpPr>
        <p:spPr>
          <a:xfrm>
            <a:off x="710480" y="3741550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cxnSp>
        <p:nvCxnSpPr>
          <p:cNvPr id="63" name="Google Shape;63;p13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>
            <a:spLocks noGrp="1"/>
          </p:cNvSpPr>
          <p:nvPr>
            <p:ph type="subTitle" idx="13"/>
          </p:nvPr>
        </p:nvSpPr>
        <p:spPr>
          <a:xfrm>
            <a:off x="4151175" y="3085390"/>
            <a:ext cx="38826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4"/>
          </p:nvPr>
        </p:nvSpPr>
        <p:spPr>
          <a:xfrm>
            <a:off x="4151175" y="2318034"/>
            <a:ext cx="38826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5"/>
          </p:nvPr>
        </p:nvSpPr>
        <p:spPr>
          <a:xfrm>
            <a:off x="4151175" y="1550677"/>
            <a:ext cx="38826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10">
    <p:bg>
      <p:bgPr>
        <a:solidFill>
          <a:schemeClr val="dk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69" name="Google Shape;69;p14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_AND_TWO_COLUMNS_1_1">
    <p:bg>
      <p:bgPr>
        <a:solidFill>
          <a:schemeClr val="dk2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674525" y="539500"/>
            <a:ext cx="775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336725" y="2197550"/>
            <a:ext cx="5094000" cy="24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flipH="1">
            <a:off x="4189350" y="539500"/>
            <a:ext cx="4241400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1"/>
          </p:nvPr>
        </p:nvSpPr>
        <p:spPr>
          <a:xfrm flipH="1">
            <a:off x="4189350" y="2041600"/>
            <a:ext cx="4241400" cy="25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>
            <a:spLocks noGrp="1"/>
          </p:cNvSpPr>
          <p:nvPr>
            <p:ph type="pic" idx="2"/>
          </p:nvPr>
        </p:nvSpPr>
        <p:spPr>
          <a:xfrm>
            <a:off x="713227" y="1455400"/>
            <a:ext cx="3336600" cy="3688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8" name="Google Shape;78;p16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713225" y="1747387"/>
            <a:ext cx="24843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2"/>
          </p:nvPr>
        </p:nvSpPr>
        <p:spPr>
          <a:xfrm>
            <a:off x="3336725" y="1747387"/>
            <a:ext cx="24843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3"/>
          </p:nvPr>
        </p:nvSpPr>
        <p:spPr>
          <a:xfrm>
            <a:off x="5960225" y="1747387"/>
            <a:ext cx="24843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4"/>
          </p:nvPr>
        </p:nvSpPr>
        <p:spPr>
          <a:xfrm>
            <a:off x="713225" y="1398463"/>
            <a:ext cx="24843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5"/>
          </p:nvPr>
        </p:nvSpPr>
        <p:spPr>
          <a:xfrm>
            <a:off x="3336729" y="1398463"/>
            <a:ext cx="24843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6"/>
          </p:nvPr>
        </p:nvSpPr>
        <p:spPr>
          <a:xfrm>
            <a:off x="5960225" y="1398463"/>
            <a:ext cx="24843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cxnSp>
        <p:nvCxnSpPr>
          <p:cNvPr id="87" name="Google Shape;87;p17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4225000" y="539500"/>
            <a:ext cx="4205700" cy="10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1"/>
          </p:nvPr>
        </p:nvSpPr>
        <p:spPr>
          <a:xfrm>
            <a:off x="4225000" y="2714440"/>
            <a:ext cx="20454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2"/>
          </p:nvPr>
        </p:nvSpPr>
        <p:spPr>
          <a:xfrm>
            <a:off x="6385365" y="2714440"/>
            <a:ext cx="20454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ubTitle" idx="3"/>
          </p:nvPr>
        </p:nvSpPr>
        <p:spPr>
          <a:xfrm>
            <a:off x="4225000" y="3938599"/>
            <a:ext cx="20454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4"/>
          </p:nvPr>
        </p:nvSpPr>
        <p:spPr>
          <a:xfrm>
            <a:off x="6385365" y="3938599"/>
            <a:ext cx="20454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ubTitle" idx="5"/>
          </p:nvPr>
        </p:nvSpPr>
        <p:spPr>
          <a:xfrm>
            <a:off x="4225000" y="2328775"/>
            <a:ext cx="2045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ubTitle" idx="6"/>
          </p:nvPr>
        </p:nvSpPr>
        <p:spPr>
          <a:xfrm>
            <a:off x="4225000" y="3553034"/>
            <a:ext cx="2045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ubTitle" idx="7"/>
          </p:nvPr>
        </p:nvSpPr>
        <p:spPr>
          <a:xfrm>
            <a:off x="6385361" y="2328775"/>
            <a:ext cx="2045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8"/>
          </p:nvPr>
        </p:nvSpPr>
        <p:spPr>
          <a:xfrm>
            <a:off x="6385361" y="3553034"/>
            <a:ext cx="2045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cxnSp>
        <p:nvCxnSpPr>
          <p:cNvPr id="98" name="Google Shape;98;p18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Google Shape;105;p20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1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6" r:id="rId16"/>
    <p:sldLayoutId id="2147483667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lia-mc/The-Perception-Ga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julia.melo.cavalcante/viz/ThePerceptionGap_17782872112890/Dashboard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public.tableau.com/app/profile/julia.melo.cavalcante/viz/shared/72M7TW8BW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>
            <a:spLocks noGrp="1"/>
          </p:cNvSpPr>
          <p:nvPr>
            <p:ph type="ctrTitle"/>
          </p:nvPr>
        </p:nvSpPr>
        <p:spPr>
          <a:xfrm flipH="1">
            <a:off x="386893" y="1243147"/>
            <a:ext cx="5225310" cy="32689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2"/>
                </a:solidFill>
              </a:rPr>
              <a:t>The Perception Gap</a:t>
            </a:r>
            <a:endParaRPr sz="4400" dirty="0">
              <a:solidFill>
                <a:schemeClr val="dk2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chemeClr val="dk2"/>
                </a:solidFill>
              </a:rPr>
              <a:t>911 calls vs. crime</a:t>
            </a:r>
            <a:br>
              <a:rPr lang="en" sz="4400" b="1" dirty="0">
                <a:solidFill>
                  <a:schemeClr val="dk2"/>
                </a:solidFill>
              </a:rPr>
            </a:br>
            <a:r>
              <a:rPr lang="en" sz="4400" b="1" dirty="0">
                <a:solidFill>
                  <a:schemeClr val="dk2"/>
                </a:solidFill>
              </a:rPr>
              <a:t>reality </a:t>
            </a:r>
            <a:endParaRPr sz="4400" b="1" dirty="0">
              <a:solidFill>
                <a:schemeClr val="dk2"/>
              </a:solidFill>
            </a:endParaRPr>
          </a:p>
        </p:txBody>
      </p:sp>
      <p:sp>
        <p:nvSpPr>
          <p:cNvPr id="125" name="Google Shape;125;p26"/>
          <p:cNvSpPr txBox="1">
            <a:spLocks noGrp="1"/>
          </p:cNvSpPr>
          <p:nvPr>
            <p:ph type="subTitle" idx="1"/>
          </p:nvPr>
        </p:nvSpPr>
        <p:spPr>
          <a:xfrm flipH="1">
            <a:off x="2243859" y="3303395"/>
            <a:ext cx="3300100" cy="3819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>
                <a:latin typeface="Kohinoor Bangla" panose="02000000000000000000" pitchFamily="2" charset="77"/>
                <a:cs typeface="Kohinoor Bangla" panose="02000000000000000000" pitchFamily="2" charset="77"/>
              </a:rPr>
              <a:t>Julia Melo Cavalcante | DATA 205</a:t>
            </a:r>
            <a:endParaRPr u="sng" dirty="0">
              <a:latin typeface="Kohinoor Bangla" panose="02000000000000000000" pitchFamily="2" charset="77"/>
              <a:cs typeface="Kohinoor Bangla" panose="02000000000000000000" pitchFamily="2" charset="77"/>
            </a:endParaRPr>
          </a:p>
        </p:txBody>
      </p:sp>
      <p:grpSp>
        <p:nvGrpSpPr>
          <p:cNvPr id="126" name="Google Shape;126;p26"/>
          <p:cNvGrpSpPr/>
          <p:nvPr/>
        </p:nvGrpSpPr>
        <p:grpSpPr>
          <a:xfrm>
            <a:off x="5543959" y="1456586"/>
            <a:ext cx="709200" cy="556805"/>
            <a:chOff x="4638200" y="744375"/>
            <a:chExt cx="709200" cy="556805"/>
          </a:xfrm>
        </p:grpSpPr>
        <p:sp>
          <p:nvSpPr>
            <p:cNvPr id="127" name="Google Shape;127;p26"/>
            <p:cNvSpPr/>
            <p:nvPr/>
          </p:nvSpPr>
          <p:spPr>
            <a:xfrm flipH="1">
              <a:off x="4790600" y="744375"/>
              <a:ext cx="556800" cy="556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28" name="Google Shape;128;p26"/>
            <p:cNvCxnSpPr/>
            <p:nvPr/>
          </p:nvCxnSpPr>
          <p:spPr>
            <a:xfrm>
              <a:off x="4638200" y="744380"/>
              <a:ext cx="0" cy="556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B05BEC-83C9-48EF-FA07-0F399B3FF2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6" t="20039" r="20338" b="18193"/>
          <a:stretch/>
        </p:blipFill>
        <p:spPr bwMode="auto">
          <a:xfrm>
            <a:off x="5696359" y="2152952"/>
            <a:ext cx="2512381" cy="134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oogle Shape;2185;p52">
            <a:extLst>
              <a:ext uri="{FF2B5EF4-FFF2-40B4-BE49-F238E27FC236}">
                <a16:creationId xmlns:a16="http://schemas.microsoft.com/office/drawing/2014/main" id="{4E33FD3C-73F0-DEA7-8E2A-6481932029CE}"/>
              </a:ext>
            </a:extLst>
          </p:cNvPr>
          <p:cNvGrpSpPr/>
          <p:nvPr/>
        </p:nvGrpSpPr>
        <p:grpSpPr>
          <a:xfrm>
            <a:off x="5831581" y="1591966"/>
            <a:ext cx="286356" cy="286039"/>
            <a:chOff x="3040984" y="3681059"/>
            <a:chExt cx="356164" cy="355815"/>
          </a:xfrm>
          <a:solidFill>
            <a:schemeClr val="bg2"/>
          </a:solidFill>
        </p:grpSpPr>
        <p:sp>
          <p:nvSpPr>
            <p:cNvPr id="5" name="Google Shape;2186;p52">
              <a:extLst>
                <a:ext uri="{FF2B5EF4-FFF2-40B4-BE49-F238E27FC236}">
                  <a16:creationId xmlns:a16="http://schemas.microsoft.com/office/drawing/2014/main" id="{3B2F7227-9733-9F8A-DA94-4C07A8F32C7E}"/>
                </a:ext>
              </a:extLst>
            </p:cNvPr>
            <p:cNvSpPr/>
            <p:nvPr/>
          </p:nvSpPr>
          <p:spPr>
            <a:xfrm>
              <a:off x="3040984" y="3681059"/>
              <a:ext cx="356164" cy="355815"/>
            </a:xfrm>
            <a:custGeom>
              <a:avLst/>
              <a:gdLst/>
              <a:ahLst/>
              <a:cxnLst/>
              <a:rect l="l" t="t" r="r" b="b"/>
              <a:pathLst>
                <a:path w="11216" h="11205" extrusionOk="0">
                  <a:moveTo>
                    <a:pt x="5620" y="0"/>
                  </a:moveTo>
                  <a:cubicBezTo>
                    <a:pt x="4274" y="0"/>
                    <a:pt x="2965" y="488"/>
                    <a:pt x="1953" y="1369"/>
                  </a:cubicBezTo>
                  <a:cubicBezTo>
                    <a:pt x="1881" y="1429"/>
                    <a:pt x="1881" y="1536"/>
                    <a:pt x="1941" y="1608"/>
                  </a:cubicBezTo>
                  <a:cubicBezTo>
                    <a:pt x="1972" y="1645"/>
                    <a:pt x="2016" y="1663"/>
                    <a:pt x="2061" y="1663"/>
                  </a:cubicBezTo>
                  <a:cubicBezTo>
                    <a:pt x="2103" y="1663"/>
                    <a:pt x="2145" y="1648"/>
                    <a:pt x="2179" y="1620"/>
                  </a:cubicBezTo>
                  <a:cubicBezTo>
                    <a:pt x="3131" y="786"/>
                    <a:pt x="4358" y="346"/>
                    <a:pt x="5620" y="346"/>
                  </a:cubicBezTo>
                  <a:cubicBezTo>
                    <a:pt x="7013" y="346"/>
                    <a:pt x="8346" y="893"/>
                    <a:pt x="9335" y="1893"/>
                  </a:cubicBezTo>
                  <a:cubicBezTo>
                    <a:pt x="10335" y="2882"/>
                    <a:pt x="10882" y="4215"/>
                    <a:pt x="10882" y="5608"/>
                  </a:cubicBezTo>
                  <a:cubicBezTo>
                    <a:pt x="10882" y="7013"/>
                    <a:pt x="10335" y="8335"/>
                    <a:pt x="9335" y="9335"/>
                  </a:cubicBezTo>
                  <a:cubicBezTo>
                    <a:pt x="8346" y="10323"/>
                    <a:pt x="7013" y="10883"/>
                    <a:pt x="5620" y="10883"/>
                  </a:cubicBezTo>
                  <a:cubicBezTo>
                    <a:pt x="4215" y="10883"/>
                    <a:pt x="2893" y="10323"/>
                    <a:pt x="1893" y="9335"/>
                  </a:cubicBezTo>
                  <a:cubicBezTo>
                    <a:pt x="893" y="8335"/>
                    <a:pt x="345" y="7013"/>
                    <a:pt x="345" y="5608"/>
                  </a:cubicBezTo>
                  <a:cubicBezTo>
                    <a:pt x="345" y="4298"/>
                    <a:pt x="822" y="3048"/>
                    <a:pt x="1703" y="2084"/>
                  </a:cubicBezTo>
                  <a:cubicBezTo>
                    <a:pt x="1762" y="2012"/>
                    <a:pt x="1762" y="1905"/>
                    <a:pt x="1691" y="1846"/>
                  </a:cubicBezTo>
                  <a:cubicBezTo>
                    <a:pt x="1657" y="1817"/>
                    <a:pt x="1614" y="1802"/>
                    <a:pt x="1573" y="1802"/>
                  </a:cubicBezTo>
                  <a:cubicBezTo>
                    <a:pt x="1528" y="1802"/>
                    <a:pt x="1484" y="1820"/>
                    <a:pt x="1453" y="1858"/>
                  </a:cubicBezTo>
                  <a:cubicBezTo>
                    <a:pt x="512" y="2882"/>
                    <a:pt x="0" y="4227"/>
                    <a:pt x="0" y="5608"/>
                  </a:cubicBezTo>
                  <a:cubicBezTo>
                    <a:pt x="0" y="7096"/>
                    <a:pt x="583" y="8513"/>
                    <a:pt x="1643" y="9573"/>
                  </a:cubicBezTo>
                  <a:cubicBezTo>
                    <a:pt x="2703" y="10621"/>
                    <a:pt x="4096" y="11204"/>
                    <a:pt x="5608" y="11204"/>
                  </a:cubicBezTo>
                  <a:cubicBezTo>
                    <a:pt x="7108" y="11204"/>
                    <a:pt x="8501" y="10621"/>
                    <a:pt x="9561" y="9573"/>
                  </a:cubicBezTo>
                  <a:cubicBezTo>
                    <a:pt x="10620" y="8513"/>
                    <a:pt x="11204" y="7108"/>
                    <a:pt x="11204" y="5608"/>
                  </a:cubicBezTo>
                  <a:cubicBezTo>
                    <a:pt x="11216" y="4096"/>
                    <a:pt x="10632" y="2691"/>
                    <a:pt x="9573" y="1631"/>
                  </a:cubicBezTo>
                  <a:cubicBezTo>
                    <a:pt x="8525" y="572"/>
                    <a:pt x="7120" y="0"/>
                    <a:pt x="5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2187;p52">
              <a:extLst>
                <a:ext uri="{FF2B5EF4-FFF2-40B4-BE49-F238E27FC236}">
                  <a16:creationId xmlns:a16="http://schemas.microsoft.com/office/drawing/2014/main" id="{09BA77F8-C5AB-1D6E-4F8C-304AFCC3979C}"/>
                </a:ext>
              </a:extLst>
            </p:cNvPr>
            <p:cNvSpPr/>
            <p:nvPr/>
          </p:nvSpPr>
          <p:spPr>
            <a:xfrm>
              <a:off x="3183120" y="3921508"/>
              <a:ext cx="59414" cy="59382"/>
            </a:xfrm>
            <a:custGeom>
              <a:avLst/>
              <a:gdLst/>
              <a:ahLst/>
              <a:cxnLst/>
              <a:rect l="l" t="t" r="r" b="b"/>
              <a:pathLst>
                <a:path w="1871" h="1870" extrusionOk="0">
                  <a:moveTo>
                    <a:pt x="929" y="334"/>
                  </a:moveTo>
                  <a:cubicBezTo>
                    <a:pt x="1263" y="334"/>
                    <a:pt x="1549" y="608"/>
                    <a:pt x="1549" y="941"/>
                  </a:cubicBezTo>
                  <a:cubicBezTo>
                    <a:pt x="1549" y="1263"/>
                    <a:pt x="1263" y="1548"/>
                    <a:pt x="929" y="1548"/>
                  </a:cubicBezTo>
                  <a:cubicBezTo>
                    <a:pt x="608" y="1548"/>
                    <a:pt x="334" y="1287"/>
                    <a:pt x="334" y="941"/>
                  </a:cubicBezTo>
                  <a:cubicBezTo>
                    <a:pt x="334" y="596"/>
                    <a:pt x="608" y="334"/>
                    <a:pt x="929" y="334"/>
                  </a:cubicBezTo>
                  <a:close/>
                  <a:moveTo>
                    <a:pt x="929" y="1"/>
                  </a:moveTo>
                  <a:cubicBezTo>
                    <a:pt x="429" y="1"/>
                    <a:pt x="1" y="417"/>
                    <a:pt x="1" y="941"/>
                  </a:cubicBezTo>
                  <a:cubicBezTo>
                    <a:pt x="1" y="1453"/>
                    <a:pt x="417" y="1870"/>
                    <a:pt x="929" y="1870"/>
                  </a:cubicBezTo>
                  <a:cubicBezTo>
                    <a:pt x="1191" y="1870"/>
                    <a:pt x="1430" y="1775"/>
                    <a:pt x="1608" y="1596"/>
                  </a:cubicBezTo>
                  <a:cubicBezTo>
                    <a:pt x="1787" y="1417"/>
                    <a:pt x="1870" y="1179"/>
                    <a:pt x="1870" y="941"/>
                  </a:cubicBezTo>
                  <a:cubicBezTo>
                    <a:pt x="1870" y="679"/>
                    <a:pt x="1763" y="453"/>
                    <a:pt x="1584" y="263"/>
                  </a:cubicBezTo>
                  <a:cubicBezTo>
                    <a:pt x="1406" y="108"/>
                    <a:pt x="1191" y="1"/>
                    <a:pt x="9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7" name="Google Shape;2188;p52">
              <a:extLst>
                <a:ext uri="{FF2B5EF4-FFF2-40B4-BE49-F238E27FC236}">
                  <a16:creationId xmlns:a16="http://schemas.microsoft.com/office/drawing/2014/main" id="{63A746C2-3A8B-D166-DEF7-5B538071406B}"/>
                </a:ext>
              </a:extLst>
            </p:cNvPr>
            <p:cNvSpPr/>
            <p:nvPr/>
          </p:nvSpPr>
          <p:spPr>
            <a:xfrm>
              <a:off x="3149110" y="3735868"/>
              <a:ext cx="141056" cy="174716"/>
            </a:xfrm>
            <a:custGeom>
              <a:avLst/>
              <a:gdLst/>
              <a:ahLst/>
              <a:cxnLst/>
              <a:rect l="l" t="t" r="r" b="b"/>
              <a:pathLst>
                <a:path w="4442" h="5502" extrusionOk="0">
                  <a:moveTo>
                    <a:pt x="2143" y="1"/>
                  </a:moveTo>
                  <a:cubicBezTo>
                    <a:pt x="1322" y="1"/>
                    <a:pt x="810" y="286"/>
                    <a:pt x="536" y="501"/>
                  </a:cubicBezTo>
                  <a:cubicBezTo>
                    <a:pt x="191" y="786"/>
                    <a:pt x="0" y="1156"/>
                    <a:pt x="0" y="1513"/>
                  </a:cubicBezTo>
                  <a:cubicBezTo>
                    <a:pt x="0" y="1739"/>
                    <a:pt x="84" y="1941"/>
                    <a:pt x="262" y="2084"/>
                  </a:cubicBezTo>
                  <a:cubicBezTo>
                    <a:pt x="393" y="2203"/>
                    <a:pt x="596" y="2263"/>
                    <a:pt x="774" y="2263"/>
                  </a:cubicBezTo>
                  <a:cubicBezTo>
                    <a:pt x="1084" y="2263"/>
                    <a:pt x="1227" y="2049"/>
                    <a:pt x="1334" y="1894"/>
                  </a:cubicBezTo>
                  <a:cubicBezTo>
                    <a:pt x="1465" y="1679"/>
                    <a:pt x="1596" y="1489"/>
                    <a:pt x="2108" y="1489"/>
                  </a:cubicBezTo>
                  <a:cubicBezTo>
                    <a:pt x="2286" y="1489"/>
                    <a:pt x="2858" y="1525"/>
                    <a:pt x="2858" y="2001"/>
                  </a:cubicBezTo>
                  <a:cubicBezTo>
                    <a:pt x="2858" y="2358"/>
                    <a:pt x="2512" y="2632"/>
                    <a:pt x="2227" y="2858"/>
                  </a:cubicBezTo>
                  <a:cubicBezTo>
                    <a:pt x="2155" y="2918"/>
                    <a:pt x="2072" y="2965"/>
                    <a:pt x="2024" y="3025"/>
                  </a:cubicBezTo>
                  <a:cubicBezTo>
                    <a:pt x="1679" y="3323"/>
                    <a:pt x="1286" y="3763"/>
                    <a:pt x="1286" y="4668"/>
                  </a:cubicBezTo>
                  <a:cubicBezTo>
                    <a:pt x="1286" y="5180"/>
                    <a:pt x="1405" y="5501"/>
                    <a:pt x="2000" y="5501"/>
                  </a:cubicBezTo>
                  <a:cubicBezTo>
                    <a:pt x="2274" y="5501"/>
                    <a:pt x="2465" y="5442"/>
                    <a:pt x="2596" y="5323"/>
                  </a:cubicBezTo>
                  <a:cubicBezTo>
                    <a:pt x="2703" y="5216"/>
                    <a:pt x="2762" y="5085"/>
                    <a:pt x="2762" y="4918"/>
                  </a:cubicBezTo>
                  <a:cubicBezTo>
                    <a:pt x="2762" y="4430"/>
                    <a:pt x="2762" y="4192"/>
                    <a:pt x="3263" y="3787"/>
                  </a:cubicBezTo>
                  <a:lnTo>
                    <a:pt x="3286" y="3787"/>
                  </a:lnTo>
                  <a:cubicBezTo>
                    <a:pt x="3298" y="3775"/>
                    <a:pt x="3322" y="3763"/>
                    <a:pt x="3358" y="3727"/>
                  </a:cubicBezTo>
                  <a:cubicBezTo>
                    <a:pt x="3429" y="3680"/>
                    <a:pt x="3453" y="3573"/>
                    <a:pt x="3393" y="3489"/>
                  </a:cubicBezTo>
                  <a:cubicBezTo>
                    <a:pt x="3360" y="3449"/>
                    <a:pt x="3311" y="3427"/>
                    <a:pt x="3261" y="3427"/>
                  </a:cubicBezTo>
                  <a:cubicBezTo>
                    <a:pt x="3224" y="3427"/>
                    <a:pt x="3186" y="3440"/>
                    <a:pt x="3155" y="3465"/>
                  </a:cubicBezTo>
                  <a:cubicBezTo>
                    <a:pt x="3120" y="3477"/>
                    <a:pt x="3108" y="3513"/>
                    <a:pt x="3072" y="3525"/>
                  </a:cubicBezTo>
                  <a:lnTo>
                    <a:pt x="3060" y="3525"/>
                  </a:lnTo>
                  <a:cubicBezTo>
                    <a:pt x="2465" y="3989"/>
                    <a:pt x="2429" y="4346"/>
                    <a:pt x="2429" y="4906"/>
                  </a:cubicBezTo>
                  <a:cubicBezTo>
                    <a:pt x="2429" y="4977"/>
                    <a:pt x="2429" y="5156"/>
                    <a:pt x="2000" y="5156"/>
                  </a:cubicBezTo>
                  <a:cubicBezTo>
                    <a:pt x="1798" y="5156"/>
                    <a:pt x="1739" y="5120"/>
                    <a:pt x="1703" y="5085"/>
                  </a:cubicBezTo>
                  <a:cubicBezTo>
                    <a:pt x="1643" y="5025"/>
                    <a:pt x="1619" y="4882"/>
                    <a:pt x="1619" y="4656"/>
                  </a:cubicBezTo>
                  <a:cubicBezTo>
                    <a:pt x="1619" y="3882"/>
                    <a:pt x="1929" y="3513"/>
                    <a:pt x="2227" y="3251"/>
                  </a:cubicBezTo>
                  <a:cubicBezTo>
                    <a:pt x="2286" y="3215"/>
                    <a:pt x="2346" y="3156"/>
                    <a:pt x="2417" y="3108"/>
                  </a:cubicBezTo>
                  <a:cubicBezTo>
                    <a:pt x="2762" y="2858"/>
                    <a:pt x="3179" y="2525"/>
                    <a:pt x="3179" y="1989"/>
                  </a:cubicBezTo>
                  <a:cubicBezTo>
                    <a:pt x="3179" y="1465"/>
                    <a:pt x="2762" y="1144"/>
                    <a:pt x="2108" y="1144"/>
                  </a:cubicBezTo>
                  <a:cubicBezTo>
                    <a:pt x="1417" y="1144"/>
                    <a:pt x="1215" y="1453"/>
                    <a:pt x="1048" y="1691"/>
                  </a:cubicBezTo>
                  <a:cubicBezTo>
                    <a:pt x="941" y="1858"/>
                    <a:pt x="881" y="1918"/>
                    <a:pt x="750" y="1918"/>
                  </a:cubicBezTo>
                  <a:cubicBezTo>
                    <a:pt x="572" y="1918"/>
                    <a:pt x="322" y="1810"/>
                    <a:pt x="322" y="1513"/>
                  </a:cubicBezTo>
                  <a:cubicBezTo>
                    <a:pt x="322" y="1322"/>
                    <a:pt x="429" y="1025"/>
                    <a:pt x="738" y="775"/>
                  </a:cubicBezTo>
                  <a:cubicBezTo>
                    <a:pt x="977" y="572"/>
                    <a:pt x="1405" y="334"/>
                    <a:pt x="2131" y="334"/>
                  </a:cubicBezTo>
                  <a:cubicBezTo>
                    <a:pt x="3298" y="334"/>
                    <a:pt x="4120" y="953"/>
                    <a:pt x="4120" y="1822"/>
                  </a:cubicBezTo>
                  <a:cubicBezTo>
                    <a:pt x="4120" y="2227"/>
                    <a:pt x="3941" y="2644"/>
                    <a:pt x="3596" y="3037"/>
                  </a:cubicBezTo>
                  <a:cubicBezTo>
                    <a:pt x="3524" y="3096"/>
                    <a:pt x="3536" y="3203"/>
                    <a:pt x="3596" y="3263"/>
                  </a:cubicBezTo>
                  <a:cubicBezTo>
                    <a:pt x="3629" y="3290"/>
                    <a:pt x="3669" y="3305"/>
                    <a:pt x="3709" y="3305"/>
                  </a:cubicBezTo>
                  <a:cubicBezTo>
                    <a:pt x="3755" y="3305"/>
                    <a:pt x="3802" y="3284"/>
                    <a:pt x="3834" y="3239"/>
                  </a:cubicBezTo>
                  <a:cubicBezTo>
                    <a:pt x="4239" y="2787"/>
                    <a:pt x="4441" y="2310"/>
                    <a:pt x="4441" y="1810"/>
                  </a:cubicBezTo>
                  <a:cubicBezTo>
                    <a:pt x="4441" y="1287"/>
                    <a:pt x="4203" y="834"/>
                    <a:pt x="3786" y="501"/>
                  </a:cubicBezTo>
                  <a:cubicBezTo>
                    <a:pt x="3370" y="179"/>
                    <a:pt x="2798" y="1"/>
                    <a:pt x="21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title" idx="2"/>
          </p:nvPr>
        </p:nvSpPr>
        <p:spPr>
          <a:xfrm>
            <a:off x="796977" y="157036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title"/>
          </p:nvPr>
        </p:nvSpPr>
        <p:spPr>
          <a:xfrm>
            <a:off x="710479" y="43108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</a:t>
            </a:r>
            <a:r>
              <a:rPr lang="en" b="1" dirty="0"/>
              <a:t>contents</a:t>
            </a:r>
            <a:endParaRPr b="1" dirty="0"/>
          </a:p>
        </p:txBody>
      </p:sp>
      <p:sp>
        <p:nvSpPr>
          <p:cNvPr id="147" name="Google Shape;147;p28"/>
          <p:cNvSpPr txBox="1">
            <a:spLocks noGrp="1"/>
          </p:cNvSpPr>
          <p:nvPr>
            <p:ph type="subTitle" idx="1"/>
          </p:nvPr>
        </p:nvSpPr>
        <p:spPr>
          <a:xfrm>
            <a:off x="1684071" y="1570366"/>
            <a:ext cx="3445071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 Information</a:t>
            </a:r>
            <a:endParaRPr dirty="0"/>
          </a:p>
        </p:txBody>
      </p:sp>
      <p:cxnSp>
        <p:nvCxnSpPr>
          <p:cNvPr id="148" name="Google Shape;148;p28"/>
          <p:cNvCxnSpPr/>
          <p:nvPr/>
        </p:nvCxnSpPr>
        <p:spPr>
          <a:xfrm>
            <a:off x="1607877" y="1578371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" name="Google Shape;149;p28"/>
          <p:cNvSpPr txBox="1">
            <a:spLocks noGrp="1"/>
          </p:cNvSpPr>
          <p:nvPr>
            <p:ph type="subTitle" idx="3"/>
          </p:nvPr>
        </p:nvSpPr>
        <p:spPr>
          <a:xfrm>
            <a:off x="1684072" y="2336541"/>
            <a:ext cx="2477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Datasets</a:t>
            </a:r>
            <a:endParaRPr dirty="0"/>
          </a:p>
        </p:txBody>
      </p:sp>
      <p:sp>
        <p:nvSpPr>
          <p:cNvPr id="150" name="Google Shape;150;p28"/>
          <p:cNvSpPr txBox="1">
            <a:spLocks noGrp="1"/>
          </p:cNvSpPr>
          <p:nvPr>
            <p:ph type="title" idx="4"/>
          </p:nvPr>
        </p:nvSpPr>
        <p:spPr>
          <a:xfrm>
            <a:off x="796977" y="2336541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51" name="Google Shape;151;p28"/>
          <p:cNvSpPr txBox="1">
            <a:spLocks noGrp="1"/>
          </p:cNvSpPr>
          <p:nvPr>
            <p:ph type="subTitle" idx="5"/>
          </p:nvPr>
        </p:nvSpPr>
        <p:spPr>
          <a:xfrm>
            <a:off x="1684072" y="3102716"/>
            <a:ext cx="2477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Final Data Product </a:t>
            </a:r>
            <a:endParaRPr dirty="0"/>
          </a:p>
        </p:txBody>
      </p:sp>
      <p:sp>
        <p:nvSpPr>
          <p:cNvPr id="152" name="Google Shape;152;p28"/>
          <p:cNvSpPr txBox="1">
            <a:spLocks noGrp="1"/>
          </p:cNvSpPr>
          <p:nvPr>
            <p:ph type="title" idx="6"/>
          </p:nvPr>
        </p:nvSpPr>
        <p:spPr>
          <a:xfrm>
            <a:off x="796977" y="310271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56" name="Google Shape;156;p28"/>
          <p:cNvCxnSpPr/>
          <p:nvPr/>
        </p:nvCxnSpPr>
        <p:spPr>
          <a:xfrm>
            <a:off x="1607877" y="2344496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8"/>
          <p:cNvCxnSpPr/>
          <p:nvPr/>
        </p:nvCxnSpPr>
        <p:spPr>
          <a:xfrm>
            <a:off x="1607877" y="3110621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53;p28">
            <a:extLst>
              <a:ext uri="{FF2B5EF4-FFF2-40B4-BE49-F238E27FC236}">
                <a16:creationId xmlns:a16="http://schemas.microsoft.com/office/drawing/2014/main" id="{2A4AF730-B586-1F12-0651-BB1ABA3A91D9}"/>
              </a:ext>
            </a:extLst>
          </p:cNvPr>
          <p:cNvSpPr txBox="1">
            <a:spLocks/>
          </p:cNvSpPr>
          <p:nvPr/>
        </p:nvSpPr>
        <p:spPr>
          <a:xfrm>
            <a:off x="5813939" y="2342004"/>
            <a:ext cx="32290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dirty="0"/>
              <a:t>Key Findings</a:t>
            </a:r>
          </a:p>
        </p:txBody>
      </p:sp>
      <p:sp>
        <p:nvSpPr>
          <p:cNvPr id="15" name="Google Shape;155;p28">
            <a:extLst>
              <a:ext uri="{FF2B5EF4-FFF2-40B4-BE49-F238E27FC236}">
                <a16:creationId xmlns:a16="http://schemas.microsoft.com/office/drawing/2014/main" id="{DCE4521A-93AA-3EB3-47BB-A27F2F76BAC1}"/>
              </a:ext>
            </a:extLst>
          </p:cNvPr>
          <p:cNvSpPr txBox="1">
            <a:spLocks/>
          </p:cNvSpPr>
          <p:nvPr/>
        </p:nvSpPr>
        <p:spPr>
          <a:xfrm>
            <a:off x="4926845" y="2342004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1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r>
              <a:rPr lang="en" dirty="0"/>
              <a:t>05</a:t>
            </a:r>
          </a:p>
        </p:txBody>
      </p:sp>
      <p:cxnSp>
        <p:nvCxnSpPr>
          <p:cNvPr id="16" name="Google Shape;158;p28">
            <a:extLst>
              <a:ext uri="{FF2B5EF4-FFF2-40B4-BE49-F238E27FC236}">
                <a16:creationId xmlns:a16="http://schemas.microsoft.com/office/drawing/2014/main" id="{6073FDF9-0ED6-5198-2188-B5AA913F5B9B}"/>
              </a:ext>
            </a:extLst>
          </p:cNvPr>
          <p:cNvCxnSpPr/>
          <p:nvPr/>
        </p:nvCxnSpPr>
        <p:spPr>
          <a:xfrm>
            <a:off x="5737745" y="2349954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153;p28">
            <a:extLst>
              <a:ext uri="{FF2B5EF4-FFF2-40B4-BE49-F238E27FC236}">
                <a16:creationId xmlns:a16="http://schemas.microsoft.com/office/drawing/2014/main" id="{B5C7E68C-8374-68A2-60D8-F3503988DDA0}"/>
              </a:ext>
            </a:extLst>
          </p:cNvPr>
          <p:cNvSpPr txBox="1">
            <a:spLocks/>
          </p:cNvSpPr>
          <p:nvPr/>
        </p:nvSpPr>
        <p:spPr>
          <a:xfrm>
            <a:off x="5824937" y="1572818"/>
            <a:ext cx="2477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dirty="0"/>
              <a:t>Statistical Analysis</a:t>
            </a:r>
          </a:p>
        </p:txBody>
      </p:sp>
      <p:sp>
        <p:nvSpPr>
          <p:cNvPr id="3" name="Google Shape;155;p28">
            <a:extLst>
              <a:ext uri="{FF2B5EF4-FFF2-40B4-BE49-F238E27FC236}">
                <a16:creationId xmlns:a16="http://schemas.microsoft.com/office/drawing/2014/main" id="{3B5D2619-7ACB-F4E9-97AF-4AB0864EE3E8}"/>
              </a:ext>
            </a:extLst>
          </p:cNvPr>
          <p:cNvSpPr txBox="1">
            <a:spLocks/>
          </p:cNvSpPr>
          <p:nvPr/>
        </p:nvSpPr>
        <p:spPr>
          <a:xfrm>
            <a:off x="4937842" y="1572818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1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r>
              <a:rPr lang="en"/>
              <a:t>04</a:t>
            </a:r>
          </a:p>
        </p:txBody>
      </p:sp>
      <p:cxnSp>
        <p:nvCxnSpPr>
          <p:cNvPr id="4" name="Google Shape;158;p28">
            <a:extLst>
              <a:ext uri="{FF2B5EF4-FFF2-40B4-BE49-F238E27FC236}">
                <a16:creationId xmlns:a16="http://schemas.microsoft.com/office/drawing/2014/main" id="{43970278-9391-6BAF-5BB2-C1AD170FCBDE}"/>
              </a:ext>
            </a:extLst>
          </p:cNvPr>
          <p:cNvCxnSpPr/>
          <p:nvPr/>
        </p:nvCxnSpPr>
        <p:spPr>
          <a:xfrm>
            <a:off x="5748742" y="1580768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153;p28">
            <a:extLst>
              <a:ext uri="{FF2B5EF4-FFF2-40B4-BE49-F238E27FC236}">
                <a16:creationId xmlns:a16="http://schemas.microsoft.com/office/drawing/2014/main" id="{412FBB7F-C25E-8A99-0C7F-1CEFFA57BE81}"/>
              </a:ext>
            </a:extLst>
          </p:cNvPr>
          <p:cNvSpPr txBox="1">
            <a:spLocks/>
          </p:cNvSpPr>
          <p:nvPr/>
        </p:nvSpPr>
        <p:spPr>
          <a:xfrm>
            <a:off x="5824937" y="3094721"/>
            <a:ext cx="32290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dirty="0"/>
              <a:t>Reflection</a:t>
            </a:r>
          </a:p>
        </p:txBody>
      </p:sp>
      <p:sp>
        <p:nvSpPr>
          <p:cNvPr id="6" name="Google Shape;155;p28">
            <a:extLst>
              <a:ext uri="{FF2B5EF4-FFF2-40B4-BE49-F238E27FC236}">
                <a16:creationId xmlns:a16="http://schemas.microsoft.com/office/drawing/2014/main" id="{01C144F9-0A77-832E-77B3-9159662FE0E8}"/>
              </a:ext>
            </a:extLst>
          </p:cNvPr>
          <p:cNvSpPr txBox="1">
            <a:spLocks/>
          </p:cNvSpPr>
          <p:nvPr/>
        </p:nvSpPr>
        <p:spPr>
          <a:xfrm>
            <a:off x="4937843" y="3094721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1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r>
              <a:rPr lang="en" dirty="0"/>
              <a:t>06</a:t>
            </a:r>
          </a:p>
        </p:txBody>
      </p:sp>
      <p:cxnSp>
        <p:nvCxnSpPr>
          <p:cNvPr id="7" name="Google Shape;158;p28">
            <a:extLst>
              <a:ext uri="{FF2B5EF4-FFF2-40B4-BE49-F238E27FC236}">
                <a16:creationId xmlns:a16="http://schemas.microsoft.com/office/drawing/2014/main" id="{96CE00D2-BA9F-9688-E8FE-6DE69C4D0AD5}"/>
              </a:ext>
            </a:extLst>
          </p:cNvPr>
          <p:cNvCxnSpPr/>
          <p:nvPr/>
        </p:nvCxnSpPr>
        <p:spPr>
          <a:xfrm>
            <a:off x="5748743" y="3102671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bg1"/>
            </a:gs>
            <a:gs pos="2000">
              <a:schemeClr val="bg2">
                <a:lumMod val="69000"/>
                <a:alpha val="59821"/>
              </a:schemeClr>
            </a:gs>
            <a:gs pos="11000">
              <a:schemeClr val="bg1">
                <a:lumMod val="28000"/>
                <a:lumOff val="72000"/>
              </a:schemeClr>
            </a:gs>
          </a:gsLst>
          <a:lin ang="16200000" scaled="0"/>
        </a:gra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5D8C1E81-9958-09ED-1C3B-02CD3AC6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>
            <a:extLst>
              <a:ext uri="{FF2B5EF4-FFF2-40B4-BE49-F238E27FC236}">
                <a16:creationId xmlns:a16="http://schemas.microsoft.com/office/drawing/2014/main" id="{CBEE9CE5-B6C1-9EDC-5EE8-5AEBB1CC83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536" y="2571750"/>
            <a:ext cx="679258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Background Information</a:t>
            </a:r>
            <a:endParaRPr sz="4000" b="1" dirty="0"/>
          </a:p>
        </p:txBody>
      </p:sp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D3B93FC6-99D9-3C59-EBBB-7FAA5154B99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7444" y="1973065"/>
            <a:ext cx="1927879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01</a:t>
            </a:r>
            <a:endParaRPr sz="6600" dirty="0"/>
          </a:p>
        </p:txBody>
      </p:sp>
      <p:sp>
        <p:nvSpPr>
          <p:cNvPr id="169" name="Google Shape;169;p29">
            <a:extLst>
              <a:ext uri="{FF2B5EF4-FFF2-40B4-BE49-F238E27FC236}">
                <a16:creationId xmlns:a16="http://schemas.microsoft.com/office/drawing/2014/main" id="{D14E178F-55DD-7169-A78B-522903B8DD4B}"/>
              </a:ext>
            </a:extLst>
          </p:cNvPr>
          <p:cNvSpPr/>
          <p:nvPr/>
        </p:nvSpPr>
        <p:spPr>
          <a:xfrm>
            <a:off x="1212972" y="2014950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9">
            <a:extLst>
              <a:ext uri="{FF2B5EF4-FFF2-40B4-BE49-F238E27FC236}">
                <a16:creationId xmlns:a16="http://schemas.microsoft.com/office/drawing/2014/main" id="{C5D81EDC-CEBE-E4D0-63F3-B25D8A3A13C9}"/>
              </a:ext>
            </a:extLst>
          </p:cNvPr>
          <p:cNvCxnSpPr/>
          <p:nvPr/>
        </p:nvCxnSpPr>
        <p:spPr>
          <a:xfrm>
            <a:off x="1922172" y="201495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" name="Google Shape;2199;p52">
            <a:extLst>
              <a:ext uri="{FF2B5EF4-FFF2-40B4-BE49-F238E27FC236}">
                <a16:creationId xmlns:a16="http://schemas.microsoft.com/office/drawing/2014/main" id="{4355E9D5-2E76-3D16-C8C2-42518F822754}"/>
              </a:ext>
            </a:extLst>
          </p:cNvPr>
          <p:cNvGrpSpPr/>
          <p:nvPr/>
        </p:nvGrpSpPr>
        <p:grpSpPr>
          <a:xfrm>
            <a:off x="1352903" y="2144371"/>
            <a:ext cx="286337" cy="286644"/>
            <a:chOff x="4673540" y="3680297"/>
            <a:chExt cx="355434" cy="355815"/>
          </a:xfrm>
          <a:solidFill>
            <a:schemeClr val="bg2"/>
          </a:solidFill>
        </p:grpSpPr>
        <p:sp>
          <p:nvSpPr>
            <p:cNvPr id="7" name="Google Shape;2200;p52">
              <a:extLst>
                <a:ext uri="{FF2B5EF4-FFF2-40B4-BE49-F238E27FC236}">
                  <a16:creationId xmlns:a16="http://schemas.microsoft.com/office/drawing/2014/main" id="{E4FCB43C-C7CB-4D69-2ED9-357178D5A674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01;p52">
              <a:extLst>
                <a:ext uri="{FF2B5EF4-FFF2-40B4-BE49-F238E27FC236}">
                  <a16:creationId xmlns:a16="http://schemas.microsoft.com/office/drawing/2014/main" id="{E904DC6B-FCA5-8F13-8B27-A926230B6D72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202;p52">
              <a:extLst>
                <a:ext uri="{FF2B5EF4-FFF2-40B4-BE49-F238E27FC236}">
                  <a16:creationId xmlns:a16="http://schemas.microsoft.com/office/drawing/2014/main" id="{4B3EE5AD-4C2E-C25C-09BA-4B6BA8D19255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67359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1E235BE5-6A90-D58D-7A05-A8CBCFF37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9AC3DE51-F39B-703B-3A30-1D86F7634E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939" y="392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the Perception Gap Matters</a:t>
            </a:r>
            <a:endParaRPr b="1" dirty="0"/>
          </a:p>
        </p:txBody>
      </p:sp>
      <p:sp>
        <p:nvSpPr>
          <p:cNvPr id="2" name="Google Shape;147;p28">
            <a:extLst>
              <a:ext uri="{FF2B5EF4-FFF2-40B4-BE49-F238E27FC236}">
                <a16:creationId xmlns:a16="http://schemas.microsoft.com/office/drawing/2014/main" id="{1DBA329B-D627-145B-6F04-BE80D44353CB}"/>
              </a:ext>
            </a:extLst>
          </p:cNvPr>
          <p:cNvSpPr txBox="1">
            <a:spLocks/>
          </p:cNvSpPr>
          <p:nvPr/>
        </p:nvSpPr>
        <p:spPr>
          <a:xfrm>
            <a:off x="186566" y="4413039"/>
            <a:ext cx="9005687" cy="1290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100" b="1" u="sng" dirty="0">
                <a:latin typeface="Andale Mono" panose="020B0509000000000004" pitchFamily="49" charset="0"/>
              </a:rPr>
              <a:t>Tools Used:</a:t>
            </a:r>
            <a:r>
              <a:rPr lang="en-US" sz="1100" dirty="0">
                <a:latin typeface="Andale Mono" panose="020B0509000000000004" pitchFamily="49" charset="0"/>
              </a:rPr>
              <a:t> R Studio &amp; Tableau</a:t>
            </a:r>
          </a:p>
          <a:p>
            <a:pPr marL="0" indent="0"/>
            <a:r>
              <a:rPr lang="en-US" sz="1100" b="1" u="sng" dirty="0">
                <a:latin typeface="Andale Mono" panose="020B0509000000000004" pitchFamily="49" charset="0"/>
              </a:rPr>
              <a:t>Goal</a:t>
            </a:r>
            <a:r>
              <a:rPr lang="en-US" sz="1100" b="1" dirty="0">
                <a:latin typeface="Andale Mono" panose="020B0509000000000004" pitchFamily="49" charset="0"/>
              </a:rPr>
              <a:t>: M</a:t>
            </a:r>
            <a:r>
              <a:rPr lang="en-US" sz="1100" dirty="0">
                <a:latin typeface="Andale Mono" panose="020B0509000000000004" pitchFamily="49" charset="0"/>
              </a:rPr>
              <a:t>easure the gap between public perception of crime and confirmed criminal activity in Montgomery County and examine whether that gap is associated with police districts.</a:t>
            </a:r>
          </a:p>
          <a:p>
            <a:pPr marL="0" indent="0"/>
            <a:br>
              <a:rPr lang="en-US" sz="1600" dirty="0"/>
            </a:br>
            <a:endParaRPr lang="en-US" sz="1600" dirty="0"/>
          </a:p>
        </p:txBody>
      </p:sp>
      <p:sp>
        <p:nvSpPr>
          <p:cNvPr id="8" name="Google Shape;667;p46">
            <a:extLst>
              <a:ext uri="{FF2B5EF4-FFF2-40B4-BE49-F238E27FC236}">
                <a16:creationId xmlns:a16="http://schemas.microsoft.com/office/drawing/2014/main" id="{80D69988-D477-0B53-D968-85BC2F71BF35}"/>
              </a:ext>
            </a:extLst>
          </p:cNvPr>
          <p:cNvSpPr/>
          <p:nvPr/>
        </p:nvSpPr>
        <p:spPr>
          <a:xfrm flipH="1">
            <a:off x="542950" y="1539042"/>
            <a:ext cx="3585940" cy="2181112"/>
          </a:xfrm>
          <a:prstGeom prst="wedgeRoundRectCallout">
            <a:avLst>
              <a:gd name="adj1" fmla="val -22632"/>
              <a:gd name="adj2" fmla="val 50520"/>
              <a:gd name="adj3" fmla="val 0"/>
            </a:avLst>
          </a:prstGeom>
          <a:solidFill>
            <a:schemeClr val="bg2">
              <a:alpha val="129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D06DDAD-1737-0E8D-E4DF-769179B9A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594" y="2067703"/>
            <a:ext cx="3776651" cy="2049390"/>
          </a:xfrm>
        </p:spPr>
        <p:txBody>
          <a:bodyPr/>
          <a:lstStyle/>
          <a:p>
            <a:pPr marL="139700" indent="0" algn="ctr"/>
            <a:r>
              <a:rPr lang="en-US" sz="1400" b="1" dirty="0"/>
              <a:t>THE PERCEPTION SIDE</a:t>
            </a:r>
          </a:p>
          <a:p>
            <a:pPr>
              <a:buFontTx/>
              <a:buChar char="-"/>
            </a:pPr>
            <a:r>
              <a:rPr lang="en-US" sz="1400" dirty="0"/>
              <a:t>911 calls reflect what people believe is happening </a:t>
            </a:r>
          </a:p>
          <a:p>
            <a:pPr>
              <a:buFontTx/>
              <a:buChar char="-"/>
            </a:pPr>
            <a:r>
              <a:rPr lang="en-US" sz="1400" dirty="0"/>
              <a:t>Based on urgency, fear, and limited information </a:t>
            </a:r>
          </a:p>
          <a:p>
            <a:pPr>
              <a:buFontTx/>
              <a:buChar char="-"/>
            </a:pPr>
            <a:r>
              <a:rPr lang="en-US" sz="1400" dirty="0"/>
              <a:t>Reports are made in real time, without verification </a:t>
            </a:r>
          </a:p>
          <a:p>
            <a:pPr>
              <a:buFontTx/>
              <a:buChar char="-"/>
            </a:pPr>
            <a:endParaRPr lang="en-US" sz="1400" dirty="0"/>
          </a:p>
          <a:p>
            <a:pPr>
              <a:buFontTx/>
              <a:buChar char="-"/>
            </a:pPr>
            <a:endParaRPr lang="en-US" sz="1400" dirty="0"/>
          </a:p>
        </p:txBody>
      </p:sp>
      <p:sp>
        <p:nvSpPr>
          <p:cNvPr id="11" name="Google Shape;667;p46">
            <a:extLst>
              <a:ext uri="{FF2B5EF4-FFF2-40B4-BE49-F238E27FC236}">
                <a16:creationId xmlns:a16="http://schemas.microsoft.com/office/drawing/2014/main" id="{AC8707BB-2FE3-A846-122A-B2A140347CF4}"/>
              </a:ext>
            </a:extLst>
          </p:cNvPr>
          <p:cNvSpPr/>
          <p:nvPr/>
        </p:nvSpPr>
        <p:spPr>
          <a:xfrm flipH="1">
            <a:off x="4851025" y="1571543"/>
            <a:ext cx="3776651" cy="2181112"/>
          </a:xfrm>
          <a:prstGeom prst="wedgeRoundRectCallout">
            <a:avLst>
              <a:gd name="adj1" fmla="val -22632"/>
              <a:gd name="adj2" fmla="val 50520"/>
              <a:gd name="adj3" fmla="val 0"/>
            </a:avLst>
          </a:prstGeom>
          <a:solidFill>
            <a:schemeClr val="bg2">
              <a:alpha val="129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Subtitle 3">
            <a:extLst>
              <a:ext uri="{FF2B5EF4-FFF2-40B4-BE49-F238E27FC236}">
                <a16:creationId xmlns:a16="http://schemas.microsoft.com/office/drawing/2014/main" id="{936C4041-85B1-BFD2-6EBD-D20EAB42F86C}"/>
              </a:ext>
            </a:extLst>
          </p:cNvPr>
          <p:cNvSpPr txBox="1">
            <a:spLocks/>
          </p:cNvSpPr>
          <p:nvPr/>
        </p:nvSpPr>
        <p:spPr>
          <a:xfrm>
            <a:off x="4755670" y="2067703"/>
            <a:ext cx="3776651" cy="204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/>
            <a:r>
              <a:rPr lang="en-US" sz="1400" b="1" dirty="0"/>
              <a:t>THE REALITY SIDE</a:t>
            </a:r>
          </a:p>
          <a:p>
            <a:pPr>
              <a:buFontTx/>
              <a:buChar char="-"/>
            </a:pPr>
            <a:r>
              <a:rPr lang="en-US" sz="1400" dirty="0"/>
              <a:t>Police reports are based on investigation </a:t>
            </a:r>
          </a:p>
          <a:p>
            <a:pPr>
              <a:buFontTx/>
              <a:buChar char="-"/>
            </a:pPr>
            <a:r>
              <a:rPr lang="en-US" sz="1400" dirty="0"/>
              <a:t>Incidents are verified before classification </a:t>
            </a:r>
          </a:p>
          <a:p>
            <a:pPr>
              <a:buFontTx/>
              <a:buChar char="-"/>
            </a:pPr>
            <a:r>
              <a:rPr lang="en-US" sz="1400" dirty="0"/>
              <a:t>Many calls do not result in confirmed crimes</a:t>
            </a:r>
          </a:p>
          <a:p>
            <a:pPr>
              <a:buFontTx/>
              <a:buChar char="-"/>
            </a:pPr>
            <a:endParaRPr lang="en-US" sz="1400" dirty="0"/>
          </a:p>
          <a:p>
            <a:pPr>
              <a:buFontTx/>
              <a:buChar char="-"/>
            </a:pPr>
            <a:endParaRPr lang="en-US" sz="1400" dirty="0"/>
          </a:p>
        </p:txBody>
      </p:sp>
      <p:sp>
        <p:nvSpPr>
          <p:cNvPr id="14" name="Subtitle 3">
            <a:extLst>
              <a:ext uri="{FF2B5EF4-FFF2-40B4-BE49-F238E27FC236}">
                <a16:creationId xmlns:a16="http://schemas.microsoft.com/office/drawing/2014/main" id="{D564C623-8611-9BDD-E372-3975FA3A6C18}"/>
              </a:ext>
            </a:extLst>
          </p:cNvPr>
          <p:cNvSpPr txBox="1">
            <a:spLocks/>
          </p:cNvSpPr>
          <p:nvPr/>
        </p:nvSpPr>
        <p:spPr>
          <a:xfrm>
            <a:off x="736644" y="3824055"/>
            <a:ext cx="7670711" cy="36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sz="1200" i="1" dirty="0"/>
              <a:t>The gap between perception and reality affects how resources are used and how crime is understood.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76638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bg1"/>
            </a:gs>
            <a:gs pos="2000">
              <a:schemeClr val="bg2">
                <a:lumMod val="69000"/>
                <a:alpha val="59821"/>
              </a:schemeClr>
            </a:gs>
            <a:gs pos="11000">
              <a:schemeClr val="bg1">
                <a:lumMod val="28000"/>
                <a:lumOff val="72000"/>
              </a:schemeClr>
            </a:gs>
          </a:gsLst>
          <a:lin ang="16200000" scaled="0"/>
        </a:gra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8F477179-C77B-9256-B74A-0471F00C8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>
            <a:extLst>
              <a:ext uri="{FF2B5EF4-FFF2-40B4-BE49-F238E27FC236}">
                <a16:creationId xmlns:a16="http://schemas.microsoft.com/office/drawing/2014/main" id="{E4C3AF50-4576-42F5-6D57-745DD1C5B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536" y="2571750"/>
            <a:ext cx="679258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Datasets</a:t>
            </a:r>
            <a:endParaRPr sz="4000" b="1" dirty="0"/>
          </a:p>
        </p:txBody>
      </p:sp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55091F75-A68E-342C-4694-04DB6038AEF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7444" y="1973065"/>
            <a:ext cx="1927879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02</a:t>
            </a:r>
            <a:endParaRPr sz="6600" dirty="0"/>
          </a:p>
        </p:txBody>
      </p:sp>
      <p:sp>
        <p:nvSpPr>
          <p:cNvPr id="169" name="Google Shape;169;p29">
            <a:extLst>
              <a:ext uri="{FF2B5EF4-FFF2-40B4-BE49-F238E27FC236}">
                <a16:creationId xmlns:a16="http://schemas.microsoft.com/office/drawing/2014/main" id="{AFE3FD85-3ADC-A415-EA0B-885930567BAF}"/>
              </a:ext>
            </a:extLst>
          </p:cNvPr>
          <p:cNvSpPr/>
          <p:nvPr/>
        </p:nvSpPr>
        <p:spPr>
          <a:xfrm>
            <a:off x="1212972" y="2014950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9">
            <a:extLst>
              <a:ext uri="{FF2B5EF4-FFF2-40B4-BE49-F238E27FC236}">
                <a16:creationId xmlns:a16="http://schemas.microsoft.com/office/drawing/2014/main" id="{C13ED10C-961B-EDB2-0724-C64BF167E056}"/>
              </a:ext>
            </a:extLst>
          </p:cNvPr>
          <p:cNvCxnSpPr/>
          <p:nvPr/>
        </p:nvCxnSpPr>
        <p:spPr>
          <a:xfrm>
            <a:off x="1922172" y="201495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" name="Google Shape;196;p31">
            <a:extLst>
              <a:ext uri="{FF2B5EF4-FFF2-40B4-BE49-F238E27FC236}">
                <a16:creationId xmlns:a16="http://schemas.microsoft.com/office/drawing/2014/main" id="{47FFC9A6-7A8E-B630-500D-C5FD5E5D9FD0}"/>
              </a:ext>
            </a:extLst>
          </p:cNvPr>
          <p:cNvGrpSpPr/>
          <p:nvPr/>
        </p:nvGrpSpPr>
        <p:grpSpPr>
          <a:xfrm>
            <a:off x="1343267" y="2165317"/>
            <a:ext cx="296210" cy="265698"/>
            <a:chOff x="2411823" y="4303999"/>
            <a:chExt cx="334398" cy="299953"/>
          </a:xfrm>
        </p:grpSpPr>
        <p:sp>
          <p:nvSpPr>
            <p:cNvPr id="4" name="Google Shape;197;p31">
              <a:extLst>
                <a:ext uri="{FF2B5EF4-FFF2-40B4-BE49-F238E27FC236}">
                  <a16:creationId xmlns:a16="http://schemas.microsoft.com/office/drawing/2014/main" id="{8C1ED974-BAC3-CF74-D00B-46D4A1901610}"/>
                </a:ext>
              </a:extLst>
            </p:cNvPr>
            <p:cNvSpPr/>
            <p:nvPr/>
          </p:nvSpPr>
          <p:spPr>
            <a:xfrm>
              <a:off x="2411823" y="4303999"/>
              <a:ext cx="237838" cy="84124"/>
            </a:xfrm>
            <a:custGeom>
              <a:avLst/>
              <a:gdLst/>
              <a:ahLst/>
              <a:cxnLst/>
              <a:rect l="l" t="t" r="r" b="b"/>
              <a:pathLst>
                <a:path w="7478" h="2645" extrusionOk="0">
                  <a:moveTo>
                    <a:pt x="3573" y="299"/>
                  </a:moveTo>
                  <a:cubicBezTo>
                    <a:pt x="3584" y="299"/>
                    <a:pt x="3596" y="310"/>
                    <a:pt x="3608" y="322"/>
                  </a:cubicBezTo>
                  <a:lnTo>
                    <a:pt x="3954" y="846"/>
                  </a:lnTo>
                  <a:lnTo>
                    <a:pt x="703" y="846"/>
                  </a:lnTo>
                  <a:lnTo>
                    <a:pt x="703" y="346"/>
                  </a:lnTo>
                  <a:lnTo>
                    <a:pt x="715" y="346"/>
                  </a:lnTo>
                  <a:cubicBezTo>
                    <a:pt x="715" y="310"/>
                    <a:pt x="739" y="299"/>
                    <a:pt x="751" y="299"/>
                  </a:cubicBezTo>
                  <a:close/>
                  <a:moveTo>
                    <a:pt x="5978" y="501"/>
                  </a:moveTo>
                  <a:cubicBezTo>
                    <a:pt x="5990" y="501"/>
                    <a:pt x="6013" y="525"/>
                    <a:pt x="6025" y="537"/>
                  </a:cubicBezTo>
                  <a:lnTo>
                    <a:pt x="6216" y="846"/>
                  </a:lnTo>
                  <a:lnTo>
                    <a:pt x="4323" y="846"/>
                  </a:lnTo>
                  <a:lnTo>
                    <a:pt x="4120" y="525"/>
                  </a:lnTo>
                  <a:lnTo>
                    <a:pt x="5978" y="525"/>
                  </a:lnTo>
                  <a:lnTo>
                    <a:pt x="5978" y="501"/>
                  </a:lnTo>
                  <a:close/>
                  <a:moveTo>
                    <a:pt x="786" y="1"/>
                  </a:moveTo>
                  <a:cubicBezTo>
                    <a:pt x="596" y="1"/>
                    <a:pt x="429" y="156"/>
                    <a:pt x="429" y="358"/>
                  </a:cubicBezTo>
                  <a:lnTo>
                    <a:pt x="429" y="858"/>
                  </a:lnTo>
                  <a:lnTo>
                    <a:pt x="358" y="858"/>
                  </a:lnTo>
                  <a:cubicBezTo>
                    <a:pt x="155" y="858"/>
                    <a:pt x="1" y="1025"/>
                    <a:pt x="1" y="1215"/>
                  </a:cubicBezTo>
                  <a:lnTo>
                    <a:pt x="1" y="2513"/>
                  </a:lnTo>
                  <a:cubicBezTo>
                    <a:pt x="1" y="2585"/>
                    <a:pt x="72" y="2644"/>
                    <a:pt x="144" y="2644"/>
                  </a:cubicBezTo>
                  <a:cubicBezTo>
                    <a:pt x="239" y="2644"/>
                    <a:pt x="298" y="2573"/>
                    <a:pt x="298" y="2501"/>
                  </a:cubicBezTo>
                  <a:lnTo>
                    <a:pt x="298" y="1203"/>
                  </a:lnTo>
                  <a:cubicBezTo>
                    <a:pt x="298" y="1168"/>
                    <a:pt x="322" y="1156"/>
                    <a:pt x="334" y="1156"/>
                  </a:cubicBezTo>
                  <a:lnTo>
                    <a:pt x="7335" y="1156"/>
                  </a:lnTo>
                  <a:cubicBezTo>
                    <a:pt x="7418" y="1156"/>
                    <a:pt x="7478" y="1084"/>
                    <a:pt x="7478" y="1013"/>
                  </a:cubicBezTo>
                  <a:cubicBezTo>
                    <a:pt x="7478" y="918"/>
                    <a:pt x="7406" y="858"/>
                    <a:pt x="7335" y="858"/>
                  </a:cubicBezTo>
                  <a:lnTo>
                    <a:pt x="6573" y="858"/>
                  </a:lnTo>
                  <a:lnTo>
                    <a:pt x="6263" y="382"/>
                  </a:lnTo>
                  <a:cubicBezTo>
                    <a:pt x="6204" y="275"/>
                    <a:pt x="6085" y="215"/>
                    <a:pt x="5966" y="215"/>
                  </a:cubicBezTo>
                  <a:lnTo>
                    <a:pt x="3930" y="215"/>
                  </a:lnTo>
                  <a:lnTo>
                    <a:pt x="3894" y="156"/>
                  </a:lnTo>
                  <a:cubicBezTo>
                    <a:pt x="3834" y="60"/>
                    <a:pt x="3715" y="1"/>
                    <a:pt x="35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8;p31">
              <a:extLst>
                <a:ext uri="{FF2B5EF4-FFF2-40B4-BE49-F238E27FC236}">
                  <a16:creationId xmlns:a16="http://schemas.microsoft.com/office/drawing/2014/main" id="{FDF3C50F-A7B7-7478-DD44-249BDE7BA3D3}"/>
                </a:ext>
              </a:extLst>
            </p:cNvPr>
            <p:cNvSpPr/>
            <p:nvPr/>
          </p:nvSpPr>
          <p:spPr>
            <a:xfrm>
              <a:off x="2412205" y="4330525"/>
              <a:ext cx="334016" cy="273428"/>
            </a:xfrm>
            <a:custGeom>
              <a:avLst/>
              <a:gdLst/>
              <a:ahLst/>
              <a:cxnLst/>
              <a:rect l="l" t="t" r="r" b="b"/>
              <a:pathLst>
                <a:path w="10502" h="8597" extrusionOk="0">
                  <a:moveTo>
                    <a:pt x="6847" y="6835"/>
                  </a:moveTo>
                  <a:cubicBezTo>
                    <a:pt x="6870" y="6835"/>
                    <a:pt x="6894" y="6858"/>
                    <a:pt x="6894" y="6870"/>
                  </a:cubicBezTo>
                  <a:lnTo>
                    <a:pt x="6894" y="7192"/>
                  </a:lnTo>
                  <a:cubicBezTo>
                    <a:pt x="6894" y="7644"/>
                    <a:pt x="7097" y="8049"/>
                    <a:pt x="7442" y="8323"/>
                  </a:cubicBezTo>
                  <a:lnTo>
                    <a:pt x="1989" y="8323"/>
                  </a:lnTo>
                  <a:cubicBezTo>
                    <a:pt x="1370" y="8323"/>
                    <a:pt x="858" y="7811"/>
                    <a:pt x="858" y="7192"/>
                  </a:cubicBezTo>
                  <a:lnTo>
                    <a:pt x="858" y="6870"/>
                  </a:lnTo>
                  <a:cubicBezTo>
                    <a:pt x="858" y="6846"/>
                    <a:pt x="894" y="6835"/>
                    <a:pt x="905" y="6835"/>
                  </a:cubicBezTo>
                  <a:close/>
                  <a:moveTo>
                    <a:pt x="8002" y="0"/>
                  </a:moveTo>
                  <a:cubicBezTo>
                    <a:pt x="7918" y="0"/>
                    <a:pt x="7859" y="72"/>
                    <a:pt x="7859" y="143"/>
                  </a:cubicBezTo>
                  <a:cubicBezTo>
                    <a:pt x="7859" y="238"/>
                    <a:pt x="7930" y="298"/>
                    <a:pt x="8002" y="298"/>
                  </a:cubicBezTo>
                  <a:lnTo>
                    <a:pt x="10133" y="298"/>
                  </a:lnTo>
                  <a:cubicBezTo>
                    <a:pt x="10169" y="298"/>
                    <a:pt x="10180" y="322"/>
                    <a:pt x="10180" y="346"/>
                  </a:cubicBezTo>
                  <a:lnTo>
                    <a:pt x="10180" y="6918"/>
                  </a:lnTo>
                  <a:cubicBezTo>
                    <a:pt x="10180" y="6954"/>
                    <a:pt x="10145" y="6966"/>
                    <a:pt x="10133" y="6966"/>
                  </a:cubicBezTo>
                  <a:lnTo>
                    <a:pt x="9847" y="6966"/>
                  </a:lnTo>
                  <a:lnTo>
                    <a:pt x="9847" y="2465"/>
                  </a:lnTo>
                  <a:cubicBezTo>
                    <a:pt x="9847" y="2274"/>
                    <a:pt x="9680" y="2108"/>
                    <a:pt x="9490" y="2108"/>
                  </a:cubicBezTo>
                  <a:lnTo>
                    <a:pt x="5358" y="2108"/>
                  </a:lnTo>
                  <a:cubicBezTo>
                    <a:pt x="5263" y="2108"/>
                    <a:pt x="5204" y="2191"/>
                    <a:pt x="5204" y="2263"/>
                  </a:cubicBezTo>
                  <a:cubicBezTo>
                    <a:pt x="5204" y="2346"/>
                    <a:pt x="5287" y="2405"/>
                    <a:pt x="5358" y="2405"/>
                  </a:cubicBezTo>
                  <a:lnTo>
                    <a:pt x="9490" y="2405"/>
                  </a:lnTo>
                  <a:cubicBezTo>
                    <a:pt x="9526" y="2405"/>
                    <a:pt x="9537" y="2441"/>
                    <a:pt x="9537" y="2453"/>
                  </a:cubicBezTo>
                  <a:lnTo>
                    <a:pt x="9537" y="7144"/>
                  </a:lnTo>
                  <a:cubicBezTo>
                    <a:pt x="9537" y="7763"/>
                    <a:pt x="9037" y="8275"/>
                    <a:pt x="8406" y="8275"/>
                  </a:cubicBezTo>
                  <a:lnTo>
                    <a:pt x="8335" y="8275"/>
                  </a:lnTo>
                  <a:cubicBezTo>
                    <a:pt x="7704" y="8275"/>
                    <a:pt x="7204" y="7763"/>
                    <a:pt x="7204" y="7144"/>
                  </a:cubicBezTo>
                  <a:lnTo>
                    <a:pt x="7204" y="6823"/>
                  </a:lnTo>
                  <a:cubicBezTo>
                    <a:pt x="7204" y="6632"/>
                    <a:pt x="7037" y="6465"/>
                    <a:pt x="6847" y="6465"/>
                  </a:cubicBezTo>
                  <a:lnTo>
                    <a:pt x="3513" y="6465"/>
                  </a:lnTo>
                  <a:lnTo>
                    <a:pt x="3513" y="2453"/>
                  </a:lnTo>
                  <a:cubicBezTo>
                    <a:pt x="3513" y="2417"/>
                    <a:pt x="3537" y="2405"/>
                    <a:pt x="3549" y="2405"/>
                  </a:cubicBezTo>
                  <a:lnTo>
                    <a:pt x="4680" y="2405"/>
                  </a:lnTo>
                  <a:cubicBezTo>
                    <a:pt x="4775" y="2405"/>
                    <a:pt x="4835" y="2334"/>
                    <a:pt x="4835" y="2263"/>
                  </a:cubicBezTo>
                  <a:cubicBezTo>
                    <a:pt x="4835" y="2167"/>
                    <a:pt x="4763" y="2108"/>
                    <a:pt x="4680" y="2108"/>
                  </a:cubicBezTo>
                  <a:lnTo>
                    <a:pt x="3549" y="2108"/>
                  </a:lnTo>
                  <a:cubicBezTo>
                    <a:pt x="3358" y="2108"/>
                    <a:pt x="3191" y="2274"/>
                    <a:pt x="3191" y="2465"/>
                  </a:cubicBezTo>
                  <a:lnTo>
                    <a:pt x="3191" y="6489"/>
                  </a:lnTo>
                  <a:lnTo>
                    <a:pt x="905" y="6489"/>
                  </a:lnTo>
                  <a:cubicBezTo>
                    <a:pt x="715" y="6489"/>
                    <a:pt x="548" y="6656"/>
                    <a:pt x="548" y="6846"/>
                  </a:cubicBezTo>
                  <a:lnTo>
                    <a:pt x="548" y="6966"/>
                  </a:lnTo>
                  <a:lnTo>
                    <a:pt x="346" y="6966"/>
                  </a:lnTo>
                  <a:cubicBezTo>
                    <a:pt x="310" y="6966"/>
                    <a:pt x="298" y="6930"/>
                    <a:pt x="298" y="6918"/>
                  </a:cubicBezTo>
                  <a:lnTo>
                    <a:pt x="298" y="2298"/>
                  </a:lnTo>
                  <a:cubicBezTo>
                    <a:pt x="298" y="2215"/>
                    <a:pt x="227" y="2155"/>
                    <a:pt x="143" y="2155"/>
                  </a:cubicBezTo>
                  <a:cubicBezTo>
                    <a:pt x="60" y="2155"/>
                    <a:pt x="1" y="2227"/>
                    <a:pt x="1" y="2298"/>
                  </a:cubicBezTo>
                  <a:lnTo>
                    <a:pt x="1" y="6918"/>
                  </a:lnTo>
                  <a:cubicBezTo>
                    <a:pt x="1" y="7108"/>
                    <a:pt x="167" y="7275"/>
                    <a:pt x="358" y="7275"/>
                  </a:cubicBezTo>
                  <a:lnTo>
                    <a:pt x="584" y="7275"/>
                  </a:lnTo>
                  <a:cubicBezTo>
                    <a:pt x="632" y="8013"/>
                    <a:pt x="1251" y="8597"/>
                    <a:pt x="2001" y="8597"/>
                  </a:cubicBezTo>
                  <a:lnTo>
                    <a:pt x="8442" y="8597"/>
                  </a:lnTo>
                  <a:cubicBezTo>
                    <a:pt x="9192" y="8597"/>
                    <a:pt x="9823" y="8013"/>
                    <a:pt x="9871" y="7275"/>
                  </a:cubicBezTo>
                  <a:lnTo>
                    <a:pt x="10145" y="7275"/>
                  </a:lnTo>
                  <a:cubicBezTo>
                    <a:pt x="10335" y="7275"/>
                    <a:pt x="10502" y="7108"/>
                    <a:pt x="10502" y="6918"/>
                  </a:cubicBezTo>
                  <a:lnTo>
                    <a:pt x="10502" y="334"/>
                  </a:lnTo>
                  <a:cubicBezTo>
                    <a:pt x="10490" y="167"/>
                    <a:pt x="10347" y="0"/>
                    <a:pt x="10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9;p31">
              <a:extLst>
                <a:ext uri="{FF2B5EF4-FFF2-40B4-BE49-F238E27FC236}">
                  <a16:creationId xmlns:a16="http://schemas.microsoft.com/office/drawing/2014/main" id="{2FEE9563-9995-C4E9-79B7-C5FDBF719366}"/>
                </a:ext>
              </a:extLst>
            </p:cNvPr>
            <p:cNvSpPr/>
            <p:nvPr/>
          </p:nvSpPr>
          <p:spPr>
            <a:xfrm>
              <a:off x="2543241" y="4476319"/>
              <a:ext cx="20101" cy="9478"/>
            </a:xfrm>
            <a:custGeom>
              <a:avLst/>
              <a:gdLst/>
              <a:ahLst/>
              <a:cxnLst/>
              <a:rect l="l" t="t" r="r" b="b"/>
              <a:pathLst>
                <a:path w="632" h="298" extrusionOk="0">
                  <a:moveTo>
                    <a:pt x="167" y="0"/>
                  </a:moveTo>
                  <a:cubicBezTo>
                    <a:pt x="72" y="0"/>
                    <a:pt x="12" y="72"/>
                    <a:pt x="12" y="143"/>
                  </a:cubicBezTo>
                  <a:cubicBezTo>
                    <a:pt x="0" y="226"/>
                    <a:pt x="72" y="298"/>
                    <a:pt x="167" y="298"/>
                  </a:cubicBezTo>
                  <a:lnTo>
                    <a:pt x="476" y="298"/>
                  </a:lnTo>
                  <a:cubicBezTo>
                    <a:pt x="572" y="298"/>
                    <a:pt x="631" y="226"/>
                    <a:pt x="631" y="143"/>
                  </a:cubicBezTo>
                  <a:cubicBezTo>
                    <a:pt x="631" y="60"/>
                    <a:pt x="548" y="0"/>
                    <a:pt x="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0;p31">
              <a:extLst>
                <a:ext uri="{FF2B5EF4-FFF2-40B4-BE49-F238E27FC236}">
                  <a16:creationId xmlns:a16="http://schemas.microsoft.com/office/drawing/2014/main" id="{DB64A29A-BEF0-E354-8CB1-E6ACED40DECF}"/>
                </a:ext>
              </a:extLst>
            </p:cNvPr>
            <p:cNvSpPr/>
            <p:nvPr/>
          </p:nvSpPr>
          <p:spPr>
            <a:xfrm>
              <a:off x="2568590" y="4475937"/>
              <a:ext cx="129160" cy="9478"/>
            </a:xfrm>
            <a:custGeom>
              <a:avLst/>
              <a:gdLst/>
              <a:ahLst/>
              <a:cxnLst/>
              <a:rect l="l" t="t" r="r" b="b"/>
              <a:pathLst>
                <a:path w="4061" h="298" extrusionOk="0">
                  <a:moveTo>
                    <a:pt x="156" y="0"/>
                  </a:moveTo>
                  <a:cubicBezTo>
                    <a:pt x="84" y="0"/>
                    <a:pt x="1" y="72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lnTo>
                    <a:pt x="3906" y="298"/>
                  </a:lnTo>
                  <a:cubicBezTo>
                    <a:pt x="4001" y="298"/>
                    <a:pt x="4061" y="215"/>
                    <a:pt x="4061" y="143"/>
                  </a:cubicBezTo>
                  <a:cubicBezTo>
                    <a:pt x="4061" y="60"/>
                    <a:pt x="3978" y="0"/>
                    <a:pt x="39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1;p31">
              <a:extLst>
                <a:ext uri="{FF2B5EF4-FFF2-40B4-BE49-F238E27FC236}">
                  <a16:creationId xmlns:a16="http://schemas.microsoft.com/office/drawing/2014/main" id="{DB0CAE6F-4701-E606-686A-6A7C70E80EAF}"/>
                </a:ext>
              </a:extLst>
            </p:cNvPr>
            <p:cNvSpPr/>
            <p:nvPr/>
          </p:nvSpPr>
          <p:spPr>
            <a:xfrm>
              <a:off x="2543241" y="4491840"/>
              <a:ext cx="154890" cy="9510"/>
            </a:xfrm>
            <a:custGeom>
              <a:avLst/>
              <a:gdLst/>
              <a:ahLst/>
              <a:cxnLst/>
              <a:rect l="l" t="t" r="r" b="b"/>
              <a:pathLst>
                <a:path w="4870" h="299" extrusionOk="0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9"/>
                    <a:pt x="72" y="298"/>
                    <a:pt x="155" y="298"/>
                  </a:cubicBezTo>
                  <a:lnTo>
                    <a:pt x="4715" y="298"/>
                  </a:lnTo>
                  <a:cubicBezTo>
                    <a:pt x="4810" y="298"/>
                    <a:pt x="4870" y="227"/>
                    <a:pt x="4870" y="155"/>
                  </a:cubicBezTo>
                  <a:cubicBezTo>
                    <a:pt x="4870" y="72"/>
                    <a:pt x="4810" y="0"/>
                    <a:pt x="4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2;p31">
              <a:extLst>
                <a:ext uri="{FF2B5EF4-FFF2-40B4-BE49-F238E27FC236}">
                  <a16:creationId xmlns:a16="http://schemas.microsoft.com/office/drawing/2014/main" id="{70B62B97-AA7B-0EF8-4BED-6FF725E38AC6}"/>
                </a:ext>
              </a:extLst>
            </p:cNvPr>
            <p:cNvSpPr/>
            <p:nvPr/>
          </p:nvSpPr>
          <p:spPr>
            <a:xfrm>
              <a:off x="2543241" y="4508506"/>
              <a:ext cx="154890" cy="9478"/>
            </a:xfrm>
            <a:custGeom>
              <a:avLst/>
              <a:gdLst/>
              <a:ahLst/>
              <a:cxnLst/>
              <a:rect l="l" t="t" r="r" b="b"/>
              <a:pathLst>
                <a:path w="4870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lnTo>
                    <a:pt x="4715" y="298"/>
                  </a:lnTo>
                  <a:cubicBezTo>
                    <a:pt x="4810" y="298"/>
                    <a:pt x="4870" y="227"/>
                    <a:pt x="4870" y="143"/>
                  </a:cubicBezTo>
                  <a:cubicBezTo>
                    <a:pt x="4870" y="72"/>
                    <a:pt x="4810" y="0"/>
                    <a:pt x="4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03;p31">
              <a:extLst>
                <a:ext uri="{FF2B5EF4-FFF2-40B4-BE49-F238E27FC236}">
                  <a16:creationId xmlns:a16="http://schemas.microsoft.com/office/drawing/2014/main" id="{56C31B8E-7AEA-EB40-587A-809D8BF576B7}"/>
                </a:ext>
              </a:extLst>
            </p:cNvPr>
            <p:cNvSpPr/>
            <p:nvPr/>
          </p:nvSpPr>
          <p:spPr>
            <a:xfrm>
              <a:off x="2635635" y="4436563"/>
              <a:ext cx="62497" cy="27289"/>
            </a:xfrm>
            <a:custGeom>
              <a:avLst/>
              <a:gdLst/>
              <a:ahLst/>
              <a:cxnLst/>
              <a:rect l="l" t="t" r="r" b="b"/>
              <a:pathLst>
                <a:path w="1965" h="858" extrusionOk="0">
                  <a:moveTo>
                    <a:pt x="1655" y="310"/>
                  </a:moveTo>
                  <a:lnTo>
                    <a:pt x="1655" y="560"/>
                  </a:lnTo>
                  <a:lnTo>
                    <a:pt x="298" y="560"/>
                  </a:lnTo>
                  <a:lnTo>
                    <a:pt x="298" y="310"/>
                  </a:lnTo>
                  <a:close/>
                  <a:moveTo>
                    <a:pt x="143" y="0"/>
                  </a:moveTo>
                  <a:cubicBezTo>
                    <a:pt x="60" y="0"/>
                    <a:pt x="0" y="72"/>
                    <a:pt x="0" y="143"/>
                  </a:cubicBezTo>
                  <a:lnTo>
                    <a:pt x="0" y="714"/>
                  </a:lnTo>
                  <a:cubicBezTo>
                    <a:pt x="0" y="798"/>
                    <a:pt x="72" y="857"/>
                    <a:pt x="143" y="857"/>
                  </a:cubicBezTo>
                  <a:lnTo>
                    <a:pt x="1810" y="857"/>
                  </a:lnTo>
                  <a:cubicBezTo>
                    <a:pt x="1905" y="857"/>
                    <a:pt x="1965" y="786"/>
                    <a:pt x="1965" y="714"/>
                  </a:cubicBezTo>
                  <a:lnTo>
                    <a:pt x="1965" y="143"/>
                  </a:lnTo>
                  <a:cubicBezTo>
                    <a:pt x="1965" y="60"/>
                    <a:pt x="1893" y="0"/>
                    <a:pt x="1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22258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B3E2E-D5E9-9577-4F05-825D69D93F8C}"/>
              </a:ext>
            </a:extLst>
          </p:cNvPr>
          <p:cNvSpPr txBox="1"/>
          <p:nvPr/>
        </p:nvSpPr>
        <p:spPr>
          <a:xfrm>
            <a:off x="5458544" y="469882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8" name="Google Shape;1588;p50">
            <a:extLst>
              <a:ext uri="{FF2B5EF4-FFF2-40B4-BE49-F238E27FC236}">
                <a16:creationId xmlns:a16="http://schemas.microsoft.com/office/drawing/2014/main" id="{1016F8E6-196E-DC1C-6812-40E50341D224}"/>
              </a:ext>
            </a:extLst>
          </p:cNvPr>
          <p:cNvGrpSpPr/>
          <p:nvPr/>
        </p:nvGrpSpPr>
        <p:grpSpPr>
          <a:xfrm>
            <a:off x="2010406" y="1442018"/>
            <a:ext cx="5849719" cy="3293277"/>
            <a:chOff x="238125" y="1335475"/>
            <a:chExt cx="3703175" cy="3034175"/>
          </a:xfrm>
        </p:grpSpPr>
        <p:sp>
          <p:nvSpPr>
            <p:cNvPr id="10" name="Google Shape;1590;p50">
              <a:extLst>
                <a:ext uri="{FF2B5EF4-FFF2-40B4-BE49-F238E27FC236}">
                  <a16:creationId xmlns:a16="http://schemas.microsoft.com/office/drawing/2014/main" id="{D9302B69-C4F3-6190-99D4-4051A380F9A7}"/>
                </a:ext>
              </a:extLst>
            </p:cNvPr>
            <p:cNvSpPr/>
            <p:nvPr/>
          </p:nvSpPr>
          <p:spPr>
            <a:xfrm>
              <a:off x="1956350" y="1335475"/>
              <a:ext cx="1984950" cy="3034175"/>
            </a:xfrm>
            <a:custGeom>
              <a:avLst/>
              <a:gdLst/>
              <a:ahLst/>
              <a:cxnLst/>
              <a:rect l="l" t="t" r="r" b="b"/>
              <a:pathLst>
                <a:path w="79398" h="121367" extrusionOk="0">
                  <a:moveTo>
                    <a:pt x="0" y="0"/>
                  </a:moveTo>
                  <a:lnTo>
                    <a:pt x="0" y="35551"/>
                  </a:lnTo>
                  <a:cubicBezTo>
                    <a:pt x="0" y="41778"/>
                    <a:pt x="1940" y="47852"/>
                    <a:pt x="5564" y="52918"/>
                  </a:cubicBezTo>
                  <a:lnTo>
                    <a:pt x="9520" y="58469"/>
                  </a:lnTo>
                  <a:cubicBezTo>
                    <a:pt x="10745" y="59694"/>
                    <a:pt x="10745" y="61672"/>
                    <a:pt x="9520" y="62897"/>
                  </a:cubicBezTo>
                  <a:lnTo>
                    <a:pt x="5564" y="68448"/>
                  </a:lnTo>
                  <a:cubicBezTo>
                    <a:pt x="1952" y="73514"/>
                    <a:pt x="0" y="79588"/>
                    <a:pt x="0" y="85815"/>
                  </a:cubicBezTo>
                  <a:lnTo>
                    <a:pt x="0" y="121366"/>
                  </a:lnTo>
                  <a:lnTo>
                    <a:pt x="68665" y="121366"/>
                  </a:lnTo>
                  <a:lnTo>
                    <a:pt x="68665" y="85815"/>
                  </a:lnTo>
                  <a:cubicBezTo>
                    <a:pt x="68665" y="79588"/>
                    <a:pt x="70605" y="73514"/>
                    <a:pt x="74216" y="68448"/>
                  </a:cubicBezTo>
                  <a:lnTo>
                    <a:pt x="78185" y="62897"/>
                  </a:lnTo>
                  <a:cubicBezTo>
                    <a:pt x="79397" y="61672"/>
                    <a:pt x="79397" y="59694"/>
                    <a:pt x="78185" y="58469"/>
                  </a:cubicBezTo>
                  <a:lnTo>
                    <a:pt x="74216" y="52918"/>
                  </a:lnTo>
                  <a:cubicBezTo>
                    <a:pt x="70605" y="47840"/>
                    <a:pt x="68665" y="41778"/>
                    <a:pt x="68665" y="35551"/>
                  </a:cubicBezTo>
                  <a:lnTo>
                    <a:pt x="68665" y="0"/>
                  </a:lnTo>
                  <a:close/>
                </a:path>
              </a:pathLst>
            </a:custGeom>
            <a:solidFill>
              <a:schemeClr val="dk2">
                <a:alpha val="72967"/>
              </a:schemeClr>
            </a:solidFill>
            <a:ln w="12700"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x</a:t>
              </a:r>
              <a:endParaRPr dirty="0"/>
            </a:p>
          </p:txBody>
        </p:sp>
        <p:sp>
          <p:nvSpPr>
            <p:cNvPr id="11" name="Google Shape;1591;p50">
              <a:extLst>
                <a:ext uri="{FF2B5EF4-FFF2-40B4-BE49-F238E27FC236}">
                  <a16:creationId xmlns:a16="http://schemas.microsoft.com/office/drawing/2014/main" id="{0AE9BCAB-66FF-7278-1B0A-101B934EC6BC}"/>
                </a:ext>
              </a:extLst>
            </p:cNvPr>
            <p:cNvSpPr/>
            <p:nvPr/>
          </p:nvSpPr>
          <p:spPr>
            <a:xfrm>
              <a:off x="238125" y="1335475"/>
              <a:ext cx="1986850" cy="3034175"/>
            </a:xfrm>
            <a:custGeom>
              <a:avLst/>
              <a:gdLst/>
              <a:ahLst/>
              <a:cxnLst/>
              <a:rect l="l" t="t" r="r" b="b"/>
              <a:pathLst>
                <a:path w="79474" h="121367" extrusionOk="0">
                  <a:moveTo>
                    <a:pt x="0" y="0"/>
                  </a:moveTo>
                  <a:lnTo>
                    <a:pt x="0" y="121366"/>
                  </a:lnTo>
                  <a:lnTo>
                    <a:pt x="68729" y="121366"/>
                  </a:lnTo>
                  <a:lnTo>
                    <a:pt x="68729" y="85815"/>
                  </a:lnTo>
                  <a:cubicBezTo>
                    <a:pt x="68729" y="79588"/>
                    <a:pt x="70669" y="73514"/>
                    <a:pt x="74293" y="68448"/>
                  </a:cubicBezTo>
                  <a:lnTo>
                    <a:pt x="78249" y="62897"/>
                  </a:lnTo>
                  <a:cubicBezTo>
                    <a:pt x="79474" y="61672"/>
                    <a:pt x="79474" y="59694"/>
                    <a:pt x="78249" y="58469"/>
                  </a:cubicBezTo>
                  <a:lnTo>
                    <a:pt x="74293" y="52918"/>
                  </a:lnTo>
                  <a:cubicBezTo>
                    <a:pt x="70669" y="47840"/>
                    <a:pt x="68729" y="41778"/>
                    <a:pt x="68729" y="35551"/>
                  </a:cubicBezTo>
                  <a:lnTo>
                    <a:pt x="68729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 flipH="1">
            <a:off x="1479818" y="408205"/>
            <a:ext cx="7664182" cy="750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Source Overview</a:t>
            </a:r>
            <a:br>
              <a:rPr lang="en" dirty="0"/>
            </a:br>
            <a:r>
              <a:rPr lang="en" sz="1400" dirty="0">
                <a:solidFill>
                  <a:schemeClr val="tx1"/>
                </a:solidFill>
              </a:rPr>
              <a:t>* </a:t>
            </a:r>
            <a:r>
              <a:rPr lang="en" sz="1400" dirty="0" err="1">
                <a:solidFill>
                  <a:schemeClr val="tx1"/>
                </a:solidFill>
              </a:rPr>
              <a:t>DataMontgomery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2" name="Google Shape;192;p31"/>
          <p:cNvSpPr txBox="1">
            <a:spLocks noGrp="1"/>
          </p:cNvSpPr>
          <p:nvPr>
            <p:ph type="subTitle" idx="1"/>
          </p:nvPr>
        </p:nvSpPr>
        <p:spPr>
          <a:xfrm flipH="1">
            <a:off x="2080020" y="1901370"/>
            <a:ext cx="2520528" cy="23877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CRIME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“Founded” crimes (2016–present).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Based on official police investigation.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Represents validated records, not initial public perception.</a:t>
            </a:r>
          </a:p>
          <a:p>
            <a:pPr marL="285750" indent="-285750">
              <a:buSzPts val="1100"/>
              <a:buFontTx/>
              <a:buChar char="-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Crime types may change after further investigation</a:t>
            </a:r>
          </a:p>
        </p:txBody>
      </p:sp>
      <p:sp>
        <p:nvSpPr>
          <p:cNvPr id="194" name="Google Shape;194;p31"/>
          <p:cNvSpPr/>
          <p:nvPr/>
        </p:nvSpPr>
        <p:spPr>
          <a:xfrm flipH="1">
            <a:off x="815048" y="408205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5" name="Google Shape;195;p31"/>
          <p:cNvCxnSpPr/>
          <p:nvPr/>
        </p:nvCxnSpPr>
        <p:spPr>
          <a:xfrm>
            <a:off x="1487643" y="40820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6" name="Google Shape;196;p31"/>
          <p:cNvGrpSpPr/>
          <p:nvPr/>
        </p:nvGrpSpPr>
        <p:grpSpPr>
          <a:xfrm>
            <a:off x="945343" y="553756"/>
            <a:ext cx="296210" cy="265698"/>
            <a:chOff x="2411823" y="4303999"/>
            <a:chExt cx="334398" cy="299953"/>
          </a:xfrm>
        </p:grpSpPr>
        <p:sp>
          <p:nvSpPr>
            <p:cNvPr id="197" name="Google Shape;197;p31"/>
            <p:cNvSpPr/>
            <p:nvPr/>
          </p:nvSpPr>
          <p:spPr>
            <a:xfrm>
              <a:off x="2411823" y="4303999"/>
              <a:ext cx="237838" cy="84124"/>
            </a:xfrm>
            <a:custGeom>
              <a:avLst/>
              <a:gdLst/>
              <a:ahLst/>
              <a:cxnLst/>
              <a:rect l="l" t="t" r="r" b="b"/>
              <a:pathLst>
                <a:path w="7478" h="2645" extrusionOk="0">
                  <a:moveTo>
                    <a:pt x="3573" y="299"/>
                  </a:moveTo>
                  <a:cubicBezTo>
                    <a:pt x="3584" y="299"/>
                    <a:pt x="3596" y="310"/>
                    <a:pt x="3608" y="322"/>
                  </a:cubicBezTo>
                  <a:lnTo>
                    <a:pt x="3954" y="846"/>
                  </a:lnTo>
                  <a:lnTo>
                    <a:pt x="703" y="846"/>
                  </a:lnTo>
                  <a:lnTo>
                    <a:pt x="703" y="346"/>
                  </a:lnTo>
                  <a:lnTo>
                    <a:pt x="715" y="346"/>
                  </a:lnTo>
                  <a:cubicBezTo>
                    <a:pt x="715" y="310"/>
                    <a:pt x="739" y="299"/>
                    <a:pt x="751" y="299"/>
                  </a:cubicBezTo>
                  <a:close/>
                  <a:moveTo>
                    <a:pt x="5978" y="501"/>
                  </a:moveTo>
                  <a:cubicBezTo>
                    <a:pt x="5990" y="501"/>
                    <a:pt x="6013" y="525"/>
                    <a:pt x="6025" y="537"/>
                  </a:cubicBezTo>
                  <a:lnTo>
                    <a:pt x="6216" y="846"/>
                  </a:lnTo>
                  <a:lnTo>
                    <a:pt x="4323" y="846"/>
                  </a:lnTo>
                  <a:lnTo>
                    <a:pt x="4120" y="525"/>
                  </a:lnTo>
                  <a:lnTo>
                    <a:pt x="5978" y="525"/>
                  </a:lnTo>
                  <a:lnTo>
                    <a:pt x="5978" y="501"/>
                  </a:lnTo>
                  <a:close/>
                  <a:moveTo>
                    <a:pt x="786" y="1"/>
                  </a:moveTo>
                  <a:cubicBezTo>
                    <a:pt x="596" y="1"/>
                    <a:pt x="429" y="156"/>
                    <a:pt x="429" y="358"/>
                  </a:cubicBezTo>
                  <a:lnTo>
                    <a:pt x="429" y="858"/>
                  </a:lnTo>
                  <a:lnTo>
                    <a:pt x="358" y="858"/>
                  </a:lnTo>
                  <a:cubicBezTo>
                    <a:pt x="155" y="858"/>
                    <a:pt x="1" y="1025"/>
                    <a:pt x="1" y="1215"/>
                  </a:cubicBezTo>
                  <a:lnTo>
                    <a:pt x="1" y="2513"/>
                  </a:lnTo>
                  <a:cubicBezTo>
                    <a:pt x="1" y="2585"/>
                    <a:pt x="72" y="2644"/>
                    <a:pt x="144" y="2644"/>
                  </a:cubicBezTo>
                  <a:cubicBezTo>
                    <a:pt x="239" y="2644"/>
                    <a:pt x="298" y="2573"/>
                    <a:pt x="298" y="2501"/>
                  </a:cubicBezTo>
                  <a:lnTo>
                    <a:pt x="298" y="1203"/>
                  </a:lnTo>
                  <a:cubicBezTo>
                    <a:pt x="298" y="1168"/>
                    <a:pt x="322" y="1156"/>
                    <a:pt x="334" y="1156"/>
                  </a:cubicBezTo>
                  <a:lnTo>
                    <a:pt x="7335" y="1156"/>
                  </a:lnTo>
                  <a:cubicBezTo>
                    <a:pt x="7418" y="1156"/>
                    <a:pt x="7478" y="1084"/>
                    <a:pt x="7478" y="1013"/>
                  </a:cubicBezTo>
                  <a:cubicBezTo>
                    <a:pt x="7478" y="918"/>
                    <a:pt x="7406" y="858"/>
                    <a:pt x="7335" y="858"/>
                  </a:cubicBezTo>
                  <a:lnTo>
                    <a:pt x="6573" y="858"/>
                  </a:lnTo>
                  <a:lnTo>
                    <a:pt x="6263" y="382"/>
                  </a:lnTo>
                  <a:cubicBezTo>
                    <a:pt x="6204" y="275"/>
                    <a:pt x="6085" y="215"/>
                    <a:pt x="5966" y="215"/>
                  </a:cubicBezTo>
                  <a:lnTo>
                    <a:pt x="3930" y="215"/>
                  </a:lnTo>
                  <a:lnTo>
                    <a:pt x="3894" y="156"/>
                  </a:lnTo>
                  <a:cubicBezTo>
                    <a:pt x="3834" y="60"/>
                    <a:pt x="3715" y="1"/>
                    <a:pt x="35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1"/>
            <p:cNvSpPr/>
            <p:nvPr/>
          </p:nvSpPr>
          <p:spPr>
            <a:xfrm>
              <a:off x="2412205" y="4330525"/>
              <a:ext cx="334016" cy="273428"/>
            </a:xfrm>
            <a:custGeom>
              <a:avLst/>
              <a:gdLst/>
              <a:ahLst/>
              <a:cxnLst/>
              <a:rect l="l" t="t" r="r" b="b"/>
              <a:pathLst>
                <a:path w="10502" h="8597" extrusionOk="0">
                  <a:moveTo>
                    <a:pt x="6847" y="6835"/>
                  </a:moveTo>
                  <a:cubicBezTo>
                    <a:pt x="6870" y="6835"/>
                    <a:pt x="6894" y="6858"/>
                    <a:pt x="6894" y="6870"/>
                  </a:cubicBezTo>
                  <a:lnTo>
                    <a:pt x="6894" y="7192"/>
                  </a:lnTo>
                  <a:cubicBezTo>
                    <a:pt x="6894" y="7644"/>
                    <a:pt x="7097" y="8049"/>
                    <a:pt x="7442" y="8323"/>
                  </a:cubicBezTo>
                  <a:lnTo>
                    <a:pt x="1989" y="8323"/>
                  </a:lnTo>
                  <a:cubicBezTo>
                    <a:pt x="1370" y="8323"/>
                    <a:pt x="858" y="7811"/>
                    <a:pt x="858" y="7192"/>
                  </a:cubicBezTo>
                  <a:lnTo>
                    <a:pt x="858" y="6870"/>
                  </a:lnTo>
                  <a:cubicBezTo>
                    <a:pt x="858" y="6846"/>
                    <a:pt x="894" y="6835"/>
                    <a:pt x="905" y="6835"/>
                  </a:cubicBezTo>
                  <a:close/>
                  <a:moveTo>
                    <a:pt x="8002" y="0"/>
                  </a:moveTo>
                  <a:cubicBezTo>
                    <a:pt x="7918" y="0"/>
                    <a:pt x="7859" y="72"/>
                    <a:pt x="7859" y="143"/>
                  </a:cubicBezTo>
                  <a:cubicBezTo>
                    <a:pt x="7859" y="238"/>
                    <a:pt x="7930" y="298"/>
                    <a:pt x="8002" y="298"/>
                  </a:cubicBezTo>
                  <a:lnTo>
                    <a:pt x="10133" y="298"/>
                  </a:lnTo>
                  <a:cubicBezTo>
                    <a:pt x="10169" y="298"/>
                    <a:pt x="10180" y="322"/>
                    <a:pt x="10180" y="346"/>
                  </a:cubicBezTo>
                  <a:lnTo>
                    <a:pt x="10180" y="6918"/>
                  </a:lnTo>
                  <a:cubicBezTo>
                    <a:pt x="10180" y="6954"/>
                    <a:pt x="10145" y="6966"/>
                    <a:pt x="10133" y="6966"/>
                  </a:cubicBezTo>
                  <a:lnTo>
                    <a:pt x="9847" y="6966"/>
                  </a:lnTo>
                  <a:lnTo>
                    <a:pt x="9847" y="2465"/>
                  </a:lnTo>
                  <a:cubicBezTo>
                    <a:pt x="9847" y="2274"/>
                    <a:pt x="9680" y="2108"/>
                    <a:pt x="9490" y="2108"/>
                  </a:cubicBezTo>
                  <a:lnTo>
                    <a:pt x="5358" y="2108"/>
                  </a:lnTo>
                  <a:cubicBezTo>
                    <a:pt x="5263" y="2108"/>
                    <a:pt x="5204" y="2191"/>
                    <a:pt x="5204" y="2263"/>
                  </a:cubicBezTo>
                  <a:cubicBezTo>
                    <a:pt x="5204" y="2346"/>
                    <a:pt x="5287" y="2405"/>
                    <a:pt x="5358" y="2405"/>
                  </a:cubicBezTo>
                  <a:lnTo>
                    <a:pt x="9490" y="2405"/>
                  </a:lnTo>
                  <a:cubicBezTo>
                    <a:pt x="9526" y="2405"/>
                    <a:pt x="9537" y="2441"/>
                    <a:pt x="9537" y="2453"/>
                  </a:cubicBezTo>
                  <a:lnTo>
                    <a:pt x="9537" y="7144"/>
                  </a:lnTo>
                  <a:cubicBezTo>
                    <a:pt x="9537" y="7763"/>
                    <a:pt x="9037" y="8275"/>
                    <a:pt x="8406" y="8275"/>
                  </a:cubicBezTo>
                  <a:lnTo>
                    <a:pt x="8335" y="8275"/>
                  </a:lnTo>
                  <a:cubicBezTo>
                    <a:pt x="7704" y="8275"/>
                    <a:pt x="7204" y="7763"/>
                    <a:pt x="7204" y="7144"/>
                  </a:cubicBezTo>
                  <a:lnTo>
                    <a:pt x="7204" y="6823"/>
                  </a:lnTo>
                  <a:cubicBezTo>
                    <a:pt x="7204" y="6632"/>
                    <a:pt x="7037" y="6465"/>
                    <a:pt x="6847" y="6465"/>
                  </a:cubicBezTo>
                  <a:lnTo>
                    <a:pt x="3513" y="6465"/>
                  </a:lnTo>
                  <a:lnTo>
                    <a:pt x="3513" y="2453"/>
                  </a:lnTo>
                  <a:cubicBezTo>
                    <a:pt x="3513" y="2417"/>
                    <a:pt x="3537" y="2405"/>
                    <a:pt x="3549" y="2405"/>
                  </a:cubicBezTo>
                  <a:lnTo>
                    <a:pt x="4680" y="2405"/>
                  </a:lnTo>
                  <a:cubicBezTo>
                    <a:pt x="4775" y="2405"/>
                    <a:pt x="4835" y="2334"/>
                    <a:pt x="4835" y="2263"/>
                  </a:cubicBezTo>
                  <a:cubicBezTo>
                    <a:pt x="4835" y="2167"/>
                    <a:pt x="4763" y="2108"/>
                    <a:pt x="4680" y="2108"/>
                  </a:cubicBezTo>
                  <a:lnTo>
                    <a:pt x="3549" y="2108"/>
                  </a:lnTo>
                  <a:cubicBezTo>
                    <a:pt x="3358" y="2108"/>
                    <a:pt x="3191" y="2274"/>
                    <a:pt x="3191" y="2465"/>
                  </a:cubicBezTo>
                  <a:lnTo>
                    <a:pt x="3191" y="6489"/>
                  </a:lnTo>
                  <a:lnTo>
                    <a:pt x="905" y="6489"/>
                  </a:lnTo>
                  <a:cubicBezTo>
                    <a:pt x="715" y="6489"/>
                    <a:pt x="548" y="6656"/>
                    <a:pt x="548" y="6846"/>
                  </a:cubicBezTo>
                  <a:lnTo>
                    <a:pt x="548" y="6966"/>
                  </a:lnTo>
                  <a:lnTo>
                    <a:pt x="346" y="6966"/>
                  </a:lnTo>
                  <a:cubicBezTo>
                    <a:pt x="310" y="6966"/>
                    <a:pt x="298" y="6930"/>
                    <a:pt x="298" y="6918"/>
                  </a:cubicBezTo>
                  <a:lnTo>
                    <a:pt x="298" y="2298"/>
                  </a:lnTo>
                  <a:cubicBezTo>
                    <a:pt x="298" y="2215"/>
                    <a:pt x="227" y="2155"/>
                    <a:pt x="143" y="2155"/>
                  </a:cubicBezTo>
                  <a:cubicBezTo>
                    <a:pt x="60" y="2155"/>
                    <a:pt x="1" y="2227"/>
                    <a:pt x="1" y="2298"/>
                  </a:cubicBezTo>
                  <a:lnTo>
                    <a:pt x="1" y="6918"/>
                  </a:lnTo>
                  <a:cubicBezTo>
                    <a:pt x="1" y="7108"/>
                    <a:pt x="167" y="7275"/>
                    <a:pt x="358" y="7275"/>
                  </a:cubicBezTo>
                  <a:lnTo>
                    <a:pt x="584" y="7275"/>
                  </a:lnTo>
                  <a:cubicBezTo>
                    <a:pt x="632" y="8013"/>
                    <a:pt x="1251" y="8597"/>
                    <a:pt x="2001" y="8597"/>
                  </a:cubicBezTo>
                  <a:lnTo>
                    <a:pt x="8442" y="8597"/>
                  </a:lnTo>
                  <a:cubicBezTo>
                    <a:pt x="9192" y="8597"/>
                    <a:pt x="9823" y="8013"/>
                    <a:pt x="9871" y="7275"/>
                  </a:cubicBezTo>
                  <a:lnTo>
                    <a:pt x="10145" y="7275"/>
                  </a:lnTo>
                  <a:cubicBezTo>
                    <a:pt x="10335" y="7275"/>
                    <a:pt x="10502" y="7108"/>
                    <a:pt x="10502" y="6918"/>
                  </a:cubicBezTo>
                  <a:lnTo>
                    <a:pt x="10502" y="334"/>
                  </a:lnTo>
                  <a:cubicBezTo>
                    <a:pt x="10490" y="167"/>
                    <a:pt x="10347" y="0"/>
                    <a:pt x="10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1"/>
            <p:cNvSpPr/>
            <p:nvPr/>
          </p:nvSpPr>
          <p:spPr>
            <a:xfrm>
              <a:off x="2543241" y="4476319"/>
              <a:ext cx="20101" cy="9478"/>
            </a:xfrm>
            <a:custGeom>
              <a:avLst/>
              <a:gdLst/>
              <a:ahLst/>
              <a:cxnLst/>
              <a:rect l="l" t="t" r="r" b="b"/>
              <a:pathLst>
                <a:path w="632" h="298" extrusionOk="0">
                  <a:moveTo>
                    <a:pt x="167" y="0"/>
                  </a:moveTo>
                  <a:cubicBezTo>
                    <a:pt x="72" y="0"/>
                    <a:pt x="12" y="72"/>
                    <a:pt x="12" y="143"/>
                  </a:cubicBezTo>
                  <a:cubicBezTo>
                    <a:pt x="0" y="226"/>
                    <a:pt x="72" y="298"/>
                    <a:pt x="167" y="298"/>
                  </a:cubicBezTo>
                  <a:lnTo>
                    <a:pt x="476" y="298"/>
                  </a:lnTo>
                  <a:cubicBezTo>
                    <a:pt x="572" y="298"/>
                    <a:pt x="631" y="226"/>
                    <a:pt x="631" y="143"/>
                  </a:cubicBezTo>
                  <a:cubicBezTo>
                    <a:pt x="631" y="60"/>
                    <a:pt x="548" y="0"/>
                    <a:pt x="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1"/>
            <p:cNvSpPr/>
            <p:nvPr/>
          </p:nvSpPr>
          <p:spPr>
            <a:xfrm>
              <a:off x="2568590" y="4475937"/>
              <a:ext cx="129160" cy="9478"/>
            </a:xfrm>
            <a:custGeom>
              <a:avLst/>
              <a:gdLst/>
              <a:ahLst/>
              <a:cxnLst/>
              <a:rect l="l" t="t" r="r" b="b"/>
              <a:pathLst>
                <a:path w="4061" h="298" extrusionOk="0">
                  <a:moveTo>
                    <a:pt x="156" y="0"/>
                  </a:moveTo>
                  <a:cubicBezTo>
                    <a:pt x="84" y="0"/>
                    <a:pt x="1" y="72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lnTo>
                    <a:pt x="3906" y="298"/>
                  </a:lnTo>
                  <a:cubicBezTo>
                    <a:pt x="4001" y="298"/>
                    <a:pt x="4061" y="215"/>
                    <a:pt x="4061" y="143"/>
                  </a:cubicBezTo>
                  <a:cubicBezTo>
                    <a:pt x="4061" y="60"/>
                    <a:pt x="3978" y="0"/>
                    <a:pt x="39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1"/>
            <p:cNvSpPr/>
            <p:nvPr/>
          </p:nvSpPr>
          <p:spPr>
            <a:xfrm>
              <a:off x="2543241" y="4491840"/>
              <a:ext cx="154890" cy="9510"/>
            </a:xfrm>
            <a:custGeom>
              <a:avLst/>
              <a:gdLst/>
              <a:ahLst/>
              <a:cxnLst/>
              <a:rect l="l" t="t" r="r" b="b"/>
              <a:pathLst>
                <a:path w="4870" h="299" extrusionOk="0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9"/>
                    <a:pt x="72" y="298"/>
                    <a:pt x="155" y="298"/>
                  </a:cubicBezTo>
                  <a:lnTo>
                    <a:pt x="4715" y="298"/>
                  </a:lnTo>
                  <a:cubicBezTo>
                    <a:pt x="4810" y="298"/>
                    <a:pt x="4870" y="227"/>
                    <a:pt x="4870" y="155"/>
                  </a:cubicBezTo>
                  <a:cubicBezTo>
                    <a:pt x="4870" y="72"/>
                    <a:pt x="4810" y="0"/>
                    <a:pt x="4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1"/>
            <p:cNvSpPr/>
            <p:nvPr/>
          </p:nvSpPr>
          <p:spPr>
            <a:xfrm>
              <a:off x="2543241" y="4508506"/>
              <a:ext cx="154890" cy="9478"/>
            </a:xfrm>
            <a:custGeom>
              <a:avLst/>
              <a:gdLst/>
              <a:ahLst/>
              <a:cxnLst/>
              <a:rect l="l" t="t" r="r" b="b"/>
              <a:pathLst>
                <a:path w="4870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lnTo>
                    <a:pt x="4715" y="298"/>
                  </a:lnTo>
                  <a:cubicBezTo>
                    <a:pt x="4810" y="298"/>
                    <a:pt x="4870" y="227"/>
                    <a:pt x="4870" y="143"/>
                  </a:cubicBezTo>
                  <a:cubicBezTo>
                    <a:pt x="4870" y="72"/>
                    <a:pt x="4810" y="0"/>
                    <a:pt x="4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1"/>
            <p:cNvSpPr/>
            <p:nvPr/>
          </p:nvSpPr>
          <p:spPr>
            <a:xfrm>
              <a:off x="2635635" y="4436563"/>
              <a:ext cx="62497" cy="27289"/>
            </a:xfrm>
            <a:custGeom>
              <a:avLst/>
              <a:gdLst/>
              <a:ahLst/>
              <a:cxnLst/>
              <a:rect l="l" t="t" r="r" b="b"/>
              <a:pathLst>
                <a:path w="1965" h="858" extrusionOk="0">
                  <a:moveTo>
                    <a:pt x="1655" y="310"/>
                  </a:moveTo>
                  <a:lnTo>
                    <a:pt x="1655" y="560"/>
                  </a:lnTo>
                  <a:lnTo>
                    <a:pt x="298" y="560"/>
                  </a:lnTo>
                  <a:lnTo>
                    <a:pt x="298" y="310"/>
                  </a:lnTo>
                  <a:close/>
                  <a:moveTo>
                    <a:pt x="143" y="0"/>
                  </a:moveTo>
                  <a:cubicBezTo>
                    <a:pt x="60" y="0"/>
                    <a:pt x="0" y="72"/>
                    <a:pt x="0" y="143"/>
                  </a:cubicBezTo>
                  <a:lnTo>
                    <a:pt x="0" y="714"/>
                  </a:lnTo>
                  <a:cubicBezTo>
                    <a:pt x="0" y="798"/>
                    <a:pt x="72" y="857"/>
                    <a:pt x="143" y="857"/>
                  </a:cubicBezTo>
                  <a:lnTo>
                    <a:pt x="1810" y="857"/>
                  </a:lnTo>
                  <a:cubicBezTo>
                    <a:pt x="1905" y="857"/>
                    <a:pt x="1965" y="786"/>
                    <a:pt x="1965" y="714"/>
                  </a:cubicBezTo>
                  <a:lnTo>
                    <a:pt x="1965" y="143"/>
                  </a:lnTo>
                  <a:cubicBezTo>
                    <a:pt x="1965" y="60"/>
                    <a:pt x="1893" y="0"/>
                    <a:pt x="1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8268383-EFDC-AC27-19E5-0C43ABC9337E}"/>
              </a:ext>
            </a:extLst>
          </p:cNvPr>
          <p:cNvSpPr txBox="1">
            <a:spLocks/>
          </p:cNvSpPr>
          <p:nvPr/>
        </p:nvSpPr>
        <p:spPr>
          <a:xfrm>
            <a:off x="2080020" y="4735295"/>
            <a:ext cx="2190889" cy="3512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i="1" dirty="0"/>
              <a:t>* Police District (TABLEAU)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C4DE3D-4FD9-BF89-71CC-643FE2977924}"/>
              </a:ext>
            </a:extLst>
          </p:cNvPr>
          <p:cNvSpPr txBox="1"/>
          <p:nvPr/>
        </p:nvSpPr>
        <p:spPr>
          <a:xfrm>
            <a:off x="4532561" y="482732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7" name="Google Shape;192;p31">
            <a:extLst>
              <a:ext uri="{FF2B5EF4-FFF2-40B4-BE49-F238E27FC236}">
                <a16:creationId xmlns:a16="http://schemas.microsoft.com/office/drawing/2014/main" id="{54ABEBDE-29FF-24B7-5CB5-26F77AE9B223}"/>
              </a:ext>
            </a:extLst>
          </p:cNvPr>
          <p:cNvSpPr txBox="1">
            <a:spLocks/>
          </p:cNvSpPr>
          <p:nvPr/>
        </p:nvSpPr>
        <p:spPr>
          <a:xfrm flipH="1">
            <a:off x="5082948" y="1658123"/>
            <a:ext cx="2347261" cy="294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SzPts val="1100"/>
              <a:buNone/>
            </a:pPr>
            <a:r>
              <a:rPr lang="en-US" sz="1300" b="1" dirty="0">
                <a:solidFill>
                  <a:schemeClr val="accent1"/>
                </a:solidFill>
              </a:rPr>
              <a:t>POLICE DISPATCHED INCIDENTS</a:t>
            </a:r>
          </a:p>
          <a:p>
            <a:pPr marL="171450" indent="-171450">
              <a:buSzPts val="1100"/>
              <a:buFontTx/>
              <a:buChar char="-"/>
            </a:pPr>
            <a:r>
              <a:rPr lang="en-US" sz="13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Records of incidents responded to by police units.</a:t>
            </a:r>
          </a:p>
          <a:p>
            <a:pPr marL="171450" indent="-171450">
              <a:buSzPts val="1100"/>
              <a:buFontTx/>
              <a:buChar char="-"/>
            </a:pPr>
            <a:r>
              <a:rPr lang="en-US" sz="13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Reflects 911 calls and public-reported events.</a:t>
            </a:r>
          </a:p>
          <a:p>
            <a:pPr marL="171450" indent="-171450">
              <a:buSzPts val="1100"/>
              <a:buFontTx/>
              <a:buChar char="-"/>
            </a:pPr>
            <a:r>
              <a:rPr lang="en-US" sz="13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Represents initial perception, not confirmed crime.</a:t>
            </a:r>
          </a:p>
          <a:p>
            <a:pPr marL="171450" indent="-171450">
              <a:buSzPts val="1100"/>
              <a:buFontTx/>
              <a:buChar char="-"/>
            </a:pPr>
            <a:r>
              <a:rPr lang="en-US" sz="13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Includes incidents that may not result in a crime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F1600F-0644-B55B-9503-280100545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6383"/>
            <a:ext cx="5362743" cy="1098300"/>
          </a:xfrm>
        </p:spPr>
        <p:txBody>
          <a:bodyPr/>
          <a:lstStyle/>
          <a:p>
            <a:pPr algn="ctr"/>
            <a:r>
              <a:rPr lang="en-US" b="1" dirty="0"/>
              <a:t>Incident Classification </a:t>
            </a:r>
          </a:p>
        </p:txBody>
      </p:sp>
      <p:grpSp>
        <p:nvGrpSpPr>
          <p:cNvPr id="34" name="Google Shape;1453;p48">
            <a:extLst>
              <a:ext uri="{FF2B5EF4-FFF2-40B4-BE49-F238E27FC236}">
                <a16:creationId xmlns:a16="http://schemas.microsoft.com/office/drawing/2014/main" id="{CBD4A875-0E70-94F9-C2DF-DDCB28DA49A8}"/>
              </a:ext>
            </a:extLst>
          </p:cNvPr>
          <p:cNvGrpSpPr/>
          <p:nvPr/>
        </p:nvGrpSpPr>
        <p:grpSpPr>
          <a:xfrm>
            <a:off x="132520" y="1323108"/>
            <a:ext cx="6654705" cy="3202397"/>
            <a:chOff x="696904" y="3927572"/>
            <a:chExt cx="1221203" cy="640162"/>
          </a:xfrm>
        </p:grpSpPr>
        <p:grpSp>
          <p:nvGrpSpPr>
            <p:cNvPr id="35" name="Google Shape;1454;p48">
              <a:extLst>
                <a:ext uri="{FF2B5EF4-FFF2-40B4-BE49-F238E27FC236}">
                  <a16:creationId xmlns:a16="http://schemas.microsoft.com/office/drawing/2014/main" id="{B31AD57D-C68F-B76F-A4C0-73D79600FD75}"/>
                </a:ext>
              </a:extLst>
            </p:cNvPr>
            <p:cNvGrpSpPr/>
            <p:nvPr/>
          </p:nvGrpSpPr>
          <p:grpSpPr>
            <a:xfrm>
              <a:off x="696904" y="3927572"/>
              <a:ext cx="443636" cy="638537"/>
              <a:chOff x="696151" y="3939327"/>
              <a:chExt cx="463763" cy="667577"/>
            </a:xfrm>
          </p:grpSpPr>
          <p:sp>
            <p:nvSpPr>
              <p:cNvPr id="52" name="Google Shape;1455;p48">
                <a:extLst>
                  <a:ext uri="{FF2B5EF4-FFF2-40B4-BE49-F238E27FC236}">
                    <a16:creationId xmlns:a16="http://schemas.microsoft.com/office/drawing/2014/main" id="{2D5C53BC-3BFF-A89C-887D-236B716492AB}"/>
                  </a:ext>
                </a:extLst>
              </p:cNvPr>
              <p:cNvSpPr/>
              <p:nvPr/>
            </p:nvSpPr>
            <p:spPr>
              <a:xfrm>
                <a:off x="696151" y="3939327"/>
                <a:ext cx="463763" cy="419522"/>
              </a:xfrm>
              <a:prstGeom prst="hexagon">
                <a:avLst>
                  <a:gd name="adj" fmla="val 30376"/>
                  <a:gd name="vf" fmla="val 115470"/>
                </a:avLst>
              </a:prstGeom>
              <a:solidFill>
                <a:schemeClr val="bg2">
                  <a:lumMod val="75000"/>
                  <a:alpha val="55484"/>
                </a:schemeClr>
              </a:solidFill>
              <a:ln w="19050" cap="flat" cmpd="sng">
                <a:solidFill>
                  <a:srgbClr val="22244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Andale Mono" panose="020B0509000000000004" pitchFamily="49" charset="0"/>
                    <a:ea typeface="Lato" panose="020F0502020204030203" pitchFamily="34" charset="0"/>
                    <a:cs typeface="Lato" panose="020F0502020204030203" pitchFamily="34" charset="0"/>
                    <a:sym typeface="Inter"/>
                  </a:rPr>
                  <a:t>High 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latin typeface="Andale Mono" panose="020B0509000000000004" pitchFamily="49" charset="0"/>
                    <a:ea typeface="Lato" panose="020F0502020204030203" pitchFamily="34" charset="0"/>
                    <a:cs typeface="Lato" panose="020F0502020204030203" pitchFamily="34" charset="0"/>
                  </a:rPr>
                  <a:t>Violent/serious crimes</a:t>
                </a:r>
                <a:endParaRPr sz="1200" dirty="0">
                  <a:latin typeface="Andale Mono" panose="020B0509000000000004" pitchFamily="49" charset="0"/>
                  <a:ea typeface="Lato" panose="020F0502020204030203" pitchFamily="34" charset="0"/>
                  <a:cs typeface="Lato" panose="020F0502020204030203" pitchFamily="34" charset="0"/>
                  <a:sym typeface="Inter"/>
                </a:endParaRPr>
              </a:p>
            </p:txBody>
          </p:sp>
          <p:sp>
            <p:nvSpPr>
              <p:cNvPr id="53" name="Google Shape;1456;p48">
                <a:extLst>
                  <a:ext uri="{FF2B5EF4-FFF2-40B4-BE49-F238E27FC236}">
                    <a16:creationId xmlns:a16="http://schemas.microsoft.com/office/drawing/2014/main" id="{F48DA0F5-0CD2-D192-2044-E3E0E19734C3}"/>
                  </a:ext>
                </a:extLst>
              </p:cNvPr>
              <p:cNvSpPr/>
              <p:nvPr/>
            </p:nvSpPr>
            <p:spPr>
              <a:xfrm flipH="1">
                <a:off x="863214" y="4490804"/>
                <a:ext cx="112800" cy="116100"/>
              </a:xfrm>
              <a:prstGeom prst="rect">
                <a:avLst/>
              </a:prstGeom>
              <a:solidFill>
                <a:schemeClr val="bg2">
                  <a:lumMod val="75000"/>
                  <a:alpha val="55000"/>
                </a:schemeClr>
              </a:solidFill>
              <a:ln w="19050" cap="flat" cmpd="sng">
                <a:solidFill>
                  <a:srgbClr val="22244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latin typeface="Andale Mono" panose="020B0509000000000004" pitchFamily="49" charset="0"/>
                    <a:ea typeface="Inter"/>
                    <a:cs typeface="Inter"/>
                    <a:sym typeface="Inter"/>
                  </a:rPr>
                  <a:t>3</a:t>
                </a:r>
                <a:endParaRPr dirty="0">
                  <a:latin typeface="Andale Mono" panose="020B0509000000000004" pitchFamily="49" charset="0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54" name="Google Shape;1457;p48">
                <a:extLst>
                  <a:ext uri="{FF2B5EF4-FFF2-40B4-BE49-F238E27FC236}">
                    <a16:creationId xmlns:a16="http://schemas.microsoft.com/office/drawing/2014/main" id="{4CC10375-8451-3585-9C29-C176BBD8DDE6}"/>
                  </a:ext>
                </a:extLst>
              </p:cNvPr>
              <p:cNvCxnSpPr>
                <a:cxnSpLocks/>
                <a:endCxn id="53" idx="0"/>
              </p:cNvCxnSpPr>
              <p:nvPr/>
            </p:nvCxnSpPr>
            <p:spPr>
              <a:xfrm>
                <a:off x="919614" y="4368047"/>
                <a:ext cx="0" cy="122757"/>
              </a:xfrm>
              <a:prstGeom prst="straightConnector1">
                <a:avLst/>
              </a:prstGeom>
              <a:solidFill>
                <a:schemeClr val="bg2">
                  <a:lumMod val="75000"/>
                </a:schemeClr>
              </a:solidFill>
              <a:ln w="19050" cap="flat" cmpd="sng">
                <a:solidFill>
                  <a:srgbClr val="22244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6" name="Google Shape;1458;p48">
              <a:extLst>
                <a:ext uri="{FF2B5EF4-FFF2-40B4-BE49-F238E27FC236}">
                  <a16:creationId xmlns:a16="http://schemas.microsoft.com/office/drawing/2014/main" id="{84A223D7-659D-EC52-F705-B237C4BEAD9D}"/>
                </a:ext>
              </a:extLst>
            </p:cNvPr>
            <p:cNvGrpSpPr/>
            <p:nvPr/>
          </p:nvGrpSpPr>
          <p:grpSpPr>
            <a:xfrm>
              <a:off x="1066149" y="3931943"/>
              <a:ext cx="465342" cy="635774"/>
              <a:chOff x="1082148" y="3943904"/>
              <a:chExt cx="486453" cy="664689"/>
            </a:xfrm>
          </p:grpSpPr>
          <p:sp>
            <p:nvSpPr>
              <p:cNvPr id="49" name="Google Shape;1459;p48">
                <a:extLst>
                  <a:ext uri="{FF2B5EF4-FFF2-40B4-BE49-F238E27FC236}">
                    <a16:creationId xmlns:a16="http://schemas.microsoft.com/office/drawing/2014/main" id="{19875821-3463-0B6F-4DF8-87D1A9AEE271}"/>
                  </a:ext>
                </a:extLst>
              </p:cNvPr>
              <p:cNvSpPr/>
              <p:nvPr/>
            </p:nvSpPr>
            <p:spPr>
              <a:xfrm>
                <a:off x="1082148" y="3943904"/>
                <a:ext cx="486453" cy="419523"/>
              </a:xfrm>
              <a:prstGeom prst="hexagon">
                <a:avLst>
                  <a:gd name="adj" fmla="val 30376"/>
                  <a:gd name="vf" fmla="val 115470"/>
                </a:avLst>
              </a:prstGeom>
              <a:solidFill>
                <a:schemeClr val="bg2">
                  <a:lumMod val="75000"/>
                  <a:alpha val="45015"/>
                </a:schemeClr>
              </a:solidFill>
              <a:ln w="19050" cap="flat" cmpd="sng">
                <a:solidFill>
                  <a:srgbClr val="4E14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dirty="0">
                    <a:latin typeface="Andale Mono" panose="020B0509000000000004" pitchFamily="49" charset="0"/>
                    <a:ea typeface="Inter"/>
                    <a:cs typeface="Inter"/>
                    <a:sym typeface="Inter"/>
                  </a:rPr>
                  <a:t>Medium</a:t>
                </a:r>
              </a:p>
              <a:p>
                <a:pPr algn="ctr"/>
                <a:r>
                  <a:rPr lang="en-US" sz="1200" dirty="0">
                    <a:latin typeface="Andale Mono" panose="020B0509000000000004" pitchFamily="49" charset="0"/>
                  </a:rPr>
                  <a:t>Property or financial related crimes</a:t>
                </a:r>
                <a:endParaRPr lang="en-US" sz="1200" dirty="0">
                  <a:latin typeface="Andale Mono" panose="020B0509000000000004" pitchFamily="49" charset="0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" name="Google Shape;1460;p48">
                <a:extLst>
                  <a:ext uri="{FF2B5EF4-FFF2-40B4-BE49-F238E27FC236}">
                    <a16:creationId xmlns:a16="http://schemas.microsoft.com/office/drawing/2014/main" id="{74A93702-F777-F688-A095-C4C7A7DB71A7}"/>
                  </a:ext>
                </a:extLst>
              </p:cNvPr>
              <p:cNvSpPr/>
              <p:nvPr/>
            </p:nvSpPr>
            <p:spPr>
              <a:xfrm>
                <a:off x="1263567" y="4492493"/>
                <a:ext cx="112800" cy="116100"/>
              </a:xfrm>
              <a:prstGeom prst="rect">
                <a:avLst/>
              </a:prstGeom>
              <a:solidFill>
                <a:schemeClr val="bg2">
                  <a:lumMod val="75000"/>
                  <a:alpha val="44768"/>
                </a:schemeClr>
              </a:solidFill>
              <a:ln w="19050" cap="flat" cmpd="sng">
                <a:solidFill>
                  <a:srgbClr val="5032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latin typeface="Andale Mono" panose="020B0509000000000004" pitchFamily="49" charset="0"/>
                    <a:ea typeface="Inter"/>
                    <a:cs typeface="Inter"/>
                    <a:sym typeface="Inter"/>
                  </a:rPr>
                  <a:t>2</a:t>
                </a:r>
                <a:endParaRPr dirty="0">
                  <a:latin typeface="Andale Mono" panose="020B0509000000000004" pitchFamily="49" charset="0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51" name="Google Shape;1461;p48">
                <a:extLst>
                  <a:ext uri="{FF2B5EF4-FFF2-40B4-BE49-F238E27FC236}">
                    <a16:creationId xmlns:a16="http://schemas.microsoft.com/office/drawing/2014/main" id="{79BF6878-FFB0-45AF-9FB8-E7973D65DB0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319966" y="4369734"/>
                <a:ext cx="0" cy="122700"/>
              </a:xfrm>
              <a:prstGeom prst="straightConnector1">
                <a:avLst/>
              </a:prstGeom>
              <a:solidFill>
                <a:schemeClr val="bg2">
                  <a:lumMod val="75000"/>
                  <a:alpha val="67020"/>
                </a:schemeClr>
              </a:solidFill>
              <a:ln w="19050" cap="flat" cmpd="sng">
                <a:solidFill>
                  <a:srgbClr val="5032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7" name="Google Shape;1462;p48">
              <a:extLst>
                <a:ext uri="{FF2B5EF4-FFF2-40B4-BE49-F238E27FC236}">
                  <a16:creationId xmlns:a16="http://schemas.microsoft.com/office/drawing/2014/main" id="{61745B15-E710-52DE-2BAB-5710E1527171}"/>
                </a:ext>
              </a:extLst>
            </p:cNvPr>
            <p:cNvGrpSpPr/>
            <p:nvPr/>
          </p:nvGrpSpPr>
          <p:grpSpPr>
            <a:xfrm>
              <a:off x="1452765" y="3931941"/>
              <a:ext cx="465342" cy="635793"/>
              <a:chOff x="1486307" y="3943888"/>
              <a:chExt cx="486454" cy="664707"/>
            </a:xfrm>
          </p:grpSpPr>
          <p:sp>
            <p:nvSpPr>
              <p:cNvPr id="46" name="Google Shape;1463;p48">
                <a:extLst>
                  <a:ext uri="{FF2B5EF4-FFF2-40B4-BE49-F238E27FC236}">
                    <a16:creationId xmlns:a16="http://schemas.microsoft.com/office/drawing/2014/main" id="{37575DB9-2B88-2191-F7A8-7EB7C1C0CEBF}"/>
                  </a:ext>
                </a:extLst>
              </p:cNvPr>
              <p:cNvSpPr/>
              <p:nvPr/>
            </p:nvSpPr>
            <p:spPr>
              <a:xfrm>
                <a:off x="1486307" y="3943888"/>
                <a:ext cx="486454" cy="419523"/>
              </a:xfrm>
              <a:prstGeom prst="hexagon">
                <a:avLst>
                  <a:gd name="adj" fmla="val 30376"/>
                  <a:gd name="vf" fmla="val 115470"/>
                </a:avLst>
              </a:prstGeom>
              <a:solidFill>
                <a:schemeClr val="bg2">
                  <a:lumMod val="75000"/>
                  <a:alpha val="34371"/>
                </a:schemeClr>
              </a:solidFill>
              <a:ln w="19050" cap="flat" cmpd="sng">
                <a:solidFill>
                  <a:srgbClr val="4F15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dirty="0">
                    <a:latin typeface="Andale Mono" panose="020B0509000000000004" pitchFamily="49" charset="0"/>
                  </a:rPr>
                  <a:t>Low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latin typeface="Andale Mono" panose="020B0509000000000004" pitchFamily="49" charset="0"/>
                  </a:rPr>
                  <a:t>Minor non-violent criminal incidents</a:t>
                </a:r>
                <a:endParaRPr sz="1200" dirty="0">
                  <a:latin typeface="Andale Mono" panose="020B0509000000000004" pitchFamily="49" charset="0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7" name="Google Shape;1464;p48">
                <a:extLst>
                  <a:ext uri="{FF2B5EF4-FFF2-40B4-BE49-F238E27FC236}">
                    <a16:creationId xmlns:a16="http://schemas.microsoft.com/office/drawing/2014/main" id="{D96BFDA6-70E8-C1A5-0A32-83071756AE97}"/>
                  </a:ext>
                </a:extLst>
              </p:cNvPr>
              <p:cNvSpPr/>
              <p:nvPr/>
            </p:nvSpPr>
            <p:spPr>
              <a:xfrm flipH="1">
                <a:off x="1673134" y="4492495"/>
                <a:ext cx="112800" cy="116100"/>
              </a:xfrm>
              <a:prstGeom prst="rect">
                <a:avLst/>
              </a:prstGeom>
              <a:solidFill>
                <a:schemeClr val="bg2">
                  <a:lumMod val="75000"/>
                  <a:alpha val="34404"/>
                </a:schemeClr>
              </a:solidFill>
              <a:ln w="19050" cap="flat" cmpd="sng">
                <a:solidFill>
                  <a:srgbClr val="76518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latin typeface="Andale Mono" panose="020B0509000000000004" pitchFamily="49" charset="0"/>
                    <a:ea typeface="Inter"/>
                    <a:cs typeface="Inter"/>
                    <a:sym typeface="Inter"/>
                  </a:rPr>
                  <a:t>1</a:t>
                </a:r>
                <a:endParaRPr dirty="0">
                  <a:latin typeface="Andale Mono" panose="020B0509000000000004" pitchFamily="49" charset="0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48" name="Google Shape;1465;p48">
                <a:extLst>
                  <a:ext uri="{FF2B5EF4-FFF2-40B4-BE49-F238E27FC236}">
                    <a16:creationId xmlns:a16="http://schemas.microsoft.com/office/drawing/2014/main" id="{70CD2D03-77B0-01E5-1411-456ECA41FEC4}"/>
                  </a:ext>
                </a:extLst>
              </p:cNvPr>
              <p:cNvCxnSpPr>
                <a:cxnSpLocks/>
                <a:endCxn id="47" idx="0"/>
              </p:cNvCxnSpPr>
              <p:nvPr/>
            </p:nvCxnSpPr>
            <p:spPr>
              <a:xfrm>
                <a:off x="1729534" y="4369738"/>
                <a:ext cx="0" cy="122757"/>
              </a:xfrm>
              <a:prstGeom prst="straightConnector1">
                <a:avLst/>
              </a:prstGeom>
              <a:solidFill>
                <a:schemeClr val="bg2">
                  <a:lumMod val="75000"/>
                  <a:alpha val="44850"/>
                </a:schemeClr>
              </a:solidFill>
              <a:ln w="19050" cap="flat" cmpd="sng">
                <a:solidFill>
                  <a:srgbClr val="76518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" name="Google Shape;1463;p48">
            <a:extLst>
              <a:ext uri="{FF2B5EF4-FFF2-40B4-BE49-F238E27FC236}">
                <a16:creationId xmlns:a16="http://schemas.microsoft.com/office/drawing/2014/main" id="{0681DE72-76A6-507C-13EA-038D111AB7FA}"/>
              </a:ext>
            </a:extLst>
          </p:cNvPr>
          <p:cNvSpPr/>
          <p:nvPr/>
        </p:nvSpPr>
        <p:spPr>
          <a:xfrm>
            <a:off x="6358224" y="1344964"/>
            <a:ext cx="2535789" cy="2007366"/>
          </a:xfrm>
          <a:prstGeom prst="hexagon">
            <a:avLst>
              <a:gd name="adj" fmla="val 30376"/>
              <a:gd name="vf" fmla="val 115470"/>
            </a:avLst>
          </a:prstGeom>
          <a:solidFill>
            <a:schemeClr val="bg2">
              <a:lumMod val="75000"/>
              <a:alpha val="14000"/>
            </a:schemeClr>
          </a:solidFill>
          <a:ln w="19050" cap="flat" cmpd="sng">
            <a:solidFill>
              <a:srgbClr val="4F15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Andale Mono" panose="020B0509000000000004" pitchFamily="49" charset="0"/>
              </a:rPr>
              <a:t>Non-Criminal/ Service Related</a:t>
            </a:r>
            <a:endParaRPr sz="1200" dirty="0">
              <a:latin typeface="Andale Mono" panose="020B0509000000000004" pitchFamily="49" charset="0"/>
              <a:ea typeface="Inter"/>
              <a:cs typeface="Inter"/>
              <a:sym typeface="Inter"/>
            </a:endParaRPr>
          </a:p>
        </p:txBody>
      </p:sp>
      <p:sp>
        <p:nvSpPr>
          <p:cNvPr id="6" name="Google Shape;1464;p48">
            <a:extLst>
              <a:ext uri="{FF2B5EF4-FFF2-40B4-BE49-F238E27FC236}">
                <a16:creationId xmlns:a16="http://schemas.microsoft.com/office/drawing/2014/main" id="{7DB3DCEC-D2B4-05E1-539B-75FE64E55F15}"/>
              </a:ext>
            </a:extLst>
          </p:cNvPr>
          <p:cNvSpPr/>
          <p:nvPr/>
        </p:nvSpPr>
        <p:spPr>
          <a:xfrm flipH="1">
            <a:off x="7360310" y="3969896"/>
            <a:ext cx="588004" cy="555524"/>
          </a:xfrm>
          <a:prstGeom prst="rect">
            <a:avLst/>
          </a:prstGeom>
          <a:solidFill>
            <a:schemeClr val="bg2">
              <a:lumMod val="75000"/>
              <a:alpha val="13920"/>
            </a:schemeClr>
          </a:solidFill>
          <a:ln w="19050" cap="flat" cmpd="sng">
            <a:solidFill>
              <a:srgbClr val="7651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ndale Mono" panose="020B0509000000000004" pitchFamily="49" charset="0"/>
                <a:ea typeface="Inter"/>
                <a:cs typeface="Inter"/>
                <a:sym typeface="Inter"/>
              </a:rPr>
              <a:t>0</a:t>
            </a:r>
          </a:p>
        </p:txBody>
      </p:sp>
      <p:cxnSp>
        <p:nvCxnSpPr>
          <p:cNvPr id="7" name="Google Shape;1465;p48">
            <a:extLst>
              <a:ext uri="{FF2B5EF4-FFF2-40B4-BE49-F238E27FC236}">
                <a16:creationId xmlns:a16="http://schemas.microsoft.com/office/drawing/2014/main" id="{A76C2AD7-5570-5209-F2D6-61A9D56344F5}"/>
              </a:ext>
            </a:extLst>
          </p:cNvPr>
          <p:cNvCxnSpPr>
            <a:cxnSpLocks/>
          </p:cNvCxnSpPr>
          <p:nvPr/>
        </p:nvCxnSpPr>
        <p:spPr>
          <a:xfrm>
            <a:off x="7634477" y="3382512"/>
            <a:ext cx="0" cy="587377"/>
          </a:xfrm>
          <a:prstGeom prst="straightConnector1">
            <a:avLst/>
          </a:prstGeom>
          <a:solidFill>
            <a:schemeClr val="bg2">
              <a:lumMod val="75000"/>
              <a:alpha val="44850"/>
            </a:schemeClr>
          </a:solidFill>
          <a:ln w="19050" cap="flat" cmpd="sng">
            <a:solidFill>
              <a:srgbClr val="76518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ACBD245-306A-FE08-B8B7-FAA0CCDC6DE4}"/>
              </a:ext>
            </a:extLst>
          </p:cNvPr>
          <p:cNvSpPr txBox="1"/>
          <p:nvPr/>
        </p:nvSpPr>
        <p:spPr>
          <a:xfrm>
            <a:off x="2737658" y="4859721"/>
            <a:ext cx="36686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US" sz="1100" dirty="0">
                <a:solidFill>
                  <a:schemeClr val="tx1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https://github.com/julia-mc/The-Perception-Gap</a:t>
            </a:r>
            <a:endParaRPr lang="en-US" sz="1100" dirty="0">
              <a:solidFill>
                <a:schemeClr val="tx1">
                  <a:lumMod val="50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04376433-861B-4BB8-9E6C-D327A7A81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>
            <a:extLst>
              <a:ext uri="{FF2B5EF4-FFF2-40B4-BE49-F238E27FC236}">
                <a16:creationId xmlns:a16="http://schemas.microsoft.com/office/drawing/2014/main" id="{A893B047-817E-18BD-1424-639F8FBA4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How the Perception Gap Happens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85" name="Google Shape;285;p36">
            <a:extLst>
              <a:ext uri="{FF2B5EF4-FFF2-40B4-BE49-F238E27FC236}">
                <a16:creationId xmlns:a16="http://schemas.microsoft.com/office/drawing/2014/main" id="{65A364DB-6C51-558C-1795-F75BE80ACF18}"/>
              </a:ext>
            </a:extLst>
          </p:cNvPr>
          <p:cNvSpPr/>
          <p:nvPr/>
        </p:nvSpPr>
        <p:spPr>
          <a:xfrm>
            <a:off x="1488734" y="2967573"/>
            <a:ext cx="6456312" cy="900900"/>
          </a:xfrm>
          <a:prstGeom prst="rightArrow">
            <a:avLst>
              <a:gd name="adj1" fmla="val 50000"/>
              <a:gd name="adj2" fmla="val 6518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36">
            <a:extLst>
              <a:ext uri="{FF2B5EF4-FFF2-40B4-BE49-F238E27FC236}">
                <a16:creationId xmlns:a16="http://schemas.microsoft.com/office/drawing/2014/main" id="{5930976F-92F0-AADA-ABFB-81A3FD0A6627}"/>
              </a:ext>
            </a:extLst>
          </p:cNvPr>
          <p:cNvSpPr/>
          <p:nvPr/>
        </p:nvSpPr>
        <p:spPr>
          <a:xfrm>
            <a:off x="2093309" y="3137623"/>
            <a:ext cx="572700" cy="572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8" name="Google Shape;288;p36">
            <a:extLst>
              <a:ext uri="{FF2B5EF4-FFF2-40B4-BE49-F238E27FC236}">
                <a16:creationId xmlns:a16="http://schemas.microsoft.com/office/drawing/2014/main" id="{761B28F1-EC74-88D4-B66C-C6CA527D892A}"/>
              </a:ext>
            </a:extLst>
          </p:cNvPr>
          <p:cNvSpPr/>
          <p:nvPr/>
        </p:nvSpPr>
        <p:spPr>
          <a:xfrm>
            <a:off x="4147544" y="3137623"/>
            <a:ext cx="572700" cy="572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36">
            <a:extLst>
              <a:ext uri="{FF2B5EF4-FFF2-40B4-BE49-F238E27FC236}">
                <a16:creationId xmlns:a16="http://schemas.microsoft.com/office/drawing/2014/main" id="{6C22C6FA-1103-93AE-9B59-B5C7CBD17621}"/>
              </a:ext>
            </a:extLst>
          </p:cNvPr>
          <p:cNvSpPr/>
          <p:nvPr/>
        </p:nvSpPr>
        <p:spPr>
          <a:xfrm>
            <a:off x="6073096" y="3137623"/>
            <a:ext cx="572700" cy="572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" name="Google Shape;292;p36">
            <a:extLst>
              <a:ext uri="{FF2B5EF4-FFF2-40B4-BE49-F238E27FC236}">
                <a16:creationId xmlns:a16="http://schemas.microsoft.com/office/drawing/2014/main" id="{581314EE-0B94-906C-871C-F699A67821F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121223" y="1840791"/>
            <a:ext cx="2381457" cy="10232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None/>
            </a:pPr>
            <a:r>
              <a:rPr lang="en-US" sz="1200" dirty="0"/>
              <a:t>When police arrive, they find the individuals were arguing but not physically fighting.</a:t>
            </a: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6" name="Google Shape;296;p36">
            <a:extLst>
              <a:ext uri="{FF2B5EF4-FFF2-40B4-BE49-F238E27FC236}">
                <a16:creationId xmlns:a16="http://schemas.microsoft.com/office/drawing/2014/main" id="{9336BD9B-08FC-76CE-409B-D0404CE3EBB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29651" y="1835750"/>
            <a:ext cx="1532977" cy="8179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A caller reports that people are physically fighting.</a:t>
            </a:r>
          </a:p>
        </p:txBody>
      </p:sp>
      <p:sp>
        <p:nvSpPr>
          <p:cNvPr id="298" name="Google Shape;298;p36">
            <a:extLst>
              <a:ext uri="{FF2B5EF4-FFF2-40B4-BE49-F238E27FC236}">
                <a16:creationId xmlns:a16="http://schemas.microsoft.com/office/drawing/2014/main" id="{FDDA2616-6CE6-D48A-3A70-DBBEF95F1C1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9858" y="990945"/>
            <a:ext cx="6821758" cy="438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Scenario: Someone calls 911 reporting a possible assault or fight.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01" name="Google Shape;301;p36">
            <a:extLst>
              <a:ext uri="{FF2B5EF4-FFF2-40B4-BE49-F238E27FC236}">
                <a16:creationId xmlns:a16="http://schemas.microsoft.com/office/drawing/2014/main" id="{8E35C2E5-E02C-C85D-92F8-4EF0A5EF033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456849" y="1835750"/>
            <a:ext cx="237789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None/>
            </a:pPr>
            <a:r>
              <a:rPr lang="en-US" sz="1200" dirty="0"/>
              <a:t>The incident is classified as a lower level disturbance instead of an aggravated assault.</a:t>
            </a:r>
          </a:p>
        </p:txBody>
      </p:sp>
      <p:cxnSp>
        <p:nvCxnSpPr>
          <p:cNvPr id="302" name="Google Shape;302;p36">
            <a:extLst>
              <a:ext uri="{FF2B5EF4-FFF2-40B4-BE49-F238E27FC236}">
                <a16:creationId xmlns:a16="http://schemas.microsoft.com/office/drawing/2014/main" id="{9FE2D902-B462-DC87-3ACA-59D6A2DEABEA}"/>
              </a:ext>
            </a:extLst>
          </p:cNvPr>
          <p:cNvCxnSpPr>
            <a:cxnSpLocks/>
            <a:stCxn id="286" idx="0"/>
          </p:cNvCxnSpPr>
          <p:nvPr/>
        </p:nvCxnSpPr>
        <p:spPr>
          <a:xfrm rot="10800000">
            <a:off x="2379659" y="2941723"/>
            <a:ext cx="0" cy="19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04" name="Google Shape;304;p36">
            <a:extLst>
              <a:ext uri="{FF2B5EF4-FFF2-40B4-BE49-F238E27FC236}">
                <a16:creationId xmlns:a16="http://schemas.microsoft.com/office/drawing/2014/main" id="{F1838908-C285-7AB7-8ED7-FCF72355AF9A}"/>
              </a:ext>
            </a:extLst>
          </p:cNvPr>
          <p:cNvCxnSpPr>
            <a:cxnSpLocks/>
            <a:stCxn id="288" idx="0"/>
          </p:cNvCxnSpPr>
          <p:nvPr/>
        </p:nvCxnSpPr>
        <p:spPr>
          <a:xfrm rot="10800000">
            <a:off x="4433894" y="2941723"/>
            <a:ext cx="0" cy="19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05" name="Google Shape;305;p36">
            <a:extLst>
              <a:ext uri="{FF2B5EF4-FFF2-40B4-BE49-F238E27FC236}">
                <a16:creationId xmlns:a16="http://schemas.microsoft.com/office/drawing/2014/main" id="{1477B022-1EC5-24FB-B723-B26729D48F6B}"/>
              </a:ext>
            </a:extLst>
          </p:cNvPr>
          <p:cNvCxnSpPr>
            <a:cxnSpLocks/>
            <a:stCxn id="290" idx="0"/>
          </p:cNvCxnSpPr>
          <p:nvPr/>
        </p:nvCxnSpPr>
        <p:spPr>
          <a:xfrm flipV="1">
            <a:off x="6359446" y="2957255"/>
            <a:ext cx="3563" cy="18036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10" name="Google Shape;310;p36">
            <a:extLst>
              <a:ext uri="{FF2B5EF4-FFF2-40B4-BE49-F238E27FC236}">
                <a16:creationId xmlns:a16="http://schemas.microsoft.com/office/drawing/2014/main" id="{69E86F3D-9E05-2140-4409-8AC669F7D192}"/>
              </a:ext>
            </a:extLst>
          </p:cNvPr>
          <p:cNvGrpSpPr/>
          <p:nvPr/>
        </p:nvGrpSpPr>
        <p:grpSpPr>
          <a:xfrm>
            <a:off x="4290706" y="3292968"/>
            <a:ext cx="281294" cy="262009"/>
            <a:chOff x="7070872" y="2410871"/>
            <a:chExt cx="398321" cy="371013"/>
          </a:xfrm>
        </p:grpSpPr>
        <p:sp>
          <p:nvSpPr>
            <p:cNvPr id="311" name="Google Shape;311;p36">
              <a:extLst>
                <a:ext uri="{FF2B5EF4-FFF2-40B4-BE49-F238E27FC236}">
                  <a16:creationId xmlns:a16="http://schemas.microsoft.com/office/drawing/2014/main" id="{E950C5B6-9290-4997-FA1F-865155259BC7}"/>
                </a:ext>
              </a:extLst>
            </p:cNvPr>
            <p:cNvSpPr/>
            <p:nvPr/>
          </p:nvSpPr>
          <p:spPr>
            <a:xfrm>
              <a:off x="7204643" y="2603364"/>
              <a:ext cx="123586" cy="107641"/>
            </a:xfrm>
            <a:custGeom>
              <a:avLst/>
              <a:gdLst/>
              <a:ahLst/>
              <a:cxnLst/>
              <a:rect l="l" t="t" r="r" b="b"/>
              <a:pathLst>
                <a:path w="3883" h="3382" extrusionOk="0">
                  <a:moveTo>
                    <a:pt x="1942" y="1"/>
                  </a:moveTo>
                  <a:cubicBezTo>
                    <a:pt x="1846" y="1"/>
                    <a:pt x="1751" y="96"/>
                    <a:pt x="1751" y="203"/>
                  </a:cubicBezTo>
                  <a:lnTo>
                    <a:pt x="1751" y="2072"/>
                  </a:lnTo>
                  <a:lnTo>
                    <a:pt x="132" y="3013"/>
                  </a:lnTo>
                  <a:cubicBezTo>
                    <a:pt x="37" y="3072"/>
                    <a:pt x="1" y="3192"/>
                    <a:pt x="60" y="3287"/>
                  </a:cubicBezTo>
                  <a:cubicBezTo>
                    <a:pt x="84" y="3346"/>
                    <a:pt x="156" y="3382"/>
                    <a:pt x="215" y="3382"/>
                  </a:cubicBezTo>
                  <a:cubicBezTo>
                    <a:pt x="251" y="3382"/>
                    <a:pt x="298" y="3370"/>
                    <a:pt x="322" y="3358"/>
                  </a:cubicBezTo>
                  <a:lnTo>
                    <a:pt x="1942" y="2418"/>
                  </a:lnTo>
                  <a:lnTo>
                    <a:pt x="3573" y="3358"/>
                  </a:lnTo>
                  <a:cubicBezTo>
                    <a:pt x="3596" y="3370"/>
                    <a:pt x="3632" y="3382"/>
                    <a:pt x="3668" y="3382"/>
                  </a:cubicBezTo>
                  <a:cubicBezTo>
                    <a:pt x="3751" y="3382"/>
                    <a:pt x="3811" y="3358"/>
                    <a:pt x="3835" y="3287"/>
                  </a:cubicBezTo>
                  <a:cubicBezTo>
                    <a:pt x="3882" y="3192"/>
                    <a:pt x="3847" y="3072"/>
                    <a:pt x="3763" y="3013"/>
                  </a:cubicBezTo>
                  <a:lnTo>
                    <a:pt x="2144" y="2072"/>
                  </a:lnTo>
                  <a:lnTo>
                    <a:pt x="2144" y="203"/>
                  </a:lnTo>
                  <a:cubicBezTo>
                    <a:pt x="2144" y="96"/>
                    <a:pt x="2049" y="1"/>
                    <a:pt x="19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6">
              <a:extLst>
                <a:ext uri="{FF2B5EF4-FFF2-40B4-BE49-F238E27FC236}">
                  <a16:creationId xmlns:a16="http://schemas.microsoft.com/office/drawing/2014/main" id="{9002B9DE-F6F0-60D2-446E-7E7BE9CD581C}"/>
                </a:ext>
              </a:extLst>
            </p:cNvPr>
            <p:cNvSpPr/>
            <p:nvPr/>
          </p:nvSpPr>
          <p:spPr>
            <a:xfrm>
              <a:off x="7203147" y="2410871"/>
              <a:ext cx="133421" cy="178902"/>
            </a:xfrm>
            <a:custGeom>
              <a:avLst/>
              <a:gdLst/>
              <a:ahLst/>
              <a:cxnLst/>
              <a:rect l="l" t="t" r="r" b="b"/>
              <a:pathLst>
                <a:path w="4192" h="5621" extrusionOk="0">
                  <a:moveTo>
                    <a:pt x="2131" y="405"/>
                  </a:moveTo>
                  <a:cubicBezTo>
                    <a:pt x="2631" y="405"/>
                    <a:pt x="3048" y="822"/>
                    <a:pt x="3048" y="1322"/>
                  </a:cubicBezTo>
                  <a:lnTo>
                    <a:pt x="3048" y="1441"/>
                  </a:lnTo>
                  <a:lnTo>
                    <a:pt x="3036" y="1441"/>
                  </a:lnTo>
                  <a:cubicBezTo>
                    <a:pt x="2762" y="1381"/>
                    <a:pt x="2679" y="1012"/>
                    <a:pt x="2679" y="1012"/>
                  </a:cubicBezTo>
                  <a:cubicBezTo>
                    <a:pt x="2667" y="941"/>
                    <a:pt x="2608" y="881"/>
                    <a:pt x="2524" y="858"/>
                  </a:cubicBezTo>
                  <a:cubicBezTo>
                    <a:pt x="2515" y="856"/>
                    <a:pt x="2506" y="855"/>
                    <a:pt x="2497" y="855"/>
                  </a:cubicBezTo>
                  <a:cubicBezTo>
                    <a:pt x="2435" y="855"/>
                    <a:pt x="2375" y="889"/>
                    <a:pt x="2334" y="941"/>
                  </a:cubicBezTo>
                  <a:cubicBezTo>
                    <a:pt x="1977" y="1417"/>
                    <a:pt x="1191" y="1429"/>
                    <a:pt x="1179" y="1429"/>
                  </a:cubicBezTo>
                  <a:cubicBezTo>
                    <a:pt x="1143" y="1429"/>
                    <a:pt x="1131" y="1429"/>
                    <a:pt x="1119" y="1441"/>
                  </a:cubicBezTo>
                  <a:lnTo>
                    <a:pt x="1119" y="1322"/>
                  </a:lnTo>
                  <a:cubicBezTo>
                    <a:pt x="1119" y="822"/>
                    <a:pt x="1536" y="405"/>
                    <a:pt x="2036" y="405"/>
                  </a:cubicBezTo>
                  <a:close/>
                  <a:moveTo>
                    <a:pt x="976" y="1965"/>
                  </a:moveTo>
                  <a:lnTo>
                    <a:pt x="976" y="2215"/>
                  </a:lnTo>
                  <a:cubicBezTo>
                    <a:pt x="941" y="2191"/>
                    <a:pt x="905" y="2143"/>
                    <a:pt x="905" y="2084"/>
                  </a:cubicBezTo>
                  <a:cubicBezTo>
                    <a:pt x="905" y="2036"/>
                    <a:pt x="917" y="2012"/>
                    <a:pt x="953" y="1977"/>
                  </a:cubicBezTo>
                  <a:cubicBezTo>
                    <a:pt x="965" y="1977"/>
                    <a:pt x="965" y="1977"/>
                    <a:pt x="976" y="1965"/>
                  </a:cubicBezTo>
                  <a:close/>
                  <a:moveTo>
                    <a:pt x="3215" y="1977"/>
                  </a:moveTo>
                  <a:cubicBezTo>
                    <a:pt x="3239" y="2012"/>
                    <a:pt x="3251" y="2048"/>
                    <a:pt x="3251" y="2084"/>
                  </a:cubicBezTo>
                  <a:cubicBezTo>
                    <a:pt x="3251" y="2143"/>
                    <a:pt x="3227" y="2179"/>
                    <a:pt x="3191" y="2215"/>
                  </a:cubicBezTo>
                  <a:lnTo>
                    <a:pt x="3191" y="1977"/>
                  </a:lnTo>
                  <a:close/>
                  <a:moveTo>
                    <a:pt x="2441" y="1393"/>
                  </a:moveTo>
                  <a:cubicBezTo>
                    <a:pt x="2512" y="1536"/>
                    <a:pt x="2631" y="1679"/>
                    <a:pt x="2810" y="1750"/>
                  </a:cubicBezTo>
                  <a:lnTo>
                    <a:pt x="2810" y="2322"/>
                  </a:lnTo>
                  <a:cubicBezTo>
                    <a:pt x="2810" y="2679"/>
                    <a:pt x="2524" y="2941"/>
                    <a:pt x="2191" y="2941"/>
                  </a:cubicBezTo>
                  <a:lnTo>
                    <a:pt x="2012" y="2941"/>
                  </a:lnTo>
                  <a:cubicBezTo>
                    <a:pt x="1667" y="2941"/>
                    <a:pt x="1381" y="2667"/>
                    <a:pt x="1381" y="2322"/>
                  </a:cubicBezTo>
                  <a:lnTo>
                    <a:pt x="1381" y="1798"/>
                  </a:lnTo>
                  <a:cubicBezTo>
                    <a:pt x="1631" y="1774"/>
                    <a:pt x="2096" y="1679"/>
                    <a:pt x="2441" y="1393"/>
                  </a:cubicBezTo>
                  <a:close/>
                  <a:moveTo>
                    <a:pt x="2286" y="3346"/>
                  </a:moveTo>
                  <a:lnTo>
                    <a:pt x="2286" y="3453"/>
                  </a:lnTo>
                  <a:lnTo>
                    <a:pt x="2310" y="3453"/>
                  </a:lnTo>
                  <a:lnTo>
                    <a:pt x="2084" y="3679"/>
                  </a:lnTo>
                  <a:lnTo>
                    <a:pt x="1869" y="3477"/>
                  </a:lnTo>
                  <a:lnTo>
                    <a:pt x="1869" y="3346"/>
                  </a:lnTo>
                  <a:close/>
                  <a:moveTo>
                    <a:pt x="2048" y="0"/>
                  </a:moveTo>
                  <a:cubicBezTo>
                    <a:pt x="1322" y="0"/>
                    <a:pt x="726" y="596"/>
                    <a:pt x="726" y="1322"/>
                  </a:cubicBezTo>
                  <a:lnTo>
                    <a:pt x="726" y="1667"/>
                  </a:lnTo>
                  <a:cubicBezTo>
                    <a:pt x="607" y="1774"/>
                    <a:pt x="512" y="1917"/>
                    <a:pt x="512" y="2096"/>
                  </a:cubicBezTo>
                  <a:cubicBezTo>
                    <a:pt x="512" y="2393"/>
                    <a:pt x="738" y="2632"/>
                    <a:pt x="1036" y="2643"/>
                  </a:cubicBezTo>
                  <a:cubicBezTo>
                    <a:pt x="1107" y="2882"/>
                    <a:pt x="1274" y="3096"/>
                    <a:pt x="1500" y="3215"/>
                  </a:cubicBezTo>
                  <a:lnTo>
                    <a:pt x="1500" y="3322"/>
                  </a:lnTo>
                  <a:lnTo>
                    <a:pt x="691" y="3632"/>
                  </a:lnTo>
                  <a:cubicBezTo>
                    <a:pt x="619" y="3655"/>
                    <a:pt x="0" y="3917"/>
                    <a:pt x="0" y="4715"/>
                  </a:cubicBezTo>
                  <a:lnTo>
                    <a:pt x="0" y="5418"/>
                  </a:lnTo>
                  <a:cubicBezTo>
                    <a:pt x="0" y="5525"/>
                    <a:pt x="84" y="5608"/>
                    <a:pt x="191" y="5608"/>
                  </a:cubicBezTo>
                  <a:lnTo>
                    <a:pt x="691" y="5608"/>
                  </a:lnTo>
                  <a:cubicBezTo>
                    <a:pt x="798" y="5608"/>
                    <a:pt x="893" y="5525"/>
                    <a:pt x="893" y="5418"/>
                  </a:cubicBezTo>
                  <a:cubicBezTo>
                    <a:pt x="893" y="5310"/>
                    <a:pt x="798" y="5227"/>
                    <a:pt x="691" y="5227"/>
                  </a:cubicBezTo>
                  <a:lnTo>
                    <a:pt x="393" y="5227"/>
                  </a:lnTo>
                  <a:lnTo>
                    <a:pt x="393" y="4715"/>
                  </a:lnTo>
                  <a:cubicBezTo>
                    <a:pt x="393" y="4167"/>
                    <a:pt x="834" y="4013"/>
                    <a:pt x="846" y="4001"/>
                  </a:cubicBezTo>
                  <a:lnTo>
                    <a:pt x="857" y="4001"/>
                  </a:lnTo>
                  <a:lnTo>
                    <a:pt x="1608" y="3715"/>
                  </a:lnTo>
                  <a:lnTo>
                    <a:pt x="1989" y="4108"/>
                  </a:lnTo>
                  <a:cubicBezTo>
                    <a:pt x="2024" y="4132"/>
                    <a:pt x="2084" y="4167"/>
                    <a:pt x="2119" y="4167"/>
                  </a:cubicBezTo>
                  <a:cubicBezTo>
                    <a:pt x="2179" y="4167"/>
                    <a:pt x="2227" y="4132"/>
                    <a:pt x="2262" y="4108"/>
                  </a:cubicBezTo>
                  <a:lnTo>
                    <a:pt x="2631" y="3715"/>
                  </a:lnTo>
                  <a:lnTo>
                    <a:pt x="3370" y="4013"/>
                  </a:lnTo>
                  <a:lnTo>
                    <a:pt x="3393" y="4013"/>
                  </a:lnTo>
                  <a:cubicBezTo>
                    <a:pt x="3405" y="4013"/>
                    <a:pt x="3834" y="4179"/>
                    <a:pt x="3834" y="4727"/>
                  </a:cubicBezTo>
                  <a:lnTo>
                    <a:pt x="3834" y="5239"/>
                  </a:lnTo>
                  <a:lnTo>
                    <a:pt x="1334" y="5239"/>
                  </a:lnTo>
                  <a:cubicBezTo>
                    <a:pt x="1227" y="5239"/>
                    <a:pt x="1143" y="5322"/>
                    <a:pt x="1143" y="5430"/>
                  </a:cubicBezTo>
                  <a:cubicBezTo>
                    <a:pt x="1143" y="5537"/>
                    <a:pt x="1227" y="5620"/>
                    <a:pt x="1334" y="5620"/>
                  </a:cubicBezTo>
                  <a:lnTo>
                    <a:pt x="4048" y="5620"/>
                  </a:lnTo>
                  <a:cubicBezTo>
                    <a:pt x="4108" y="5608"/>
                    <a:pt x="4191" y="5525"/>
                    <a:pt x="4191" y="5418"/>
                  </a:cubicBezTo>
                  <a:lnTo>
                    <a:pt x="4191" y="4715"/>
                  </a:lnTo>
                  <a:cubicBezTo>
                    <a:pt x="4191" y="3917"/>
                    <a:pt x="3572" y="3655"/>
                    <a:pt x="3501" y="3632"/>
                  </a:cubicBezTo>
                  <a:lnTo>
                    <a:pt x="2703" y="3322"/>
                  </a:lnTo>
                  <a:lnTo>
                    <a:pt x="2703" y="3215"/>
                  </a:lnTo>
                  <a:cubicBezTo>
                    <a:pt x="2917" y="3096"/>
                    <a:pt x="3084" y="2882"/>
                    <a:pt x="3167" y="2643"/>
                  </a:cubicBezTo>
                  <a:cubicBezTo>
                    <a:pt x="3453" y="2620"/>
                    <a:pt x="3679" y="2382"/>
                    <a:pt x="3679" y="2096"/>
                  </a:cubicBezTo>
                  <a:cubicBezTo>
                    <a:pt x="3679" y="1917"/>
                    <a:pt x="3596" y="1774"/>
                    <a:pt x="3465" y="1667"/>
                  </a:cubicBezTo>
                  <a:lnTo>
                    <a:pt x="3465" y="1322"/>
                  </a:lnTo>
                  <a:cubicBezTo>
                    <a:pt x="3465" y="596"/>
                    <a:pt x="2870" y="0"/>
                    <a:pt x="2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6">
              <a:extLst>
                <a:ext uri="{FF2B5EF4-FFF2-40B4-BE49-F238E27FC236}">
                  <a16:creationId xmlns:a16="http://schemas.microsoft.com/office/drawing/2014/main" id="{255AD278-2B9B-8D21-AE30-4DD842C560AC}"/>
                </a:ext>
              </a:extLst>
            </p:cNvPr>
            <p:cNvSpPr/>
            <p:nvPr/>
          </p:nvSpPr>
          <p:spPr>
            <a:xfrm>
              <a:off x="7334245" y="2602600"/>
              <a:ext cx="134949" cy="179284"/>
            </a:xfrm>
            <a:custGeom>
              <a:avLst/>
              <a:gdLst/>
              <a:ahLst/>
              <a:cxnLst/>
              <a:rect l="l" t="t" r="r" b="b"/>
              <a:pathLst>
                <a:path w="4240" h="5633" extrusionOk="0">
                  <a:moveTo>
                    <a:pt x="2144" y="394"/>
                  </a:moveTo>
                  <a:cubicBezTo>
                    <a:pt x="2656" y="394"/>
                    <a:pt x="3073" y="810"/>
                    <a:pt x="3073" y="1311"/>
                  </a:cubicBezTo>
                  <a:lnTo>
                    <a:pt x="3073" y="1430"/>
                  </a:lnTo>
                  <a:lnTo>
                    <a:pt x="3049" y="1430"/>
                  </a:lnTo>
                  <a:cubicBezTo>
                    <a:pt x="2787" y="1370"/>
                    <a:pt x="2692" y="1001"/>
                    <a:pt x="2692" y="1001"/>
                  </a:cubicBezTo>
                  <a:cubicBezTo>
                    <a:pt x="2680" y="930"/>
                    <a:pt x="2620" y="870"/>
                    <a:pt x="2549" y="846"/>
                  </a:cubicBezTo>
                  <a:cubicBezTo>
                    <a:pt x="2539" y="845"/>
                    <a:pt x="2530" y="844"/>
                    <a:pt x="2521" y="844"/>
                  </a:cubicBezTo>
                  <a:cubicBezTo>
                    <a:pt x="2456" y="844"/>
                    <a:pt x="2389" y="878"/>
                    <a:pt x="2358" y="930"/>
                  </a:cubicBezTo>
                  <a:cubicBezTo>
                    <a:pt x="2001" y="1418"/>
                    <a:pt x="1203" y="1430"/>
                    <a:pt x="1191" y="1430"/>
                  </a:cubicBezTo>
                  <a:lnTo>
                    <a:pt x="1132" y="1430"/>
                  </a:lnTo>
                  <a:lnTo>
                    <a:pt x="1132" y="1311"/>
                  </a:lnTo>
                  <a:cubicBezTo>
                    <a:pt x="1132" y="810"/>
                    <a:pt x="1549" y="394"/>
                    <a:pt x="2061" y="394"/>
                  </a:cubicBezTo>
                  <a:close/>
                  <a:moveTo>
                    <a:pt x="3227" y="1965"/>
                  </a:moveTo>
                  <a:cubicBezTo>
                    <a:pt x="3263" y="2001"/>
                    <a:pt x="3275" y="2037"/>
                    <a:pt x="3275" y="2073"/>
                  </a:cubicBezTo>
                  <a:cubicBezTo>
                    <a:pt x="3275" y="2132"/>
                    <a:pt x="3251" y="2180"/>
                    <a:pt x="3215" y="2203"/>
                  </a:cubicBezTo>
                  <a:lnTo>
                    <a:pt x="3215" y="1965"/>
                  </a:lnTo>
                  <a:close/>
                  <a:moveTo>
                    <a:pt x="1001" y="1965"/>
                  </a:moveTo>
                  <a:lnTo>
                    <a:pt x="1001" y="2215"/>
                  </a:lnTo>
                  <a:cubicBezTo>
                    <a:pt x="953" y="2192"/>
                    <a:pt x="929" y="2144"/>
                    <a:pt x="929" y="2084"/>
                  </a:cubicBezTo>
                  <a:cubicBezTo>
                    <a:pt x="929" y="2037"/>
                    <a:pt x="941" y="2013"/>
                    <a:pt x="965" y="1977"/>
                  </a:cubicBezTo>
                  <a:cubicBezTo>
                    <a:pt x="989" y="1977"/>
                    <a:pt x="989" y="1977"/>
                    <a:pt x="1001" y="1965"/>
                  </a:cubicBezTo>
                  <a:close/>
                  <a:moveTo>
                    <a:pt x="2442" y="1406"/>
                  </a:moveTo>
                  <a:cubicBezTo>
                    <a:pt x="2513" y="1537"/>
                    <a:pt x="2632" y="1680"/>
                    <a:pt x="2811" y="1763"/>
                  </a:cubicBezTo>
                  <a:lnTo>
                    <a:pt x="2811" y="2323"/>
                  </a:lnTo>
                  <a:cubicBezTo>
                    <a:pt x="2834" y="2668"/>
                    <a:pt x="2549" y="2954"/>
                    <a:pt x="2191" y="2954"/>
                  </a:cubicBezTo>
                  <a:lnTo>
                    <a:pt x="2013" y="2954"/>
                  </a:lnTo>
                  <a:cubicBezTo>
                    <a:pt x="1668" y="2954"/>
                    <a:pt x="1382" y="2668"/>
                    <a:pt x="1382" y="2323"/>
                  </a:cubicBezTo>
                  <a:lnTo>
                    <a:pt x="1382" y="1799"/>
                  </a:lnTo>
                  <a:cubicBezTo>
                    <a:pt x="1644" y="1775"/>
                    <a:pt x="2084" y="1680"/>
                    <a:pt x="2442" y="1406"/>
                  </a:cubicBezTo>
                  <a:close/>
                  <a:moveTo>
                    <a:pt x="2311" y="3335"/>
                  </a:moveTo>
                  <a:lnTo>
                    <a:pt x="2322" y="3442"/>
                  </a:lnTo>
                  <a:lnTo>
                    <a:pt x="2096" y="3668"/>
                  </a:lnTo>
                  <a:lnTo>
                    <a:pt x="1894" y="3466"/>
                  </a:lnTo>
                  <a:lnTo>
                    <a:pt x="1894" y="3335"/>
                  </a:lnTo>
                  <a:close/>
                  <a:moveTo>
                    <a:pt x="2061" y="1"/>
                  </a:moveTo>
                  <a:cubicBezTo>
                    <a:pt x="1322" y="1"/>
                    <a:pt x="727" y="596"/>
                    <a:pt x="727" y="1322"/>
                  </a:cubicBezTo>
                  <a:lnTo>
                    <a:pt x="727" y="1668"/>
                  </a:lnTo>
                  <a:cubicBezTo>
                    <a:pt x="608" y="1775"/>
                    <a:pt x="525" y="1918"/>
                    <a:pt x="525" y="2096"/>
                  </a:cubicBezTo>
                  <a:cubicBezTo>
                    <a:pt x="525" y="2394"/>
                    <a:pt x="739" y="2632"/>
                    <a:pt x="1037" y="2656"/>
                  </a:cubicBezTo>
                  <a:cubicBezTo>
                    <a:pt x="1120" y="2894"/>
                    <a:pt x="1275" y="3096"/>
                    <a:pt x="1501" y="3216"/>
                  </a:cubicBezTo>
                  <a:lnTo>
                    <a:pt x="1501" y="3323"/>
                  </a:lnTo>
                  <a:lnTo>
                    <a:pt x="703" y="3632"/>
                  </a:lnTo>
                  <a:cubicBezTo>
                    <a:pt x="620" y="3668"/>
                    <a:pt x="1" y="3918"/>
                    <a:pt x="1" y="4716"/>
                  </a:cubicBezTo>
                  <a:lnTo>
                    <a:pt x="1" y="5418"/>
                  </a:lnTo>
                  <a:cubicBezTo>
                    <a:pt x="1" y="5525"/>
                    <a:pt x="84" y="5609"/>
                    <a:pt x="191" y="5609"/>
                  </a:cubicBezTo>
                  <a:lnTo>
                    <a:pt x="703" y="5609"/>
                  </a:lnTo>
                  <a:cubicBezTo>
                    <a:pt x="798" y="5609"/>
                    <a:pt x="894" y="5525"/>
                    <a:pt x="894" y="5418"/>
                  </a:cubicBezTo>
                  <a:cubicBezTo>
                    <a:pt x="894" y="5311"/>
                    <a:pt x="798" y="5228"/>
                    <a:pt x="703" y="5228"/>
                  </a:cubicBezTo>
                  <a:lnTo>
                    <a:pt x="406" y="5228"/>
                  </a:lnTo>
                  <a:lnTo>
                    <a:pt x="406" y="4716"/>
                  </a:lnTo>
                  <a:cubicBezTo>
                    <a:pt x="406" y="4168"/>
                    <a:pt x="834" y="4025"/>
                    <a:pt x="846" y="4001"/>
                  </a:cubicBezTo>
                  <a:lnTo>
                    <a:pt x="858" y="4001"/>
                  </a:lnTo>
                  <a:lnTo>
                    <a:pt x="1608" y="3727"/>
                  </a:lnTo>
                  <a:lnTo>
                    <a:pt x="1989" y="4108"/>
                  </a:lnTo>
                  <a:cubicBezTo>
                    <a:pt x="2025" y="4144"/>
                    <a:pt x="2084" y="4168"/>
                    <a:pt x="2132" y="4168"/>
                  </a:cubicBezTo>
                  <a:cubicBezTo>
                    <a:pt x="2191" y="4168"/>
                    <a:pt x="2227" y="4144"/>
                    <a:pt x="2263" y="4108"/>
                  </a:cubicBezTo>
                  <a:lnTo>
                    <a:pt x="2632" y="3727"/>
                  </a:lnTo>
                  <a:lnTo>
                    <a:pt x="3382" y="4025"/>
                  </a:lnTo>
                  <a:lnTo>
                    <a:pt x="3394" y="4025"/>
                  </a:lnTo>
                  <a:cubicBezTo>
                    <a:pt x="3406" y="4025"/>
                    <a:pt x="3835" y="4180"/>
                    <a:pt x="3835" y="4739"/>
                  </a:cubicBezTo>
                  <a:lnTo>
                    <a:pt x="3835" y="5240"/>
                  </a:lnTo>
                  <a:lnTo>
                    <a:pt x="1334" y="5240"/>
                  </a:lnTo>
                  <a:cubicBezTo>
                    <a:pt x="1239" y="5240"/>
                    <a:pt x="1144" y="5335"/>
                    <a:pt x="1144" y="5430"/>
                  </a:cubicBezTo>
                  <a:cubicBezTo>
                    <a:pt x="1144" y="5537"/>
                    <a:pt x="1239" y="5632"/>
                    <a:pt x="1334" y="5632"/>
                  </a:cubicBezTo>
                  <a:lnTo>
                    <a:pt x="4049" y="5632"/>
                  </a:lnTo>
                  <a:cubicBezTo>
                    <a:pt x="4156" y="5632"/>
                    <a:pt x="4239" y="5537"/>
                    <a:pt x="4239" y="5430"/>
                  </a:cubicBezTo>
                  <a:lnTo>
                    <a:pt x="4239" y="4739"/>
                  </a:lnTo>
                  <a:cubicBezTo>
                    <a:pt x="4204" y="3918"/>
                    <a:pt x="3573" y="3668"/>
                    <a:pt x="3501" y="3632"/>
                  </a:cubicBezTo>
                  <a:lnTo>
                    <a:pt x="2715" y="3323"/>
                  </a:lnTo>
                  <a:lnTo>
                    <a:pt x="2715" y="3216"/>
                  </a:lnTo>
                  <a:cubicBezTo>
                    <a:pt x="2918" y="3096"/>
                    <a:pt x="3084" y="2894"/>
                    <a:pt x="3168" y="2656"/>
                  </a:cubicBezTo>
                  <a:cubicBezTo>
                    <a:pt x="3454" y="2620"/>
                    <a:pt x="3680" y="2382"/>
                    <a:pt x="3680" y="2096"/>
                  </a:cubicBezTo>
                  <a:cubicBezTo>
                    <a:pt x="3680" y="1918"/>
                    <a:pt x="3608" y="1775"/>
                    <a:pt x="3465" y="1668"/>
                  </a:cubicBezTo>
                  <a:lnTo>
                    <a:pt x="3465" y="1322"/>
                  </a:lnTo>
                  <a:cubicBezTo>
                    <a:pt x="3465" y="596"/>
                    <a:pt x="2870" y="1"/>
                    <a:pt x="2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6">
              <a:extLst>
                <a:ext uri="{FF2B5EF4-FFF2-40B4-BE49-F238E27FC236}">
                  <a16:creationId xmlns:a16="http://schemas.microsoft.com/office/drawing/2014/main" id="{DF03C292-DF12-A95D-7807-35FB6CD7F306}"/>
                </a:ext>
              </a:extLst>
            </p:cNvPr>
            <p:cNvSpPr/>
            <p:nvPr/>
          </p:nvSpPr>
          <p:spPr>
            <a:xfrm>
              <a:off x="7070872" y="2602600"/>
              <a:ext cx="134949" cy="179284"/>
            </a:xfrm>
            <a:custGeom>
              <a:avLst/>
              <a:gdLst/>
              <a:ahLst/>
              <a:cxnLst/>
              <a:rect l="l" t="t" r="r" b="b"/>
              <a:pathLst>
                <a:path w="4240" h="5633" extrusionOk="0">
                  <a:moveTo>
                    <a:pt x="2144" y="394"/>
                  </a:moveTo>
                  <a:cubicBezTo>
                    <a:pt x="2656" y="394"/>
                    <a:pt x="3073" y="810"/>
                    <a:pt x="3073" y="1311"/>
                  </a:cubicBezTo>
                  <a:lnTo>
                    <a:pt x="3073" y="1430"/>
                  </a:lnTo>
                  <a:lnTo>
                    <a:pt x="3049" y="1430"/>
                  </a:lnTo>
                  <a:cubicBezTo>
                    <a:pt x="2787" y="1370"/>
                    <a:pt x="2692" y="1001"/>
                    <a:pt x="2692" y="1001"/>
                  </a:cubicBezTo>
                  <a:cubicBezTo>
                    <a:pt x="2680" y="930"/>
                    <a:pt x="2620" y="870"/>
                    <a:pt x="2549" y="846"/>
                  </a:cubicBezTo>
                  <a:cubicBezTo>
                    <a:pt x="2540" y="845"/>
                    <a:pt x="2530" y="844"/>
                    <a:pt x="2521" y="844"/>
                  </a:cubicBezTo>
                  <a:cubicBezTo>
                    <a:pt x="2457" y="844"/>
                    <a:pt x="2389" y="878"/>
                    <a:pt x="2358" y="930"/>
                  </a:cubicBezTo>
                  <a:cubicBezTo>
                    <a:pt x="2001" y="1418"/>
                    <a:pt x="1203" y="1430"/>
                    <a:pt x="1192" y="1430"/>
                  </a:cubicBezTo>
                  <a:lnTo>
                    <a:pt x="1132" y="1430"/>
                  </a:lnTo>
                  <a:lnTo>
                    <a:pt x="1132" y="1311"/>
                  </a:lnTo>
                  <a:cubicBezTo>
                    <a:pt x="1132" y="810"/>
                    <a:pt x="1549" y="394"/>
                    <a:pt x="2061" y="394"/>
                  </a:cubicBezTo>
                  <a:close/>
                  <a:moveTo>
                    <a:pt x="3227" y="1965"/>
                  </a:moveTo>
                  <a:cubicBezTo>
                    <a:pt x="3263" y="2001"/>
                    <a:pt x="3275" y="2037"/>
                    <a:pt x="3275" y="2073"/>
                  </a:cubicBezTo>
                  <a:cubicBezTo>
                    <a:pt x="3275" y="2132"/>
                    <a:pt x="3239" y="2180"/>
                    <a:pt x="3216" y="2203"/>
                  </a:cubicBezTo>
                  <a:lnTo>
                    <a:pt x="3216" y="1965"/>
                  </a:lnTo>
                  <a:close/>
                  <a:moveTo>
                    <a:pt x="1001" y="1965"/>
                  </a:moveTo>
                  <a:lnTo>
                    <a:pt x="1001" y="2215"/>
                  </a:lnTo>
                  <a:cubicBezTo>
                    <a:pt x="953" y="2192"/>
                    <a:pt x="930" y="2144"/>
                    <a:pt x="930" y="2084"/>
                  </a:cubicBezTo>
                  <a:cubicBezTo>
                    <a:pt x="930" y="2037"/>
                    <a:pt x="941" y="2013"/>
                    <a:pt x="965" y="1977"/>
                  </a:cubicBezTo>
                  <a:cubicBezTo>
                    <a:pt x="989" y="1977"/>
                    <a:pt x="989" y="1977"/>
                    <a:pt x="1001" y="1965"/>
                  </a:cubicBezTo>
                  <a:close/>
                  <a:moveTo>
                    <a:pt x="2454" y="1406"/>
                  </a:moveTo>
                  <a:cubicBezTo>
                    <a:pt x="2525" y="1537"/>
                    <a:pt x="2644" y="1680"/>
                    <a:pt x="2823" y="1763"/>
                  </a:cubicBezTo>
                  <a:lnTo>
                    <a:pt x="2823" y="2323"/>
                  </a:lnTo>
                  <a:cubicBezTo>
                    <a:pt x="2835" y="2668"/>
                    <a:pt x="2549" y="2954"/>
                    <a:pt x="2204" y="2954"/>
                  </a:cubicBezTo>
                  <a:lnTo>
                    <a:pt x="2025" y="2954"/>
                  </a:lnTo>
                  <a:cubicBezTo>
                    <a:pt x="1680" y="2954"/>
                    <a:pt x="1406" y="2668"/>
                    <a:pt x="1406" y="2323"/>
                  </a:cubicBezTo>
                  <a:lnTo>
                    <a:pt x="1406" y="1799"/>
                  </a:lnTo>
                  <a:cubicBezTo>
                    <a:pt x="1656" y="1775"/>
                    <a:pt x="2120" y="1680"/>
                    <a:pt x="2454" y="1406"/>
                  </a:cubicBezTo>
                  <a:close/>
                  <a:moveTo>
                    <a:pt x="2311" y="3335"/>
                  </a:moveTo>
                  <a:lnTo>
                    <a:pt x="2323" y="3442"/>
                  </a:lnTo>
                  <a:lnTo>
                    <a:pt x="2096" y="3668"/>
                  </a:lnTo>
                  <a:lnTo>
                    <a:pt x="1894" y="3466"/>
                  </a:lnTo>
                  <a:lnTo>
                    <a:pt x="1894" y="3335"/>
                  </a:lnTo>
                  <a:close/>
                  <a:moveTo>
                    <a:pt x="2061" y="1"/>
                  </a:moveTo>
                  <a:cubicBezTo>
                    <a:pt x="1322" y="1"/>
                    <a:pt x="727" y="596"/>
                    <a:pt x="727" y="1322"/>
                  </a:cubicBezTo>
                  <a:lnTo>
                    <a:pt x="727" y="1668"/>
                  </a:lnTo>
                  <a:cubicBezTo>
                    <a:pt x="608" y="1775"/>
                    <a:pt x="525" y="1918"/>
                    <a:pt x="525" y="2096"/>
                  </a:cubicBezTo>
                  <a:cubicBezTo>
                    <a:pt x="525" y="2394"/>
                    <a:pt x="739" y="2632"/>
                    <a:pt x="1037" y="2656"/>
                  </a:cubicBezTo>
                  <a:cubicBezTo>
                    <a:pt x="1120" y="2894"/>
                    <a:pt x="1275" y="3096"/>
                    <a:pt x="1501" y="3216"/>
                  </a:cubicBezTo>
                  <a:lnTo>
                    <a:pt x="1501" y="3323"/>
                  </a:lnTo>
                  <a:lnTo>
                    <a:pt x="703" y="3632"/>
                  </a:lnTo>
                  <a:cubicBezTo>
                    <a:pt x="620" y="3668"/>
                    <a:pt x="1" y="3918"/>
                    <a:pt x="1" y="4716"/>
                  </a:cubicBezTo>
                  <a:lnTo>
                    <a:pt x="1" y="5418"/>
                  </a:lnTo>
                  <a:cubicBezTo>
                    <a:pt x="1" y="5525"/>
                    <a:pt x="84" y="5609"/>
                    <a:pt x="191" y="5609"/>
                  </a:cubicBezTo>
                  <a:lnTo>
                    <a:pt x="703" y="5609"/>
                  </a:lnTo>
                  <a:cubicBezTo>
                    <a:pt x="799" y="5609"/>
                    <a:pt x="894" y="5525"/>
                    <a:pt x="894" y="5418"/>
                  </a:cubicBezTo>
                  <a:cubicBezTo>
                    <a:pt x="894" y="5311"/>
                    <a:pt x="799" y="5228"/>
                    <a:pt x="703" y="5228"/>
                  </a:cubicBezTo>
                  <a:lnTo>
                    <a:pt x="406" y="5228"/>
                  </a:lnTo>
                  <a:lnTo>
                    <a:pt x="406" y="4716"/>
                  </a:lnTo>
                  <a:cubicBezTo>
                    <a:pt x="406" y="4168"/>
                    <a:pt x="834" y="4025"/>
                    <a:pt x="846" y="4001"/>
                  </a:cubicBezTo>
                  <a:lnTo>
                    <a:pt x="858" y="4001"/>
                  </a:lnTo>
                  <a:lnTo>
                    <a:pt x="1608" y="3727"/>
                  </a:lnTo>
                  <a:lnTo>
                    <a:pt x="1989" y="4108"/>
                  </a:lnTo>
                  <a:cubicBezTo>
                    <a:pt x="2025" y="4144"/>
                    <a:pt x="2084" y="4168"/>
                    <a:pt x="2132" y="4168"/>
                  </a:cubicBezTo>
                  <a:cubicBezTo>
                    <a:pt x="2192" y="4168"/>
                    <a:pt x="2227" y="4144"/>
                    <a:pt x="2263" y="4108"/>
                  </a:cubicBezTo>
                  <a:lnTo>
                    <a:pt x="2632" y="3727"/>
                  </a:lnTo>
                  <a:lnTo>
                    <a:pt x="3382" y="4025"/>
                  </a:lnTo>
                  <a:lnTo>
                    <a:pt x="3394" y="4025"/>
                  </a:lnTo>
                  <a:cubicBezTo>
                    <a:pt x="3406" y="4025"/>
                    <a:pt x="3835" y="4180"/>
                    <a:pt x="3835" y="4739"/>
                  </a:cubicBezTo>
                  <a:lnTo>
                    <a:pt x="3835" y="5240"/>
                  </a:lnTo>
                  <a:lnTo>
                    <a:pt x="1334" y="5240"/>
                  </a:lnTo>
                  <a:cubicBezTo>
                    <a:pt x="1239" y="5240"/>
                    <a:pt x="1144" y="5335"/>
                    <a:pt x="1144" y="5430"/>
                  </a:cubicBezTo>
                  <a:cubicBezTo>
                    <a:pt x="1144" y="5537"/>
                    <a:pt x="1239" y="5632"/>
                    <a:pt x="1334" y="5632"/>
                  </a:cubicBezTo>
                  <a:lnTo>
                    <a:pt x="4049" y="5632"/>
                  </a:lnTo>
                  <a:cubicBezTo>
                    <a:pt x="4156" y="5632"/>
                    <a:pt x="4240" y="5537"/>
                    <a:pt x="4240" y="5430"/>
                  </a:cubicBezTo>
                  <a:lnTo>
                    <a:pt x="4240" y="4739"/>
                  </a:lnTo>
                  <a:cubicBezTo>
                    <a:pt x="4216" y="3918"/>
                    <a:pt x="3573" y="3668"/>
                    <a:pt x="3501" y="3632"/>
                  </a:cubicBezTo>
                  <a:lnTo>
                    <a:pt x="2716" y="3323"/>
                  </a:lnTo>
                  <a:lnTo>
                    <a:pt x="2716" y="3216"/>
                  </a:lnTo>
                  <a:cubicBezTo>
                    <a:pt x="2918" y="3096"/>
                    <a:pt x="3085" y="2894"/>
                    <a:pt x="3168" y="2656"/>
                  </a:cubicBezTo>
                  <a:cubicBezTo>
                    <a:pt x="3454" y="2620"/>
                    <a:pt x="3680" y="2382"/>
                    <a:pt x="3680" y="2096"/>
                  </a:cubicBezTo>
                  <a:cubicBezTo>
                    <a:pt x="3680" y="1918"/>
                    <a:pt x="3608" y="1775"/>
                    <a:pt x="3466" y="1668"/>
                  </a:cubicBezTo>
                  <a:lnTo>
                    <a:pt x="3466" y="1322"/>
                  </a:lnTo>
                  <a:cubicBezTo>
                    <a:pt x="3466" y="596"/>
                    <a:pt x="2870" y="1"/>
                    <a:pt x="2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36">
            <a:extLst>
              <a:ext uri="{FF2B5EF4-FFF2-40B4-BE49-F238E27FC236}">
                <a16:creationId xmlns:a16="http://schemas.microsoft.com/office/drawing/2014/main" id="{9EAEAD32-9304-CFAB-DC5A-9477EAA8B477}"/>
              </a:ext>
            </a:extLst>
          </p:cNvPr>
          <p:cNvGrpSpPr/>
          <p:nvPr/>
        </p:nvGrpSpPr>
        <p:grpSpPr>
          <a:xfrm>
            <a:off x="2245564" y="3289904"/>
            <a:ext cx="268191" cy="268139"/>
            <a:chOff x="2687993" y="2748610"/>
            <a:chExt cx="541034" cy="540929"/>
          </a:xfrm>
        </p:grpSpPr>
        <p:sp>
          <p:nvSpPr>
            <p:cNvPr id="320" name="Google Shape;320;p36">
              <a:extLst>
                <a:ext uri="{FF2B5EF4-FFF2-40B4-BE49-F238E27FC236}">
                  <a16:creationId xmlns:a16="http://schemas.microsoft.com/office/drawing/2014/main" id="{98A8EEB8-9EA3-E7EB-A303-4A32B80C89F9}"/>
                </a:ext>
              </a:extLst>
            </p:cNvPr>
            <p:cNvSpPr/>
            <p:nvPr/>
          </p:nvSpPr>
          <p:spPr>
            <a:xfrm>
              <a:off x="2687993" y="2918029"/>
              <a:ext cx="303764" cy="371510"/>
            </a:xfrm>
            <a:custGeom>
              <a:avLst/>
              <a:gdLst/>
              <a:ahLst/>
              <a:cxnLst/>
              <a:rect l="l" t="t" r="r" b="b"/>
              <a:pathLst>
                <a:path w="303764" h="371510" extrusionOk="0">
                  <a:moveTo>
                    <a:pt x="275267" y="246769"/>
                  </a:moveTo>
                  <a:lnTo>
                    <a:pt x="221612" y="228867"/>
                  </a:lnTo>
                  <a:lnTo>
                    <a:pt x="214410" y="219316"/>
                  </a:lnTo>
                  <a:cubicBezTo>
                    <a:pt x="211748" y="215766"/>
                    <a:pt x="207624" y="213418"/>
                    <a:pt x="203188" y="212844"/>
                  </a:cubicBezTo>
                  <a:cubicBezTo>
                    <a:pt x="202927" y="212844"/>
                    <a:pt x="202666" y="212844"/>
                    <a:pt x="202457" y="212844"/>
                  </a:cubicBezTo>
                  <a:cubicBezTo>
                    <a:pt x="202301" y="211852"/>
                    <a:pt x="202196" y="210860"/>
                    <a:pt x="202196" y="209816"/>
                  </a:cubicBezTo>
                  <a:lnTo>
                    <a:pt x="202196" y="185755"/>
                  </a:lnTo>
                  <a:cubicBezTo>
                    <a:pt x="202196" y="185755"/>
                    <a:pt x="202196" y="185547"/>
                    <a:pt x="202196" y="185442"/>
                  </a:cubicBezTo>
                  <a:cubicBezTo>
                    <a:pt x="222761" y="170097"/>
                    <a:pt x="236070" y="145567"/>
                    <a:pt x="236070" y="118009"/>
                  </a:cubicBezTo>
                  <a:lnTo>
                    <a:pt x="236070" y="105639"/>
                  </a:lnTo>
                  <a:cubicBezTo>
                    <a:pt x="237009" y="105117"/>
                    <a:pt x="237897" y="104491"/>
                    <a:pt x="238732" y="103812"/>
                  </a:cubicBezTo>
                  <a:cubicBezTo>
                    <a:pt x="242437" y="100681"/>
                    <a:pt x="244525" y="96088"/>
                    <a:pt x="244525" y="91286"/>
                  </a:cubicBezTo>
                  <a:lnTo>
                    <a:pt x="244525" y="58717"/>
                  </a:lnTo>
                  <a:cubicBezTo>
                    <a:pt x="244525" y="26305"/>
                    <a:pt x="218167" y="0"/>
                    <a:pt x="185808" y="0"/>
                  </a:cubicBezTo>
                  <a:lnTo>
                    <a:pt x="109606" y="0"/>
                  </a:lnTo>
                  <a:cubicBezTo>
                    <a:pt x="81891" y="0"/>
                    <a:pt x="59344" y="22547"/>
                    <a:pt x="59344" y="50262"/>
                  </a:cubicBezTo>
                  <a:lnTo>
                    <a:pt x="59344" y="82987"/>
                  </a:lnTo>
                  <a:cubicBezTo>
                    <a:pt x="59344" y="89042"/>
                    <a:pt x="62580" y="94470"/>
                    <a:pt x="67799" y="97340"/>
                  </a:cubicBezTo>
                  <a:lnTo>
                    <a:pt x="67799" y="118009"/>
                  </a:lnTo>
                  <a:cubicBezTo>
                    <a:pt x="67799" y="145567"/>
                    <a:pt x="81108" y="170097"/>
                    <a:pt x="101672" y="185442"/>
                  </a:cubicBezTo>
                  <a:cubicBezTo>
                    <a:pt x="101672" y="185547"/>
                    <a:pt x="101672" y="185651"/>
                    <a:pt x="101672" y="185755"/>
                  </a:cubicBezTo>
                  <a:lnTo>
                    <a:pt x="101672" y="209816"/>
                  </a:lnTo>
                  <a:cubicBezTo>
                    <a:pt x="101672" y="210808"/>
                    <a:pt x="101568" y="211852"/>
                    <a:pt x="101411" y="212844"/>
                  </a:cubicBezTo>
                  <a:cubicBezTo>
                    <a:pt x="101150" y="212844"/>
                    <a:pt x="100889" y="212844"/>
                    <a:pt x="100681" y="212844"/>
                  </a:cubicBezTo>
                  <a:cubicBezTo>
                    <a:pt x="96244" y="213366"/>
                    <a:pt x="92173" y="215714"/>
                    <a:pt x="89459" y="219263"/>
                  </a:cubicBezTo>
                  <a:lnTo>
                    <a:pt x="82256" y="228815"/>
                  </a:lnTo>
                  <a:lnTo>
                    <a:pt x="28602" y="246717"/>
                  </a:lnTo>
                  <a:cubicBezTo>
                    <a:pt x="11483" y="252406"/>
                    <a:pt x="0" y="268377"/>
                    <a:pt x="0" y="286384"/>
                  </a:cubicBezTo>
                  <a:lnTo>
                    <a:pt x="0" y="363577"/>
                  </a:lnTo>
                  <a:cubicBezTo>
                    <a:pt x="0" y="367962"/>
                    <a:pt x="3549" y="371511"/>
                    <a:pt x="7933" y="371511"/>
                  </a:cubicBezTo>
                  <a:cubicBezTo>
                    <a:pt x="12318" y="371511"/>
                    <a:pt x="15867" y="367962"/>
                    <a:pt x="15867" y="363577"/>
                  </a:cubicBezTo>
                  <a:lnTo>
                    <a:pt x="15867" y="286384"/>
                  </a:lnTo>
                  <a:cubicBezTo>
                    <a:pt x="15867" y="275214"/>
                    <a:pt x="23017" y="265298"/>
                    <a:pt x="33612" y="261749"/>
                  </a:cubicBezTo>
                  <a:lnTo>
                    <a:pt x="67799" y="250371"/>
                  </a:lnTo>
                  <a:cubicBezTo>
                    <a:pt x="67695" y="252406"/>
                    <a:pt x="68373" y="254494"/>
                    <a:pt x="69782" y="256112"/>
                  </a:cubicBezTo>
                  <a:lnTo>
                    <a:pt x="89198" y="277615"/>
                  </a:lnTo>
                  <a:cubicBezTo>
                    <a:pt x="92173" y="280956"/>
                    <a:pt x="96453" y="282887"/>
                    <a:pt x="100942" y="282991"/>
                  </a:cubicBezTo>
                  <a:cubicBezTo>
                    <a:pt x="101098" y="282991"/>
                    <a:pt x="101203" y="282991"/>
                    <a:pt x="101359" y="282991"/>
                  </a:cubicBezTo>
                  <a:cubicBezTo>
                    <a:pt x="105691" y="282991"/>
                    <a:pt x="109867" y="281269"/>
                    <a:pt x="112946" y="278189"/>
                  </a:cubicBezTo>
                  <a:lnTo>
                    <a:pt x="131475" y="259661"/>
                  </a:lnTo>
                  <a:lnTo>
                    <a:pt x="143949" y="297083"/>
                  </a:lnTo>
                  <a:lnTo>
                    <a:pt x="143949" y="363577"/>
                  </a:lnTo>
                  <a:cubicBezTo>
                    <a:pt x="143949" y="367962"/>
                    <a:pt x="147498" y="371511"/>
                    <a:pt x="151882" y="371511"/>
                  </a:cubicBezTo>
                  <a:cubicBezTo>
                    <a:pt x="156266" y="371511"/>
                    <a:pt x="159816" y="367962"/>
                    <a:pt x="159816" y="363577"/>
                  </a:cubicBezTo>
                  <a:lnTo>
                    <a:pt x="159816" y="297083"/>
                  </a:lnTo>
                  <a:lnTo>
                    <a:pt x="172290" y="259661"/>
                  </a:lnTo>
                  <a:lnTo>
                    <a:pt x="190818" y="278189"/>
                  </a:lnTo>
                  <a:cubicBezTo>
                    <a:pt x="193898" y="281269"/>
                    <a:pt x="198073" y="282991"/>
                    <a:pt x="202405" y="282991"/>
                  </a:cubicBezTo>
                  <a:cubicBezTo>
                    <a:pt x="202562" y="282991"/>
                    <a:pt x="202666" y="282991"/>
                    <a:pt x="202823" y="282991"/>
                  </a:cubicBezTo>
                  <a:cubicBezTo>
                    <a:pt x="207311" y="282887"/>
                    <a:pt x="211591" y="280904"/>
                    <a:pt x="214566" y="277615"/>
                  </a:cubicBezTo>
                  <a:lnTo>
                    <a:pt x="233982" y="256112"/>
                  </a:lnTo>
                  <a:cubicBezTo>
                    <a:pt x="235443" y="254494"/>
                    <a:pt x="236122" y="252406"/>
                    <a:pt x="235965" y="250371"/>
                  </a:cubicBezTo>
                  <a:lnTo>
                    <a:pt x="270152" y="261749"/>
                  </a:lnTo>
                  <a:cubicBezTo>
                    <a:pt x="280747" y="265298"/>
                    <a:pt x="287898" y="275162"/>
                    <a:pt x="287898" y="286384"/>
                  </a:cubicBezTo>
                  <a:lnTo>
                    <a:pt x="287898" y="363577"/>
                  </a:lnTo>
                  <a:cubicBezTo>
                    <a:pt x="287898" y="367962"/>
                    <a:pt x="291447" y="371511"/>
                    <a:pt x="295831" y="371511"/>
                  </a:cubicBezTo>
                  <a:cubicBezTo>
                    <a:pt x="300215" y="371511"/>
                    <a:pt x="303764" y="367962"/>
                    <a:pt x="303764" y="363577"/>
                  </a:cubicBezTo>
                  <a:lnTo>
                    <a:pt x="303764" y="286384"/>
                  </a:lnTo>
                  <a:cubicBezTo>
                    <a:pt x="303764" y="268377"/>
                    <a:pt x="292282" y="252406"/>
                    <a:pt x="275162" y="246717"/>
                  </a:cubicBezTo>
                  <a:lnTo>
                    <a:pt x="275162" y="246717"/>
                  </a:lnTo>
                  <a:close/>
                  <a:moveTo>
                    <a:pt x="83613" y="118009"/>
                  </a:moveTo>
                  <a:lnTo>
                    <a:pt x="83613" y="97340"/>
                  </a:lnTo>
                  <a:cubicBezTo>
                    <a:pt x="84501" y="96818"/>
                    <a:pt x="85388" y="96244"/>
                    <a:pt x="86171" y="95566"/>
                  </a:cubicBezTo>
                  <a:lnTo>
                    <a:pt x="118687" y="68477"/>
                  </a:lnTo>
                  <a:cubicBezTo>
                    <a:pt x="127560" y="73801"/>
                    <a:pt x="147550" y="84814"/>
                    <a:pt x="174691" y="94365"/>
                  </a:cubicBezTo>
                  <a:cubicBezTo>
                    <a:pt x="178814" y="95827"/>
                    <a:pt x="183355" y="93635"/>
                    <a:pt x="184816" y="89511"/>
                  </a:cubicBezTo>
                  <a:cubicBezTo>
                    <a:pt x="186277" y="85388"/>
                    <a:pt x="184085" y="80847"/>
                    <a:pt x="179962" y="79386"/>
                  </a:cubicBezTo>
                  <a:cubicBezTo>
                    <a:pt x="145410" y="67277"/>
                    <a:pt x="122654" y="52245"/>
                    <a:pt x="122445" y="52089"/>
                  </a:cubicBezTo>
                  <a:cubicBezTo>
                    <a:pt x="119522" y="50158"/>
                    <a:pt x="115660" y="50366"/>
                    <a:pt x="112998" y="52611"/>
                  </a:cubicBezTo>
                  <a:lnTo>
                    <a:pt x="76098" y="83405"/>
                  </a:lnTo>
                  <a:cubicBezTo>
                    <a:pt x="76098" y="83405"/>
                    <a:pt x="75837" y="83613"/>
                    <a:pt x="75524" y="83457"/>
                  </a:cubicBezTo>
                  <a:cubicBezTo>
                    <a:pt x="75210" y="83300"/>
                    <a:pt x="75210" y="83144"/>
                    <a:pt x="75210" y="82987"/>
                  </a:cubicBezTo>
                  <a:lnTo>
                    <a:pt x="75210" y="50262"/>
                  </a:lnTo>
                  <a:cubicBezTo>
                    <a:pt x="75210" y="31264"/>
                    <a:pt x="90660" y="15815"/>
                    <a:pt x="109658" y="15815"/>
                  </a:cubicBezTo>
                  <a:lnTo>
                    <a:pt x="185860" y="15815"/>
                  </a:lnTo>
                  <a:cubicBezTo>
                    <a:pt x="209503" y="15815"/>
                    <a:pt x="228763" y="35074"/>
                    <a:pt x="228763" y="58717"/>
                  </a:cubicBezTo>
                  <a:lnTo>
                    <a:pt x="228763" y="91286"/>
                  </a:lnTo>
                  <a:cubicBezTo>
                    <a:pt x="228763" y="91286"/>
                    <a:pt x="228658" y="91651"/>
                    <a:pt x="228554" y="91756"/>
                  </a:cubicBezTo>
                  <a:cubicBezTo>
                    <a:pt x="228397" y="91860"/>
                    <a:pt x="228345" y="91860"/>
                    <a:pt x="228293" y="91860"/>
                  </a:cubicBezTo>
                  <a:cubicBezTo>
                    <a:pt x="223230" y="91025"/>
                    <a:pt x="218115" y="90033"/>
                    <a:pt x="213053" y="88885"/>
                  </a:cubicBezTo>
                  <a:cubicBezTo>
                    <a:pt x="208773" y="87945"/>
                    <a:pt x="204545" y="90607"/>
                    <a:pt x="203606" y="94887"/>
                  </a:cubicBezTo>
                  <a:cubicBezTo>
                    <a:pt x="202666" y="99167"/>
                    <a:pt x="205328" y="103395"/>
                    <a:pt x="209608" y="104334"/>
                  </a:cubicBezTo>
                  <a:cubicBezTo>
                    <a:pt x="213157" y="105117"/>
                    <a:pt x="216758" y="105848"/>
                    <a:pt x="220360" y="106526"/>
                  </a:cubicBezTo>
                  <a:lnTo>
                    <a:pt x="220360" y="118009"/>
                  </a:lnTo>
                  <a:cubicBezTo>
                    <a:pt x="220360" y="155692"/>
                    <a:pt x="189722" y="186330"/>
                    <a:pt x="152039" y="186330"/>
                  </a:cubicBezTo>
                  <a:cubicBezTo>
                    <a:pt x="114355" y="186330"/>
                    <a:pt x="83718" y="155692"/>
                    <a:pt x="83718" y="118009"/>
                  </a:cubicBezTo>
                  <a:close/>
                  <a:moveTo>
                    <a:pt x="151934" y="202144"/>
                  </a:moveTo>
                  <a:cubicBezTo>
                    <a:pt x="164200" y="202144"/>
                    <a:pt x="175839" y="199482"/>
                    <a:pt x="186382" y="194733"/>
                  </a:cubicBezTo>
                  <a:lnTo>
                    <a:pt x="186382" y="209764"/>
                  </a:lnTo>
                  <a:cubicBezTo>
                    <a:pt x="186382" y="212948"/>
                    <a:pt x="186852" y="216080"/>
                    <a:pt x="187739" y="219107"/>
                  </a:cubicBezTo>
                  <a:lnTo>
                    <a:pt x="163834" y="238940"/>
                  </a:lnTo>
                  <a:cubicBezTo>
                    <a:pt x="162686" y="239880"/>
                    <a:pt x="161851" y="241132"/>
                    <a:pt x="161381" y="242542"/>
                  </a:cubicBezTo>
                  <a:lnTo>
                    <a:pt x="161381" y="242542"/>
                  </a:lnTo>
                  <a:cubicBezTo>
                    <a:pt x="161381" y="242542"/>
                    <a:pt x="151934" y="270778"/>
                    <a:pt x="151934" y="270778"/>
                  </a:cubicBezTo>
                  <a:lnTo>
                    <a:pt x="142487" y="242489"/>
                  </a:lnTo>
                  <a:lnTo>
                    <a:pt x="142487" y="242489"/>
                  </a:lnTo>
                  <a:cubicBezTo>
                    <a:pt x="142018" y="241080"/>
                    <a:pt x="141183" y="239828"/>
                    <a:pt x="140034" y="238888"/>
                  </a:cubicBezTo>
                  <a:lnTo>
                    <a:pt x="116130" y="219055"/>
                  </a:lnTo>
                  <a:cubicBezTo>
                    <a:pt x="117017" y="216027"/>
                    <a:pt x="117487" y="212896"/>
                    <a:pt x="117487" y="209712"/>
                  </a:cubicBezTo>
                  <a:lnTo>
                    <a:pt x="117487" y="194680"/>
                  </a:lnTo>
                  <a:cubicBezTo>
                    <a:pt x="128030" y="199430"/>
                    <a:pt x="139669" y="202092"/>
                    <a:pt x="151934" y="202092"/>
                  </a:cubicBezTo>
                  <a:close/>
                  <a:moveTo>
                    <a:pt x="101829" y="267020"/>
                  </a:moveTo>
                  <a:cubicBezTo>
                    <a:pt x="101829" y="267020"/>
                    <a:pt x="101672" y="267177"/>
                    <a:pt x="101411" y="267177"/>
                  </a:cubicBezTo>
                  <a:cubicBezTo>
                    <a:pt x="101203" y="267177"/>
                    <a:pt x="101046" y="267020"/>
                    <a:pt x="101046" y="267020"/>
                  </a:cubicBezTo>
                  <a:lnTo>
                    <a:pt x="85962" y="250371"/>
                  </a:lnTo>
                  <a:lnTo>
                    <a:pt x="102090" y="228815"/>
                  </a:lnTo>
                  <a:cubicBezTo>
                    <a:pt x="102090" y="228815"/>
                    <a:pt x="102246" y="228606"/>
                    <a:pt x="102455" y="228606"/>
                  </a:cubicBezTo>
                  <a:cubicBezTo>
                    <a:pt x="102716" y="228606"/>
                    <a:pt x="102821" y="228710"/>
                    <a:pt x="102873" y="228710"/>
                  </a:cubicBezTo>
                  <a:lnTo>
                    <a:pt x="123228" y="245569"/>
                  </a:lnTo>
                  <a:lnTo>
                    <a:pt x="101777" y="267020"/>
                  </a:lnTo>
                  <a:close/>
                  <a:moveTo>
                    <a:pt x="202875" y="267020"/>
                  </a:moveTo>
                  <a:cubicBezTo>
                    <a:pt x="202875" y="267020"/>
                    <a:pt x="202718" y="267177"/>
                    <a:pt x="202510" y="267177"/>
                  </a:cubicBezTo>
                  <a:cubicBezTo>
                    <a:pt x="202301" y="267177"/>
                    <a:pt x="202144" y="267072"/>
                    <a:pt x="202092" y="267020"/>
                  </a:cubicBezTo>
                  <a:lnTo>
                    <a:pt x="180641" y="245569"/>
                  </a:lnTo>
                  <a:lnTo>
                    <a:pt x="200996" y="228710"/>
                  </a:lnTo>
                  <a:cubicBezTo>
                    <a:pt x="200996" y="228710"/>
                    <a:pt x="201153" y="228554"/>
                    <a:pt x="201413" y="228606"/>
                  </a:cubicBezTo>
                  <a:cubicBezTo>
                    <a:pt x="201622" y="228606"/>
                    <a:pt x="201727" y="228763"/>
                    <a:pt x="201779" y="228815"/>
                  </a:cubicBezTo>
                  <a:lnTo>
                    <a:pt x="217907" y="250371"/>
                  </a:lnTo>
                  <a:lnTo>
                    <a:pt x="202823" y="267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36">
              <a:extLst>
                <a:ext uri="{FF2B5EF4-FFF2-40B4-BE49-F238E27FC236}">
                  <a16:creationId xmlns:a16="http://schemas.microsoft.com/office/drawing/2014/main" id="{1B3D2822-CCB8-9DBA-C9BF-57DE48FE31A6}"/>
                </a:ext>
              </a:extLst>
            </p:cNvPr>
            <p:cNvSpPr/>
            <p:nvPr/>
          </p:nvSpPr>
          <p:spPr>
            <a:xfrm>
              <a:off x="3009921" y="2748610"/>
              <a:ext cx="219106" cy="219106"/>
            </a:xfrm>
            <a:custGeom>
              <a:avLst/>
              <a:gdLst/>
              <a:ahLst/>
              <a:cxnLst/>
              <a:rect l="l" t="t" r="r" b="b"/>
              <a:pathLst>
                <a:path w="219106" h="219106" extrusionOk="0">
                  <a:moveTo>
                    <a:pt x="109553" y="0"/>
                  </a:moveTo>
                  <a:cubicBezTo>
                    <a:pt x="49166" y="0"/>
                    <a:pt x="0" y="49166"/>
                    <a:pt x="0" y="109553"/>
                  </a:cubicBezTo>
                  <a:cubicBezTo>
                    <a:pt x="0" y="169941"/>
                    <a:pt x="49166" y="219107"/>
                    <a:pt x="109553" y="219107"/>
                  </a:cubicBezTo>
                  <a:cubicBezTo>
                    <a:pt x="169941" y="219107"/>
                    <a:pt x="219107" y="169941"/>
                    <a:pt x="219107" y="109553"/>
                  </a:cubicBezTo>
                  <a:cubicBezTo>
                    <a:pt x="219107" y="49166"/>
                    <a:pt x="169941" y="0"/>
                    <a:pt x="109553" y="0"/>
                  </a:cubicBezTo>
                  <a:close/>
                  <a:moveTo>
                    <a:pt x="109553" y="203292"/>
                  </a:moveTo>
                  <a:cubicBezTo>
                    <a:pt x="57882" y="203292"/>
                    <a:pt x="15867" y="161277"/>
                    <a:pt x="15867" y="109606"/>
                  </a:cubicBezTo>
                  <a:cubicBezTo>
                    <a:pt x="15867" y="57934"/>
                    <a:pt x="57882" y="15919"/>
                    <a:pt x="109553" y="15919"/>
                  </a:cubicBezTo>
                  <a:cubicBezTo>
                    <a:pt x="161225" y="15919"/>
                    <a:pt x="203240" y="57934"/>
                    <a:pt x="203240" y="109606"/>
                  </a:cubicBezTo>
                  <a:cubicBezTo>
                    <a:pt x="203240" y="161277"/>
                    <a:pt x="161225" y="203292"/>
                    <a:pt x="109553" y="203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36">
              <a:extLst>
                <a:ext uri="{FF2B5EF4-FFF2-40B4-BE49-F238E27FC236}">
                  <a16:creationId xmlns:a16="http://schemas.microsoft.com/office/drawing/2014/main" id="{276D6D50-5C53-69A6-F789-A10473CF6022}"/>
                </a:ext>
              </a:extLst>
            </p:cNvPr>
            <p:cNvSpPr/>
            <p:nvPr/>
          </p:nvSpPr>
          <p:spPr>
            <a:xfrm>
              <a:off x="2925159" y="2858737"/>
              <a:ext cx="66702" cy="66702"/>
            </a:xfrm>
            <a:custGeom>
              <a:avLst/>
              <a:gdLst/>
              <a:ahLst/>
              <a:cxnLst/>
              <a:rect l="l" t="t" r="r" b="b"/>
              <a:pathLst>
                <a:path w="66702" h="66702" extrusionOk="0">
                  <a:moveTo>
                    <a:pt x="33351" y="0"/>
                  </a:moveTo>
                  <a:cubicBezTo>
                    <a:pt x="14979" y="0"/>
                    <a:pt x="0" y="14927"/>
                    <a:pt x="0" y="33351"/>
                  </a:cubicBezTo>
                  <a:cubicBezTo>
                    <a:pt x="0" y="51776"/>
                    <a:pt x="14927" y="66703"/>
                    <a:pt x="33351" y="66703"/>
                  </a:cubicBezTo>
                  <a:cubicBezTo>
                    <a:pt x="51776" y="66703"/>
                    <a:pt x="66703" y="51776"/>
                    <a:pt x="66703" y="33351"/>
                  </a:cubicBezTo>
                  <a:cubicBezTo>
                    <a:pt x="66703" y="14927"/>
                    <a:pt x="51723" y="0"/>
                    <a:pt x="33351" y="0"/>
                  </a:cubicBezTo>
                  <a:close/>
                  <a:moveTo>
                    <a:pt x="33351" y="50836"/>
                  </a:moveTo>
                  <a:cubicBezTo>
                    <a:pt x="23696" y="50836"/>
                    <a:pt x="15867" y="43007"/>
                    <a:pt x="15867" y="33351"/>
                  </a:cubicBezTo>
                  <a:cubicBezTo>
                    <a:pt x="15867" y="23696"/>
                    <a:pt x="23696" y="15867"/>
                    <a:pt x="33351" y="15867"/>
                  </a:cubicBezTo>
                  <a:cubicBezTo>
                    <a:pt x="43007" y="15867"/>
                    <a:pt x="50836" y="23696"/>
                    <a:pt x="50836" y="33351"/>
                  </a:cubicBezTo>
                  <a:cubicBezTo>
                    <a:pt x="50836" y="43007"/>
                    <a:pt x="43007" y="50836"/>
                    <a:pt x="33351" y="5083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36">
              <a:extLst>
                <a:ext uri="{FF2B5EF4-FFF2-40B4-BE49-F238E27FC236}">
                  <a16:creationId xmlns:a16="http://schemas.microsoft.com/office/drawing/2014/main" id="{394F85E0-D3FC-CD88-CF9C-CC4C54B415A3}"/>
                </a:ext>
              </a:extLst>
            </p:cNvPr>
            <p:cNvSpPr/>
            <p:nvPr/>
          </p:nvSpPr>
          <p:spPr>
            <a:xfrm>
              <a:off x="3083148" y="2794478"/>
              <a:ext cx="72651" cy="102360"/>
            </a:xfrm>
            <a:custGeom>
              <a:avLst/>
              <a:gdLst/>
              <a:ahLst/>
              <a:cxnLst/>
              <a:rect l="l" t="t" r="r" b="b"/>
              <a:pathLst>
                <a:path w="72651" h="102360" extrusionOk="0">
                  <a:moveTo>
                    <a:pt x="37057" y="9"/>
                  </a:moveTo>
                  <a:cubicBezTo>
                    <a:pt x="56003" y="375"/>
                    <a:pt x="71609" y="15511"/>
                    <a:pt x="72601" y="34405"/>
                  </a:cubicBezTo>
                  <a:cubicBezTo>
                    <a:pt x="73123" y="44478"/>
                    <a:pt x="69574" y="54029"/>
                    <a:pt x="62684" y="61336"/>
                  </a:cubicBezTo>
                  <a:cubicBezTo>
                    <a:pt x="57726" y="66608"/>
                    <a:pt x="51254" y="70209"/>
                    <a:pt x="44260" y="71775"/>
                  </a:cubicBezTo>
                  <a:lnTo>
                    <a:pt x="44260" y="94427"/>
                  </a:lnTo>
                  <a:cubicBezTo>
                    <a:pt x="44260" y="98811"/>
                    <a:pt x="40711" y="102360"/>
                    <a:pt x="36326" y="102360"/>
                  </a:cubicBezTo>
                  <a:cubicBezTo>
                    <a:pt x="31942" y="102360"/>
                    <a:pt x="28393" y="98811"/>
                    <a:pt x="28393" y="94427"/>
                  </a:cubicBezTo>
                  <a:lnTo>
                    <a:pt x="28393" y="64729"/>
                  </a:lnTo>
                  <a:cubicBezTo>
                    <a:pt x="28393" y="60345"/>
                    <a:pt x="31942" y="56796"/>
                    <a:pt x="36326" y="56796"/>
                  </a:cubicBezTo>
                  <a:cubicBezTo>
                    <a:pt x="42016" y="56796"/>
                    <a:pt x="47287" y="54551"/>
                    <a:pt x="51149" y="50428"/>
                  </a:cubicBezTo>
                  <a:cubicBezTo>
                    <a:pt x="55064" y="46305"/>
                    <a:pt x="57047" y="40929"/>
                    <a:pt x="56734" y="35240"/>
                  </a:cubicBezTo>
                  <a:cubicBezTo>
                    <a:pt x="56160" y="24592"/>
                    <a:pt x="47391" y="16085"/>
                    <a:pt x="36744" y="15876"/>
                  </a:cubicBezTo>
                  <a:cubicBezTo>
                    <a:pt x="36587" y="15876"/>
                    <a:pt x="36483" y="15876"/>
                    <a:pt x="36326" y="15876"/>
                  </a:cubicBezTo>
                  <a:cubicBezTo>
                    <a:pt x="26149" y="15876"/>
                    <a:pt x="17485" y="23392"/>
                    <a:pt x="16076" y="33465"/>
                  </a:cubicBezTo>
                  <a:cubicBezTo>
                    <a:pt x="15919" y="34405"/>
                    <a:pt x="15867" y="35344"/>
                    <a:pt x="15867" y="36336"/>
                  </a:cubicBezTo>
                  <a:cubicBezTo>
                    <a:pt x="15867" y="40720"/>
                    <a:pt x="12318" y="44269"/>
                    <a:pt x="7933" y="44269"/>
                  </a:cubicBezTo>
                  <a:cubicBezTo>
                    <a:pt x="3549" y="44269"/>
                    <a:pt x="0" y="40720"/>
                    <a:pt x="0" y="36336"/>
                  </a:cubicBezTo>
                  <a:cubicBezTo>
                    <a:pt x="0" y="34666"/>
                    <a:pt x="104" y="32943"/>
                    <a:pt x="365" y="31273"/>
                  </a:cubicBezTo>
                  <a:cubicBezTo>
                    <a:pt x="2923" y="13110"/>
                    <a:pt x="18685" y="-408"/>
                    <a:pt x="37057" y="9"/>
                  </a:cubicBezTo>
                  <a:lnTo>
                    <a:pt x="37057" y="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36">
              <a:extLst>
                <a:ext uri="{FF2B5EF4-FFF2-40B4-BE49-F238E27FC236}">
                  <a16:creationId xmlns:a16="http://schemas.microsoft.com/office/drawing/2014/main" id="{D8D99884-FAFB-3FBA-A54F-EDE39D1B59BF}"/>
                </a:ext>
              </a:extLst>
            </p:cNvPr>
            <p:cNvSpPr/>
            <p:nvPr/>
          </p:nvSpPr>
          <p:spPr>
            <a:xfrm>
              <a:off x="3111541" y="2909312"/>
              <a:ext cx="15918" cy="15866"/>
            </a:xfrm>
            <a:custGeom>
              <a:avLst/>
              <a:gdLst/>
              <a:ahLst/>
              <a:cxnLst/>
              <a:rect l="l" t="t" r="r" b="b"/>
              <a:pathLst>
                <a:path w="15918" h="15866" extrusionOk="0">
                  <a:moveTo>
                    <a:pt x="7986" y="0"/>
                  </a:moveTo>
                  <a:lnTo>
                    <a:pt x="7881" y="0"/>
                  </a:lnTo>
                  <a:cubicBezTo>
                    <a:pt x="3497" y="0"/>
                    <a:pt x="0" y="3549"/>
                    <a:pt x="0" y="7933"/>
                  </a:cubicBezTo>
                  <a:cubicBezTo>
                    <a:pt x="0" y="12318"/>
                    <a:pt x="3601" y="15867"/>
                    <a:pt x="7986" y="15867"/>
                  </a:cubicBezTo>
                  <a:cubicBezTo>
                    <a:pt x="12370" y="15867"/>
                    <a:pt x="15919" y="12318"/>
                    <a:pt x="15919" y="7933"/>
                  </a:cubicBezTo>
                  <a:cubicBezTo>
                    <a:pt x="15919" y="3549"/>
                    <a:pt x="12370" y="0"/>
                    <a:pt x="7986" y="0"/>
                  </a:cubicBezTo>
                  <a:lnTo>
                    <a:pt x="79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Google Shape;296;p36">
            <a:extLst>
              <a:ext uri="{FF2B5EF4-FFF2-40B4-BE49-F238E27FC236}">
                <a16:creationId xmlns:a16="http://schemas.microsoft.com/office/drawing/2014/main" id="{1B3FC1AD-57D0-781B-FE09-A3B806362919}"/>
              </a:ext>
            </a:extLst>
          </p:cNvPr>
          <p:cNvSpPr txBox="1">
            <a:spLocks/>
          </p:cNvSpPr>
          <p:nvPr/>
        </p:nvSpPr>
        <p:spPr>
          <a:xfrm>
            <a:off x="1691123" y="3634777"/>
            <a:ext cx="1430100" cy="38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>
              <a:buFont typeface="Lato"/>
              <a:buNone/>
            </a:pPr>
            <a:r>
              <a:rPr lang="en-US" sz="1200" b="1" dirty="0"/>
              <a:t>Caller Perception</a:t>
            </a:r>
          </a:p>
          <a:p>
            <a:pPr marL="0" indent="0" algn="ctr">
              <a:buFont typeface="Lato"/>
              <a:buNone/>
            </a:pPr>
            <a:r>
              <a:rPr lang="en-US" sz="1200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13" name="Google Shape;296;p36">
            <a:extLst>
              <a:ext uri="{FF2B5EF4-FFF2-40B4-BE49-F238E27FC236}">
                <a16:creationId xmlns:a16="http://schemas.microsoft.com/office/drawing/2014/main" id="{D30739CB-9C84-78AA-8C69-BA4411D8C398}"/>
              </a:ext>
            </a:extLst>
          </p:cNvPr>
          <p:cNvSpPr txBox="1">
            <a:spLocks/>
          </p:cNvSpPr>
          <p:nvPr/>
        </p:nvSpPr>
        <p:spPr>
          <a:xfrm>
            <a:off x="5711613" y="3634777"/>
            <a:ext cx="1430100" cy="38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>
              <a:buFont typeface="Lato"/>
              <a:buNone/>
            </a:pPr>
            <a:r>
              <a:rPr lang="en-US" sz="1200" b="1" dirty="0"/>
              <a:t>Final Record</a:t>
            </a:r>
          </a:p>
          <a:p>
            <a:pPr marL="0" indent="0" algn="ctr">
              <a:buFont typeface="Lato"/>
              <a:buNone/>
            </a:pPr>
            <a:r>
              <a:rPr lang="en-US" sz="1200" b="1" dirty="0">
                <a:solidFill>
                  <a:schemeClr val="bg2"/>
                </a:solidFill>
              </a:rPr>
              <a:t>1</a:t>
            </a:r>
          </a:p>
          <a:p>
            <a:pPr marL="0" indent="0" algn="ctr">
              <a:buFont typeface="Lato"/>
              <a:buNone/>
            </a:pPr>
            <a:endParaRPr lang="en-US" sz="1200" b="1" dirty="0">
              <a:solidFill>
                <a:schemeClr val="bg2"/>
              </a:solidFill>
            </a:endParaRPr>
          </a:p>
        </p:txBody>
      </p:sp>
      <p:sp>
        <p:nvSpPr>
          <p:cNvPr id="15" name="Google Shape;2635;p53">
            <a:extLst>
              <a:ext uri="{FF2B5EF4-FFF2-40B4-BE49-F238E27FC236}">
                <a16:creationId xmlns:a16="http://schemas.microsoft.com/office/drawing/2014/main" id="{E2841DC8-356E-4AC1-5ED4-814A27F06280}"/>
              </a:ext>
            </a:extLst>
          </p:cNvPr>
          <p:cNvSpPr/>
          <p:nvPr/>
        </p:nvSpPr>
        <p:spPr>
          <a:xfrm>
            <a:off x="6201779" y="3310046"/>
            <a:ext cx="298816" cy="244931"/>
          </a:xfrm>
          <a:custGeom>
            <a:avLst/>
            <a:gdLst/>
            <a:ahLst/>
            <a:cxnLst/>
            <a:rect l="l" t="t" r="r" b="b"/>
            <a:pathLst>
              <a:path w="11967" h="9809" extrusionOk="0">
                <a:moveTo>
                  <a:pt x="8309" y="358"/>
                </a:moveTo>
                <a:cubicBezTo>
                  <a:pt x="8940" y="358"/>
                  <a:pt x="9663" y="469"/>
                  <a:pt x="10418" y="796"/>
                </a:cubicBezTo>
                <a:lnTo>
                  <a:pt x="10418" y="7796"/>
                </a:lnTo>
                <a:cubicBezTo>
                  <a:pt x="9723" y="7513"/>
                  <a:pt x="8997" y="7381"/>
                  <a:pt x="8289" y="7381"/>
                </a:cubicBezTo>
                <a:cubicBezTo>
                  <a:pt x="7542" y="7381"/>
                  <a:pt x="6816" y="7527"/>
                  <a:pt x="6168" y="7796"/>
                </a:cubicBezTo>
                <a:lnTo>
                  <a:pt x="6168" y="796"/>
                </a:lnTo>
                <a:cubicBezTo>
                  <a:pt x="6430" y="676"/>
                  <a:pt x="7238" y="358"/>
                  <a:pt x="8309" y="358"/>
                </a:cubicBezTo>
                <a:close/>
                <a:moveTo>
                  <a:pt x="3700" y="358"/>
                </a:moveTo>
                <a:cubicBezTo>
                  <a:pt x="4458" y="358"/>
                  <a:pt x="5191" y="513"/>
                  <a:pt x="5823" y="796"/>
                </a:cubicBezTo>
                <a:cubicBezTo>
                  <a:pt x="5811" y="1677"/>
                  <a:pt x="5811" y="6761"/>
                  <a:pt x="5811" y="7796"/>
                </a:cubicBezTo>
                <a:cubicBezTo>
                  <a:pt x="5418" y="7642"/>
                  <a:pt x="4656" y="7392"/>
                  <a:pt x="3668" y="7392"/>
                </a:cubicBezTo>
                <a:cubicBezTo>
                  <a:pt x="2929" y="7392"/>
                  <a:pt x="2215" y="7523"/>
                  <a:pt x="1548" y="7808"/>
                </a:cubicBezTo>
                <a:lnTo>
                  <a:pt x="1548" y="3867"/>
                </a:lnTo>
                <a:cubicBezTo>
                  <a:pt x="1548" y="3760"/>
                  <a:pt x="1477" y="3689"/>
                  <a:pt x="1370" y="3689"/>
                </a:cubicBezTo>
                <a:cubicBezTo>
                  <a:pt x="1262" y="3689"/>
                  <a:pt x="1191" y="3760"/>
                  <a:pt x="1191" y="3867"/>
                </a:cubicBezTo>
                <a:lnTo>
                  <a:pt x="1191" y="7987"/>
                </a:lnTo>
                <a:cubicBezTo>
                  <a:pt x="1191" y="8118"/>
                  <a:pt x="1298" y="8225"/>
                  <a:pt x="1429" y="8225"/>
                </a:cubicBezTo>
                <a:cubicBezTo>
                  <a:pt x="1465" y="8225"/>
                  <a:pt x="1489" y="8225"/>
                  <a:pt x="1524" y="8213"/>
                </a:cubicBezTo>
                <a:cubicBezTo>
                  <a:pt x="2203" y="7916"/>
                  <a:pt x="2917" y="7761"/>
                  <a:pt x="3656" y="7761"/>
                </a:cubicBezTo>
                <a:cubicBezTo>
                  <a:pt x="4715" y="7761"/>
                  <a:pt x="5537" y="8070"/>
                  <a:pt x="5799" y="8189"/>
                </a:cubicBezTo>
                <a:lnTo>
                  <a:pt x="5799" y="8606"/>
                </a:lnTo>
                <a:lnTo>
                  <a:pt x="417" y="8606"/>
                </a:lnTo>
                <a:cubicBezTo>
                  <a:pt x="381" y="8606"/>
                  <a:pt x="358" y="8582"/>
                  <a:pt x="358" y="8547"/>
                </a:cubicBezTo>
                <a:lnTo>
                  <a:pt x="358" y="1248"/>
                </a:lnTo>
                <a:cubicBezTo>
                  <a:pt x="358" y="1212"/>
                  <a:pt x="381" y="1188"/>
                  <a:pt x="417" y="1188"/>
                </a:cubicBezTo>
                <a:lnTo>
                  <a:pt x="1203" y="1188"/>
                </a:lnTo>
                <a:lnTo>
                  <a:pt x="1203" y="3153"/>
                </a:lnTo>
                <a:cubicBezTo>
                  <a:pt x="1203" y="3248"/>
                  <a:pt x="1274" y="3332"/>
                  <a:pt x="1382" y="3332"/>
                </a:cubicBezTo>
                <a:cubicBezTo>
                  <a:pt x="1489" y="3332"/>
                  <a:pt x="1560" y="3248"/>
                  <a:pt x="1560" y="3153"/>
                </a:cubicBezTo>
                <a:lnTo>
                  <a:pt x="1560" y="796"/>
                </a:lnTo>
                <a:cubicBezTo>
                  <a:pt x="2253" y="495"/>
                  <a:pt x="2987" y="358"/>
                  <a:pt x="3700" y="358"/>
                </a:cubicBezTo>
                <a:close/>
                <a:moveTo>
                  <a:pt x="6608" y="7987"/>
                </a:moveTo>
                <a:lnTo>
                  <a:pt x="6608" y="9249"/>
                </a:lnTo>
                <a:lnTo>
                  <a:pt x="6501" y="9166"/>
                </a:lnTo>
                <a:cubicBezTo>
                  <a:pt x="6471" y="9136"/>
                  <a:pt x="6430" y="9121"/>
                  <a:pt x="6390" y="9121"/>
                </a:cubicBezTo>
                <a:cubicBezTo>
                  <a:pt x="6349" y="9121"/>
                  <a:pt x="6311" y="9136"/>
                  <a:pt x="6287" y="9166"/>
                </a:cubicBezTo>
                <a:lnTo>
                  <a:pt x="6168" y="9261"/>
                </a:lnTo>
                <a:lnTo>
                  <a:pt x="6168" y="8166"/>
                </a:lnTo>
                <a:cubicBezTo>
                  <a:pt x="6251" y="8118"/>
                  <a:pt x="6418" y="8058"/>
                  <a:pt x="6608" y="7987"/>
                </a:cubicBezTo>
                <a:close/>
                <a:moveTo>
                  <a:pt x="8273" y="0"/>
                </a:moveTo>
                <a:cubicBezTo>
                  <a:pt x="7438" y="0"/>
                  <a:pt x="6643" y="178"/>
                  <a:pt x="5989" y="486"/>
                </a:cubicBezTo>
                <a:cubicBezTo>
                  <a:pt x="5715" y="367"/>
                  <a:pt x="4858" y="10"/>
                  <a:pt x="3668" y="10"/>
                </a:cubicBezTo>
                <a:cubicBezTo>
                  <a:pt x="2858" y="10"/>
                  <a:pt x="2072" y="176"/>
                  <a:pt x="1322" y="510"/>
                </a:cubicBezTo>
                <a:cubicBezTo>
                  <a:pt x="1143" y="593"/>
                  <a:pt x="1191" y="796"/>
                  <a:pt x="1191" y="843"/>
                </a:cubicBezTo>
                <a:lnTo>
                  <a:pt x="405" y="843"/>
                </a:lnTo>
                <a:cubicBezTo>
                  <a:pt x="179" y="843"/>
                  <a:pt x="0" y="1022"/>
                  <a:pt x="0" y="1248"/>
                </a:cubicBezTo>
                <a:lnTo>
                  <a:pt x="0" y="8535"/>
                </a:lnTo>
                <a:cubicBezTo>
                  <a:pt x="0" y="8761"/>
                  <a:pt x="179" y="8939"/>
                  <a:pt x="405" y="8939"/>
                </a:cubicBezTo>
                <a:lnTo>
                  <a:pt x="5811" y="8939"/>
                </a:lnTo>
                <a:lnTo>
                  <a:pt x="5811" y="9630"/>
                </a:lnTo>
                <a:cubicBezTo>
                  <a:pt x="5811" y="9740"/>
                  <a:pt x="5889" y="9808"/>
                  <a:pt x="5977" y="9808"/>
                </a:cubicBezTo>
                <a:cubicBezTo>
                  <a:pt x="6013" y="9808"/>
                  <a:pt x="6050" y="9797"/>
                  <a:pt x="6084" y="9773"/>
                </a:cubicBezTo>
                <a:lnTo>
                  <a:pt x="6382" y="9535"/>
                </a:lnTo>
                <a:cubicBezTo>
                  <a:pt x="6656" y="9737"/>
                  <a:pt x="6668" y="9809"/>
                  <a:pt x="6787" y="9809"/>
                </a:cubicBezTo>
                <a:cubicBezTo>
                  <a:pt x="6894" y="9809"/>
                  <a:pt x="6966" y="9737"/>
                  <a:pt x="6966" y="9630"/>
                </a:cubicBezTo>
                <a:lnTo>
                  <a:pt x="6966" y="8939"/>
                </a:lnTo>
                <a:lnTo>
                  <a:pt x="9335" y="8939"/>
                </a:lnTo>
                <a:cubicBezTo>
                  <a:pt x="9442" y="8939"/>
                  <a:pt x="9513" y="8856"/>
                  <a:pt x="9513" y="8761"/>
                </a:cubicBezTo>
                <a:cubicBezTo>
                  <a:pt x="9513" y="8654"/>
                  <a:pt x="9442" y="8582"/>
                  <a:pt x="9335" y="8582"/>
                </a:cubicBezTo>
                <a:lnTo>
                  <a:pt x="6966" y="8582"/>
                </a:lnTo>
                <a:lnTo>
                  <a:pt x="6966" y="7892"/>
                </a:lnTo>
                <a:cubicBezTo>
                  <a:pt x="7400" y="7783"/>
                  <a:pt x="7847" y="7728"/>
                  <a:pt x="8295" y="7728"/>
                </a:cubicBezTo>
                <a:cubicBezTo>
                  <a:pt x="9025" y="7728"/>
                  <a:pt x="9760" y="7875"/>
                  <a:pt x="10454" y="8177"/>
                </a:cubicBezTo>
                <a:cubicBezTo>
                  <a:pt x="10483" y="8192"/>
                  <a:pt x="10514" y="8199"/>
                  <a:pt x="10544" y="8199"/>
                </a:cubicBezTo>
                <a:cubicBezTo>
                  <a:pt x="10662" y="8199"/>
                  <a:pt x="10776" y="8096"/>
                  <a:pt x="10776" y="7963"/>
                </a:cubicBezTo>
                <a:lnTo>
                  <a:pt x="10776" y="1177"/>
                </a:lnTo>
                <a:lnTo>
                  <a:pt x="11561" y="1177"/>
                </a:lnTo>
                <a:cubicBezTo>
                  <a:pt x="11597" y="1177"/>
                  <a:pt x="11621" y="1212"/>
                  <a:pt x="11621" y="1236"/>
                </a:cubicBezTo>
                <a:lnTo>
                  <a:pt x="11621" y="8535"/>
                </a:lnTo>
                <a:cubicBezTo>
                  <a:pt x="11621" y="8570"/>
                  <a:pt x="11597" y="8594"/>
                  <a:pt x="11561" y="8594"/>
                </a:cubicBezTo>
                <a:lnTo>
                  <a:pt x="10049" y="8594"/>
                </a:lnTo>
                <a:cubicBezTo>
                  <a:pt x="9942" y="8594"/>
                  <a:pt x="9871" y="8666"/>
                  <a:pt x="9871" y="8773"/>
                </a:cubicBezTo>
                <a:cubicBezTo>
                  <a:pt x="9871" y="8880"/>
                  <a:pt x="9942" y="8951"/>
                  <a:pt x="10049" y="8951"/>
                </a:cubicBezTo>
                <a:lnTo>
                  <a:pt x="11561" y="8951"/>
                </a:lnTo>
                <a:cubicBezTo>
                  <a:pt x="11788" y="8951"/>
                  <a:pt x="11966" y="8773"/>
                  <a:pt x="11966" y="8547"/>
                </a:cubicBezTo>
                <a:lnTo>
                  <a:pt x="11966" y="1236"/>
                </a:lnTo>
                <a:cubicBezTo>
                  <a:pt x="11954" y="998"/>
                  <a:pt x="11776" y="831"/>
                  <a:pt x="11549" y="831"/>
                </a:cubicBezTo>
                <a:lnTo>
                  <a:pt x="10764" y="831"/>
                </a:lnTo>
                <a:cubicBezTo>
                  <a:pt x="10752" y="784"/>
                  <a:pt x="10811" y="581"/>
                  <a:pt x="10633" y="498"/>
                </a:cubicBezTo>
                <a:cubicBezTo>
                  <a:pt x="9864" y="154"/>
                  <a:pt x="9051" y="0"/>
                  <a:pt x="82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7821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>
            <a:spLocks noGrp="1"/>
          </p:cNvSpPr>
          <p:nvPr>
            <p:ph type="title"/>
          </p:nvPr>
        </p:nvSpPr>
        <p:spPr>
          <a:xfrm>
            <a:off x="1717052" y="227503"/>
            <a:ext cx="57098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The Perception Gap Structure</a:t>
            </a:r>
            <a:endParaRPr b="1" dirty="0"/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0E17633F-60EE-5F31-7144-1EF2D2C22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5394948"/>
              </p:ext>
            </p:extLst>
          </p:nvPr>
        </p:nvGraphicFramePr>
        <p:xfrm>
          <a:off x="119617" y="916170"/>
          <a:ext cx="8257065" cy="3867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>
            <a:alpha val="77000"/>
          </a:schemeClr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>
            <a:spLocks noGrp="1"/>
          </p:cNvSpPr>
          <p:nvPr>
            <p:ph type="title"/>
          </p:nvPr>
        </p:nvSpPr>
        <p:spPr>
          <a:xfrm>
            <a:off x="674524" y="539500"/>
            <a:ext cx="805383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Potential reasons for crimes with </a:t>
            </a:r>
            <a:r>
              <a:rPr lang="en" b="1" dirty="0"/>
              <a:t>No Report 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78" name="Google Shape;178;p30"/>
          <p:cNvSpPr txBox="1">
            <a:spLocks noGrp="1"/>
          </p:cNvSpPr>
          <p:nvPr>
            <p:ph type="subTitle" idx="1"/>
          </p:nvPr>
        </p:nvSpPr>
        <p:spPr>
          <a:xfrm>
            <a:off x="3182041" y="2328775"/>
            <a:ext cx="5094000" cy="926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Victim chooses to not file a report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Mutual Resolution</a:t>
            </a:r>
          </a:p>
        </p:txBody>
      </p:sp>
      <p:sp>
        <p:nvSpPr>
          <p:cNvPr id="179" name="Google Shape;179;p30"/>
          <p:cNvSpPr/>
          <p:nvPr/>
        </p:nvSpPr>
        <p:spPr>
          <a:xfrm>
            <a:off x="2488250" y="2328775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0" name="Google Shape;180;p30"/>
          <p:cNvCxnSpPr>
            <a:cxnSpLocks/>
          </p:cNvCxnSpPr>
          <p:nvPr/>
        </p:nvCxnSpPr>
        <p:spPr>
          <a:xfrm>
            <a:off x="3197450" y="2328780"/>
            <a:ext cx="0" cy="709388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1" name="Google Shape;181;p30"/>
          <p:cNvGrpSpPr/>
          <p:nvPr/>
        </p:nvGrpSpPr>
        <p:grpSpPr>
          <a:xfrm>
            <a:off x="2625241" y="2488157"/>
            <a:ext cx="282811" cy="238048"/>
            <a:chOff x="4301584" y="3601021"/>
            <a:chExt cx="639699" cy="538448"/>
          </a:xfrm>
        </p:grpSpPr>
        <p:sp>
          <p:nvSpPr>
            <p:cNvPr id="182" name="Google Shape;182;p30"/>
            <p:cNvSpPr/>
            <p:nvPr/>
          </p:nvSpPr>
          <p:spPr>
            <a:xfrm>
              <a:off x="4420266" y="3770280"/>
              <a:ext cx="102870" cy="103060"/>
            </a:xfrm>
            <a:custGeom>
              <a:avLst/>
              <a:gdLst/>
              <a:ahLst/>
              <a:cxnLst/>
              <a:rect l="l" t="t" r="r" b="b"/>
              <a:pathLst>
                <a:path w="102870" h="103060" extrusionOk="0">
                  <a:moveTo>
                    <a:pt x="51435" y="103061"/>
                  </a:moveTo>
                  <a:cubicBezTo>
                    <a:pt x="23051" y="103061"/>
                    <a:pt x="0" y="79915"/>
                    <a:pt x="0" y="51530"/>
                  </a:cubicBezTo>
                  <a:cubicBezTo>
                    <a:pt x="0" y="23146"/>
                    <a:pt x="23051" y="0"/>
                    <a:pt x="51435" y="0"/>
                  </a:cubicBezTo>
                  <a:cubicBezTo>
                    <a:pt x="79820" y="0"/>
                    <a:pt x="102870" y="23146"/>
                    <a:pt x="102870" y="51530"/>
                  </a:cubicBezTo>
                  <a:cubicBezTo>
                    <a:pt x="102870" y="79915"/>
                    <a:pt x="79820" y="103061"/>
                    <a:pt x="51435" y="103061"/>
                  </a:cubicBezTo>
                  <a:close/>
                  <a:moveTo>
                    <a:pt x="51435" y="18669"/>
                  </a:moveTo>
                  <a:cubicBezTo>
                    <a:pt x="33433" y="18669"/>
                    <a:pt x="18764" y="33433"/>
                    <a:pt x="18764" y="51435"/>
                  </a:cubicBezTo>
                  <a:cubicBezTo>
                    <a:pt x="18764" y="69437"/>
                    <a:pt x="33433" y="84201"/>
                    <a:pt x="51435" y="84201"/>
                  </a:cubicBezTo>
                  <a:cubicBezTo>
                    <a:pt x="69437" y="84201"/>
                    <a:pt x="84106" y="69437"/>
                    <a:pt x="84106" y="51435"/>
                  </a:cubicBezTo>
                  <a:cubicBezTo>
                    <a:pt x="84106" y="33433"/>
                    <a:pt x="69437" y="18669"/>
                    <a:pt x="51435" y="186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0"/>
            <p:cNvSpPr/>
            <p:nvPr/>
          </p:nvSpPr>
          <p:spPr>
            <a:xfrm>
              <a:off x="4574571" y="3770280"/>
              <a:ext cx="102869" cy="103060"/>
            </a:xfrm>
            <a:custGeom>
              <a:avLst/>
              <a:gdLst/>
              <a:ahLst/>
              <a:cxnLst/>
              <a:rect l="l" t="t" r="r" b="b"/>
              <a:pathLst>
                <a:path w="102869" h="103060" extrusionOk="0">
                  <a:moveTo>
                    <a:pt x="51435" y="103061"/>
                  </a:moveTo>
                  <a:cubicBezTo>
                    <a:pt x="23050" y="103061"/>
                    <a:pt x="0" y="79915"/>
                    <a:pt x="0" y="51530"/>
                  </a:cubicBezTo>
                  <a:cubicBezTo>
                    <a:pt x="0" y="23146"/>
                    <a:pt x="23050" y="0"/>
                    <a:pt x="51435" y="0"/>
                  </a:cubicBezTo>
                  <a:cubicBezTo>
                    <a:pt x="79820" y="0"/>
                    <a:pt x="102870" y="23146"/>
                    <a:pt x="102870" y="51530"/>
                  </a:cubicBezTo>
                  <a:cubicBezTo>
                    <a:pt x="102870" y="79915"/>
                    <a:pt x="79820" y="103061"/>
                    <a:pt x="51435" y="103061"/>
                  </a:cubicBezTo>
                  <a:close/>
                  <a:moveTo>
                    <a:pt x="51435" y="18669"/>
                  </a:moveTo>
                  <a:cubicBezTo>
                    <a:pt x="33433" y="18669"/>
                    <a:pt x="18764" y="33433"/>
                    <a:pt x="18764" y="51435"/>
                  </a:cubicBezTo>
                  <a:cubicBezTo>
                    <a:pt x="18764" y="69437"/>
                    <a:pt x="33433" y="84201"/>
                    <a:pt x="51435" y="84201"/>
                  </a:cubicBezTo>
                  <a:cubicBezTo>
                    <a:pt x="69437" y="84201"/>
                    <a:pt x="84106" y="69437"/>
                    <a:pt x="84106" y="51435"/>
                  </a:cubicBezTo>
                  <a:cubicBezTo>
                    <a:pt x="84106" y="33433"/>
                    <a:pt x="69437" y="18669"/>
                    <a:pt x="51435" y="186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0"/>
            <p:cNvSpPr/>
            <p:nvPr/>
          </p:nvSpPr>
          <p:spPr>
            <a:xfrm>
              <a:off x="4728876" y="3770280"/>
              <a:ext cx="102869" cy="103060"/>
            </a:xfrm>
            <a:custGeom>
              <a:avLst/>
              <a:gdLst/>
              <a:ahLst/>
              <a:cxnLst/>
              <a:rect l="l" t="t" r="r" b="b"/>
              <a:pathLst>
                <a:path w="102869" h="103060" extrusionOk="0">
                  <a:moveTo>
                    <a:pt x="51435" y="103061"/>
                  </a:moveTo>
                  <a:cubicBezTo>
                    <a:pt x="23050" y="103061"/>
                    <a:pt x="0" y="79915"/>
                    <a:pt x="0" y="51530"/>
                  </a:cubicBezTo>
                  <a:cubicBezTo>
                    <a:pt x="0" y="23146"/>
                    <a:pt x="23050" y="0"/>
                    <a:pt x="51435" y="0"/>
                  </a:cubicBezTo>
                  <a:cubicBezTo>
                    <a:pt x="79819" y="0"/>
                    <a:pt x="102870" y="23146"/>
                    <a:pt x="102870" y="51530"/>
                  </a:cubicBezTo>
                  <a:cubicBezTo>
                    <a:pt x="102870" y="79915"/>
                    <a:pt x="79819" y="103061"/>
                    <a:pt x="51435" y="103061"/>
                  </a:cubicBezTo>
                  <a:close/>
                  <a:moveTo>
                    <a:pt x="51435" y="18669"/>
                  </a:moveTo>
                  <a:cubicBezTo>
                    <a:pt x="33433" y="18669"/>
                    <a:pt x="18764" y="33433"/>
                    <a:pt x="18764" y="51435"/>
                  </a:cubicBezTo>
                  <a:cubicBezTo>
                    <a:pt x="18764" y="69437"/>
                    <a:pt x="33433" y="84201"/>
                    <a:pt x="51435" y="84201"/>
                  </a:cubicBezTo>
                  <a:cubicBezTo>
                    <a:pt x="69437" y="84201"/>
                    <a:pt x="84106" y="69437"/>
                    <a:pt x="84106" y="51435"/>
                  </a:cubicBezTo>
                  <a:cubicBezTo>
                    <a:pt x="84106" y="33433"/>
                    <a:pt x="69437" y="18669"/>
                    <a:pt x="51435" y="186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4301584" y="3601021"/>
              <a:ext cx="310419" cy="538448"/>
            </a:xfrm>
            <a:custGeom>
              <a:avLst/>
              <a:gdLst/>
              <a:ahLst/>
              <a:cxnLst/>
              <a:rect l="l" t="t" r="r" b="b"/>
              <a:pathLst>
                <a:path w="310419" h="538448" extrusionOk="0">
                  <a:moveTo>
                    <a:pt x="127349" y="538448"/>
                  </a:moveTo>
                  <a:cubicBezTo>
                    <a:pt x="122015" y="538448"/>
                    <a:pt x="116681" y="536829"/>
                    <a:pt x="112109" y="533591"/>
                  </a:cubicBezTo>
                  <a:cubicBezTo>
                    <a:pt x="102965" y="527113"/>
                    <a:pt x="98870" y="515969"/>
                    <a:pt x="101632" y="505206"/>
                  </a:cubicBezTo>
                  <a:lnTo>
                    <a:pt x="118301" y="440722"/>
                  </a:lnTo>
                  <a:lnTo>
                    <a:pt x="79153" y="440722"/>
                  </a:lnTo>
                  <a:cubicBezTo>
                    <a:pt x="35528" y="440722"/>
                    <a:pt x="0" y="405098"/>
                    <a:pt x="0" y="361379"/>
                  </a:cubicBezTo>
                  <a:lnTo>
                    <a:pt x="0" y="79343"/>
                  </a:lnTo>
                  <a:cubicBezTo>
                    <a:pt x="0" y="35624"/>
                    <a:pt x="35528" y="0"/>
                    <a:pt x="79153" y="0"/>
                  </a:cubicBezTo>
                  <a:lnTo>
                    <a:pt x="122301" y="0"/>
                  </a:lnTo>
                  <a:cubicBezTo>
                    <a:pt x="127445" y="0"/>
                    <a:pt x="131636" y="4191"/>
                    <a:pt x="131636" y="9335"/>
                  </a:cubicBezTo>
                  <a:cubicBezTo>
                    <a:pt x="131636" y="14478"/>
                    <a:pt x="127445" y="18669"/>
                    <a:pt x="122301" y="18669"/>
                  </a:cubicBezTo>
                  <a:lnTo>
                    <a:pt x="79153" y="18669"/>
                  </a:lnTo>
                  <a:cubicBezTo>
                    <a:pt x="45815" y="18669"/>
                    <a:pt x="18764" y="45815"/>
                    <a:pt x="18764" y="79248"/>
                  </a:cubicBezTo>
                  <a:lnTo>
                    <a:pt x="18764" y="361283"/>
                  </a:lnTo>
                  <a:cubicBezTo>
                    <a:pt x="18764" y="394716"/>
                    <a:pt x="45815" y="421862"/>
                    <a:pt x="79153" y="421862"/>
                  </a:cubicBezTo>
                  <a:lnTo>
                    <a:pt x="130397" y="421862"/>
                  </a:lnTo>
                  <a:cubicBezTo>
                    <a:pt x="133255" y="421862"/>
                    <a:pt x="136017" y="423196"/>
                    <a:pt x="137827" y="425482"/>
                  </a:cubicBezTo>
                  <a:cubicBezTo>
                    <a:pt x="139637" y="427768"/>
                    <a:pt x="140208" y="430721"/>
                    <a:pt x="139446" y="433578"/>
                  </a:cubicBezTo>
                  <a:lnTo>
                    <a:pt x="119825" y="509778"/>
                  </a:lnTo>
                  <a:cubicBezTo>
                    <a:pt x="118586" y="514636"/>
                    <a:pt x="121825" y="517493"/>
                    <a:pt x="122873" y="518160"/>
                  </a:cubicBezTo>
                  <a:cubicBezTo>
                    <a:pt x="123920" y="518922"/>
                    <a:pt x="127635" y="521017"/>
                    <a:pt x="131731" y="518160"/>
                  </a:cubicBezTo>
                  <a:lnTo>
                    <a:pt x="271653" y="423386"/>
                  </a:lnTo>
                  <a:cubicBezTo>
                    <a:pt x="273177" y="422338"/>
                    <a:pt x="275082" y="421767"/>
                    <a:pt x="276892" y="421767"/>
                  </a:cubicBezTo>
                  <a:lnTo>
                    <a:pt x="301085" y="421767"/>
                  </a:lnTo>
                  <a:cubicBezTo>
                    <a:pt x="306229" y="421767"/>
                    <a:pt x="310420" y="425958"/>
                    <a:pt x="310420" y="431102"/>
                  </a:cubicBezTo>
                  <a:cubicBezTo>
                    <a:pt x="310420" y="436245"/>
                    <a:pt x="306229" y="440436"/>
                    <a:pt x="301085" y="440436"/>
                  </a:cubicBezTo>
                  <a:lnTo>
                    <a:pt x="279749" y="440436"/>
                  </a:lnTo>
                  <a:lnTo>
                    <a:pt x="142208" y="533591"/>
                  </a:lnTo>
                  <a:cubicBezTo>
                    <a:pt x="137636" y="536638"/>
                    <a:pt x="132493" y="538163"/>
                    <a:pt x="127349" y="5381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0"/>
            <p:cNvSpPr/>
            <p:nvPr/>
          </p:nvSpPr>
          <p:spPr>
            <a:xfrm>
              <a:off x="4452746" y="3601116"/>
              <a:ext cx="488537" cy="440721"/>
            </a:xfrm>
            <a:custGeom>
              <a:avLst/>
              <a:gdLst/>
              <a:ahLst/>
              <a:cxnLst/>
              <a:rect l="l" t="t" r="r" b="b"/>
              <a:pathLst>
                <a:path w="488537" h="440721" extrusionOk="0">
                  <a:moveTo>
                    <a:pt x="409385" y="440531"/>
                  </a:moveTo>
                  <a:lnTo>
                    <a:pt x="189643" y="440531"/>
                  </a:lnTo>
                  <a:cubicBezTo>
                    <a:pt x="184499" y="440531"/>
                    <a:pt x="180308" y="436340"/>
                    <a:pt x="180308" y="431197"/>
                  </a:cubicBezTo>
                  <a:cubicBezTo>
                    <a:pt x="180308" y="426053"/>
                    <a:pt x="184499" y="421862"/>
                    <a:pt x="189643" y="421862"/>
                  </a:cubicBezTo>
                  <a:lnTo>
                    <a:pt x="409385" y="421862"/>
                  </a:lnTo>
                  <a:cubicBezTo>
                    <a:pt x="442722" y="421862"/>
                    <a:pt x="469773" y="394716"/>
                    <a:pt x="469773" y="361283"/>
                  </a:cubicBezTo>
                  <a:lnTo>
                    <a:pt x="469773" y="79248"/>
                  </a:lnTo>
                  <a:cubicBezTo>
                    <a:pt x="469773" y="45815"/>
                    <a:pt x="442722" y="18669"/>
                    <a:pt x="409385" y="18669"/>
                  </a:cubicBezTo>
                  <a:lnTo>
                    <a:pt x="9334" y="18669"/>
                  </a:lnTo>
                  <a:cubicBezTo>
                    <a:pt x="4191" y="18669"/>
                    <a:pt x="0" y="14478"/>
                    <a:pt x="0" y="9335"/>
                  </a:cubicBezTo>
                  <a:cubicBezTo>
                    <a:pt x="0" y="4191"/>
                    <a:pt x="4191" y="0"/>
                    <a:pt x="9334" y="0"/>
                  </a:cubicBezTo>
                  <a:lnTo>
                    <a:pt x="409385" y="0"/>
                  </a:lnTo>
                  <a:cubicBezTo>
                    <a:pt x="453009" y="0"/>
                    <a:pt x="488537" y="35623"/>
                    <a:pt x="488537" y="79343"/>
                  </a:cubicBezTo>
                  <a:lnTo>
                    <a:pt x="488537" y="361378"/>
                  </a:lnTo>
                  <a:cubicBezTo>
                    <a:pt x="488537" y="405098"/>
                    <a:pt x="453009" y="440722"/>
                    <a:pt x="409385" y="4407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Google Shape;178;p30">
            <a:extLst>
              <a:ext uri="{FF2B5EF4-FFF2-40B4-BE49-F238E27FC236}">
                <a16:creationId xmlns:a16="http://schemas.microsoft.com/office/drawing/2014/main" id="{BCC6C8B0-7413-9822-95FE-B06AAABB862E}"/>
              </a:ext>
            </a:extLst>
          </p:cNvPr>
          <p:cNvSpPr txBox="1">
            <a:spLocks/>
          </p:cNvSpPr>
          <p:nvPr/>
        </p:nvSpPr>
        <p:spPr>
          <a:xfrm>
            <a:off x="3182041" y="3038168"/>
            <a:ext cx="5094000" cy="926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b="1" u="sng" dirty="0"/>
              <a:t>These are possible explanations, not proven causes.</a:t>
            </a:r>
            <a:endParaRPr lang="en" b="1" u="sng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bg1"/>
            </a:gs>
            <a:gs pos="2000">
              <a:schemeClr val="bg2">
                <a:lumMod val="69000"/>
                <a:alpha val="59821"/>
              </a:schemeClr>
            </a:gs>
            <a:gs pos="11000">
              <a:schemeClr val="bg1">
                <a:lumMod val="28000"/>
                <a:lumOff val="72000"/>
              </a:schemeClr>
            </a:gs>
          </a:gsLst>
          <a:lin ang="16200000" scaled="0"/>
        </a:gra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98F5CC1E-B0A6-361A-8271-137E3E6BB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>
            <a:extLst>
              <a:ext uri="{FF2B5EF4-FFF2-40B4-BE49-F238E27FC236}">
                <a16:creationId xmlns:a16="http://schemas.microsoft.com/office/drawing/2014/main" id="{BC869EA8-BCEC-9B62-7A4D-5D9FF0F128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536" y="2571750"/>
            <a:ext cx="679258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Final Data Product</a:t>
            </a:r>
            <a:endParaRPr sz="4000" b="1" dirty="0"/>
          </a:p>
        </p:txBody>
      </p:sp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54BF55B3-E98B-2F96-3A44-11A10DA7730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7444" y="1973065"/>
            <a:ext cx="1927879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03</a:t>
            </a:r>
            <a:endParaRPr sz="6600" dirty="0"/>
          </a:p>
        </p:txBody>
      </p:sp>
      <p:sp>
        <p:nvSpPr>
          <p:cNvPr id="169" name="Google Shape;169;p29">
            <a:extLst>
              <a:ext uri="{FF2B5EF4-FFF2-40B4-BE49-F238E27FC236}">
                <a16:creationId xmlns:a16="http://schemas.microsoft.com/office/drawing/2014/main" id="{D1800AA2-EB1B-DFB4-3A81-E7701448E375}"/>
              </a:ext>
            </a:extLst>
          </p:cNvPr>
          <p:cNvSpPr/>
          <p:nvPr/>
        </p:nvSpPr>
        <p:spPr>
          <a:xfrm>
            <a:off x="1212972" y="2014950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9">
            <a:extLst>
              <a:ext uri="{FF2B5EF4-FFF2-40B4-BE49-F238E27FC236}">
                <a16:creationId xmlns:a16="http://schemas.microsoft.com/office/drawing/2014/main" id="{7E24107B-0FBF-670B-C65F-2D83EC07081D}"/>
              </a:ext>
            </a:extLst>
          </p:cNvPr>
          <p:cNvCxnSpPr/>
          <p:nvPr/>
        </p:nvCxnSpPr>
        <p:spPr>
          <a:xfrm>
            <a:off x="1922172" y="201495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oogle Shape;2636;p53">
            <a:extLst>
              <a:ext uri="{FF2B5EF4-FFF2-40B4-BE49-F238E27FC236}">
                <a16:creationId xmlns:a16="http://schemas.microsoft.com/office/drawing/2014/main" id="{71D4EC8B-ECA6-CBAD-C0CD-447E101F48F6}"/>
              </a:ext>
            </a:extLst>
          </p:cNvPr>
          <p:cNvGrpSpPr/>
          <p:nvPr/>
        </p:nvGrpSpPr>
        <p:grpSpPr>
          <a:xfrm>
            <a:off x="1356462" y="2147974"/>
            <a:ext cx="283964" cy="283041"/>
            <a:chOff x="852385" y="1510916"/>
            <a:chExt cx="353145" cy="351998"/>
          </a:xfrm>
          <a:solidFill>
            <a:schemeClr val="bg2"/>
          </a:solidFill>
        </p:grpSpPr>
        <p:sp>
          <p:nvSpPr>
            <p:cNvPr id="6" name="Google Shape;2637;p53">
              <a:extLst>
                <a:ext uri="{FF2B5EF4-FFF2-40B4-BE49-F238E27FC236}">
                  <a16:creationId xmlns:a16="http://schemas.microsoft.com/office/drawing/2014/main" id="{88D45F26-A62A-BA16-1B24-6109B7F08758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638;p53">
              <a:extLst>
                <a:ext uri="{FF2B5EF4-FFF2-40B4-BE49-F238E27FC236}">
                  <a16:creationId xmlns:a16="http://schemas.microsoft.com/office/drawing/2014/main" id="{164E3212-9372-C0DA-C08D-BD00A4D97F50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639;p53">
              <a:extLst>
                <a:ext uri="{FF2B5EF4-FFF2-40B4-BE49-F238E27FC236}">
                  <a16:creationId xmlns:a16="http://schemas.microsoft.com/office/drawing/2014/main" id="{42E252DF-5C77-4809-A18E-4D42FB0565F5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37173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A05913DF-45E5-8247-A92B-E5620B596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A4D67803-9E56-90F2-4514-C426969C7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b="1" u="sng" dirty="0">
              <a:solidFill>
                <a:schemeClr val="bg2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1384386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bg1"/>
            </a:gs>
            <a:gs pos="2000">
              <a:schemeClr val="bg2">
                <a:lumMod val="69000"/>
                <a:alpha val="59821"/>
              </a:schemeClr>
            </a:gs>
            <a:gs pos="11000">
              <a:schemeClr val="bg1">
                <a:lumMod val="28000"/>
                <a:lumOff val="72000"/>
              </a:schemeClr>
            </a:gs>
          </a:gsLst>
          <a:lin ang="16200000" scaled="0"/>
        </a:gra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0F518781-0131-F3FC-BACB-9EC8E205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>
            <a:extLst>
              <a:ext uri="{FF2B5EF4-FFF2-40B4-BE49-F238E27FC236}">
                <a16:creationId xmlns:a16="http://schemas.microsoft.com/office/drawing/2014/main" id="{240D3F07-BA10-C0BB-0772-A132AC5EBF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536" y="2571750"/>
            <a:ext cx="679258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Statistical Analysis</a:t>
            </a:r>
            <a:endParaRPr sz="4000" b="1" dirty="0"/>
          </a:p>
        </p:txBody>
      </p:sp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18391518-0200-8047-CE8C-AE1849BCDF0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7444" y="1973065"/>
            <a:ext cx="1927879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04</a:t>
            </a:r>
            <a:endParaRPr sz="6600" dirty="0"/>
          </a:p>
        </p:txBody>
      </p:sp>
      <p:sp>
        <p:nvSpPr>
          <p:cNvPr id="169" name="Google Shape;169;p29">
            <a:extLst>
              <a:ext uri="{FF2B5EF4-FFF2-40B4-BE49-F238E27FC236}">
                <a16:creationId xmlns:a16="http://schemas.microsoft.com/office/drawing/2014/main" id="{4A5B5038-A0A5-141D-D587-A52F4BA26A36}"/>
              </a:ext>
            </a:extLst>
          </p:cNvPr>
          <p:cNvSpPr/>
          <p:nvPr/>
        </p:nvSpPr>
        <p:spPr>
          <a:xfrm>
            <a:off x="1212972" y="2014950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9">
            <a:extLst>
              <a:ext uri="{FF2B5EF4-FFF2-40B4-BE49-F238E27FC236}">
                <a16:creationId xmlns:a16="http://schemas.microsoft.com/office/drawing/2014/main" id="{1475F1F4-35B7-9DAA-A5E8-3366E815FF20}"/>
              </a:ext>
            </a:extLst>
          </p:cNvPr>
          <p:cNvCxnSpPr/>
          <p:nvPr/>
        </p:nvCxnSpPr>
        <p:spPr>
          <a:xfrm>
            <a:off x="1922172" y="201495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oogle Shape;2636;p53">
            <a:extLst>
              <a:ext uri="{FF2B5EF4-FFF2-40B4-BE49-F238E27FC236}">
                <a16:creationId xmlns:a16="http://schemas.microsoft.com/office/drawing/2014/main" id="{E8F01DCA-CA1A-A5C6-8328-32D1366FE7F8}"/>
              </a:ext>
            </a:extLst>
          </p:cNvPr>
          <p:cNvGrpSpPr/>
          <p:nvPr/>
        </p:nvGrpSpPr>
        <p:grpSpPr>
          <a:xfrm>
            <a:off x="1356462" y="2147974"/>
            <a:ext cx="283964" cy="283041"/>
            <a:chOff x="852385" y="1510916"/>
            <a:chExt cx="353145" cy="351998"/>
          </a:xfrm>
          <a:solidFill>
            <a:schemeClr val="bg2"/>
          </a:solidFill>
        </p:grpSpPr>
        <p:sp>
          <p:nvSpPr>
            <p:cNvPr id="6" name="Google Shape;2637;p53">
              <a:extLst>
                <a:ext uri="{FF2B5EF4-FFF2-40B4-BE49-F238E27FC236}">
                  <a16:creationId xmlns:a16="http://schemas.microsoft.com/office/drawing/2014/main" id="{A1739361-DD2E-D809-A251-D9FCE62519DD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638;p53">
              <a:extLst>
                <a:ext uri="{FF2B5EF4-FFF2-40B4-BE49-F238E27FC236}">
                  <a16:creationId xmlns:a16="http://schemas.microsoft.com/office/drawing/2014/main" id="{084F14B5-079F-BDC5-1EC4-154F220EDB88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639;p53">
              <a:extLst>
                <a:ext uri="{FF2B5EF4-FFF2-40B4-BE49-F238E27FC236}">
                  <a16:creationId xmlns:a16="http://schemas.microsoft.com/office/drawing/2014/main" id="{D1C1CBE0-EE44-3F3E-9DD5-E79E1CD21CFF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70486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B973219E-C39C-05E6-108E-5ACC533F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2;p47">
            <a:extLst>
              <a:ext uri="{FF2B5EF4-FFF2-40B4-BE49-F238E27FC236}">
                <a16:creationId xmlns:a16="http://schemas.microsoft.com/office/drawing/2014/main" id="{67EF6637-6657-7D46-B505-0396FA88F2DA}"/>
              </a:ext>
            </a:extLst>
          </p:cNvPr>
          <p:cNvSpPr/>
          <p:nvPr/>
        </p:nvSpPr>
        <p:spPr>
          <a:xfrm>
            <a:off x="4804802" y="2147434"/>
            <a:ext cx="3607752" cy="2569844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B00FF071-B99C-5FC4-306F-98DA65BAC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939" y="392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Tests</a:t>
            </a:r>
            <a:endParaRPr b="1" dirty="0"/>
          </a:p>
        </p:txBody>
      </p:sp>
      <p:sp>
        <p:nvSpPr>
          <p:cNvPr id="14" name="Subtitle 3">
            <a:extLst>
              <a:ext uri="{FF2B5EF4-FFF2-40B4-BE49-F238E27FC236}">
                <a16:creationId xmlns:a16="http://schemas.microsoft.com/office/drawing/2014/main" id="{99536B4E-1FFB-BA8C-82BA-6723B13E3DB1}"/>
              </a:ext>
            </a:extLst>
          </p:cNvPr>
          <p:cNvSpPr txBox="1">
            <a:spLocks/>
          </p:cNvSpPr>
          <p:nvPr/>
        </p:nvSpPr>
        <p:spPr>
          <a:xfrm>
            <a:off x="214691" y="964813"/>
            <a:ext cx="7670711" cy="110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 lang="en-US" sz="1400" i="1" dirty="0"/>
          </a:p>
          <a:p>
            <a:r>
              <a:rPr lang="en-US" sz="1400" b="1" i="1" u="sng" dirty="0"/>
              <a:t>Null Hypothesis</a:t>
            </a:r>
          </a:p>
          <a:p>
            <a:r>
              <a:rPr lang="en-US" sz="1400" i="1" dirty="0"/>
              <a:t>Mean perception gap rates are equal across all police districts.</a:t>
            </a:r>
          </a:p>
          <a:p>
            <a:r>
              <a:rPr lang="en-US" sz="1400" b="1" i="1" u="sng" dirty="0"/>
              <a:t>Alternative Hypothesis </a:t>
            </a:r>
          </a:p>
          <a:p>
            <a:r>
              <a:rPr lang="en-US" sz="1400" i="1" dirty="0"/>
              <a:t>At least one police district's mean perception gap rate is different from the others.</a:t>
            </a:r>
            <a:endParaRPr lang="en-US" sz="1400" dirty="0"/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692B9FDD-AA86-6C99-192D-C1A50B242AA8}"/>
              </a:ext>
            </a:extLst>
          </p:cNvPr>
          <p:cNvSpPr txBox="1">
            <a:spLocks/>
          </p:cNvSpPr>
          <p:nvPr/>
        </p:nvSpPr>
        <p:spPr>
          <a:xfrm>
            <a:off x="4813824" y="2340961"/>
            <a:ext cx="3607752" cy="237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US" sz="1400" b="1" i="1" u="sng" dirty="0"/>
              <a:t>Tukey HSD</a:t>
            </a:r>
          </a:p>
          <a:p>
            <a:r>
              <a:rPr lang="en-US" sz="1400" i="1" dirty="0"/>
              <a:t>District 2 vs. District 5 (diff = -0.64, p &lt; 0.001). District 5 has an average perception gap rate approximately 0.64 points lower than District 2.</a:t>
            </a:r>
          </a:p>
          <a:p>
            <a:endParaRPr lang="en-US" sz="1400" i="1" dirty="0"/>
          </a:p>
          <a:p>
            <a:r>
              <a:rPr lang="en-US" sz="1400" i="1" dirty="0"/>
              <a:t>District 1 vs. District 5 (diff = -0.48, p &lt; 0.001): District 1 is significantly higher than the lower tier districts, specifically 4, 5, and 6.</a:t>
            </a:r>
          </a:p>
        </p:txBody>
      </p:sp>
      <p:sp>
        <p:nvSpPr>
          <p:cNvPr id="11" name="Google Shape;1012;p47">
            <a:extLst>
              <a:ext uri="{FF2B5EF4-FFF2-40B4-BE49-F238E27FC236}">
                <a16:creationId xmlns:a16="http://schemas.microsoft.com/office/drawing/2014/main" id="{76010087-2146-1CC5-7FB6-BE197115DEAA}"/>
              </a:ext>
            </a:extLst>
          </p:cNvPr>
          <p:cNvSpPr/>
          <p:nvPr/>
        </p:nvSpPr>
        <p:spPr>
          <a:xfrm>
            <a:off x="532662" y="2204006"/>
            <a:ext cx="4082378" cy="1325114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Subtitle 3">
            <a:extLst>
              <a:ext uri="{FF2B5EF4-FFF2-40B4-BE49-F238E27FC236}">
                <a16:creationId xmlns:a16="http://schemas.microsoft.com/office/drawing/2014/main" id="{6A0B63B6-1488-8D84-06B0-14D8787997DB}"/>
              </a:ext>
            </a:extLst>
          </p:cNvPr>
          <p:cNvSpPr txBox="1">
            <a:spLocks/>
          </p:cNvSpPr>
          <p:nvPr/>
        </p:nvSpPr>
        <p:spPr>
          <a:xfrm>
            <a:off x="722424" y="2703589"/>
            <a:ext cx="3607751" cy="1023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US" sz="1400" b="1" i="1" u="sng" dirty="0"/>
              <a:t>ANOVA</a:t>
            </a:r>
          </a:p>
          <a:p>
            <a:r>
              <a:rPr lang="en-US" sz="1400" i="1" dirty="0" err="1"/>
              <a:t>total_gap_rate</a:t>
            </a:r>
            <a:r>
              <a:rPr lang="en-US" sz="1400" i="1" dirty="0"/>
              <a:t> ~ </a:t>
            </a:r>
            <a:r>
              <a:rPr lang="en-US" sz="1400" i="1" dirty="0" err="1"/>
              <a:t>police_district_number</a:t>
            </a:r>
            <a:endParaRPr lang="en-US" sz="1400" i="1" dirty="0"/>
          </a:p>
          <a:p>
            <a:endParaRPr lang="en-US" sz="1400" i="1" dirty="0"/>
          </a:p>
          <a:p>
            <a:pPr algn="ctr"/>
            <a:r>
              <a:rPr lang="en-US" sz="1400" i="1" dirty="0"/>
              <a:t>6.13e-12 </a:t>
            </a:r>
          </a:p>
          <a:p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398842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E63667C7-1316-C5EF-B42D-C6DEB397B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2;p47">
            <a:extLst>
              <a:ext uri="{FF2B5EF4-FFF2-40B4-BE49-F238E27FC236}">
                <a16:creationId xmlns:a16="http://schemas.microsoft.com/office/drawing/2014/main" id="{80152579-BFB7-753C-2C0F-89B921635542}"/>
              </a:ext>
            </a:extLst>
          </p:cNvPr>
          <p:cNvSpPr/>
          <p:nvPr/>
        </p:nvSpPr>
        <p:spPr>
          <a:xfrm>
            <a:off x="461914" y="1443163"/>
            <a:ext cx="4128940" cy="1470582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360E057F-7294-B3B1-36BA-ACDDF817C0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939" y="392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Models</a:t>
            </a:r>
            <a:endParaRPr b="1" dirty="0"/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B6670B1E-380A-D4DA-35FC-D580CD820D72}"/>
              </a:ext>
            </a:extLst>
          </p:cNvPr>
          <p:cNvSpPr txBox="1">
            <a:spLocks/>
          </p:cNvSpPr>
          <p:nvPr/>
        </p:nvSpPr>
        <p:spPr>
          <a:xfrm>
            <a:off x="79996" y="2005262"/>
            <a:ext cx="4779465" cy="113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US" sz="1400" b="1" i="1" u="sng" dirty="0"/>
              <a:t>Multiple Linear Regression</a:t>
            </a:r>
          </a:p>
          <a:p>
            <a:pPr algn="ctr"/>
            <a:r>
              <a:rPr lang="en-US" sz="1400" dirty="0"/>
              <a:t>Adjusted R-squared: 0.2408 </a:t>
            </a:r>
          </a:p>
          <a:p>
            <a:pPr algn="ctr"/>
            <a:r>
              <a:rPr lang="en-US" sz="1400" dirty="0" err="1"/>
              <a:t>total_gap_rate</a:t>
            </a:r>
            <a:r>
              <a:rPr lang="en-US" sz="1400" dirty="0"/>
              <a:t> ~ </a:t>
            </a:r>
            <a:r>
              <a:rPr lang="en-US" sz="1400" dirty="0" err="1"/>
              <a:t>police_district_number</a:t>
            </a:r>
            <a:r>
              <a:rPr lang="en-US" sz="1400" dirty="0"/>
              <a:t> + year</a:t>
            </a:r>
          </a:p>
          <a:p>
            <a:pPr algn="ctr"/>
            <a:r>
              <a:rPr lang="en-US" sz="1400" i="1" dirty="0"/>
              <a:t>p-value: &lt; 2.2e-16</a:t>
            </a:r>
          </a:p>
          <a:p>
            <a:pPr algn="ctr"/>
            <a:r>
              <a:rPr lang="en-US" sz="1400" i="1" dirty="0"/>
              <a:t>R-squared: 0.2408 </a:t>
            </a:r>
          </a:p>
          <a:p>
            <a:endParaRPr lang="en-US" sz="1400" i="1" dirty="0"/>
          </a:p>
        </p:txBody>
      </p:sp>
      <p:sp>
        <p:nvSpPr>
          <p:cNvPr id="2" name="Subtitle 3">
            <a:extLst>
              <a:ext uri="{FF2B5EF4-FFF2-40B4-BE49-F238E27FC236}">
                <a16:creationId xmlns:a16="http://schemas.microsoft.com/office/drawing/2014/main" id="{FEFB0F2A-BE4B-D0B3-709B-4E0C27E767C3}"/>
              </a:ext>
            </a:extLst>
          </p:cNvPr>
          <p:cNvSpPr txBox="1">
            <a:spLocks/>
          </p:cNvSpPr>
          <p:nvPr/>
        </p:nvSpPr>
        <p:spPr>
          <a:xfrm>
            <a:off x="4692375" y="2289717"/>
            <a:ext cx="3751600" cy="246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>
              <a:buFontTx/>
              <a:buChar char="-"/>
            </a:pPr>
            <a:r>
              <a:rPr lang="en-US" sz="1400" i="1" dirty="0"/>
              <a:t>Most year coefficients are negative and significant compared to 2017, except 2023.</a:t>
            </a:r>
          </a:p>
          <a:p>
            <a:pPr algn="ctr">
              <a:buFontTx/>
              <a:buChar char="-"/>
            </a:pPr>
            <a:r>
              <a:rPr lang="en-US" sz="1400" i="1" dirty="0"/>
              <a:t> Regardless of the district, the </a:t>
            </a:r>
            <a:r>
              <a:rPr lang="en-US" sz="1400" i="1" dirty="0" err="1"/>
              <a:t>total_gap_rate</a:t>
            </a:r>
            <a:r>
              <a:rPr lang="en-US" sz="1400" i="1" dirty="0"/>
              <a:t> has been trending downward compared to 2017.</a:t>
            </a:r>
          </a:p>
          <a:p>
            <a:pPr algn="ctr">
              <a:buFontTx/>
              <a:buChar char="-"/>
            </a:pPr>
            <a:r>
              <a:rPr lang="en-US" sz="1400" i="1" dirty="0"/>
              <a:t>Diagnostics plots indicated slight heteroscedasticity and a few outliers.</a:t>
            </a:r>
          </a:p>
          <a:p>
            <a:pPr algn="ctr">
              <a:buFontTx/>
              <a:buChar char="-"/>
            </a:pPr>
            <a:r>
              <a:rPr lang="en-US" sz="1400" i="1" dirty="0"/>
              <a:t>No severe violations that would invalidate the baseline regression approach.</a:t>
            </a:r>
          </a:p>
          <a:p>
            <a:endParaRPr lang="en-US" sz="14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FB709-E9F0-79DE-42E1-A5171037932F}"/>
              </a:ext>
            </a:extLst>
          </p:cNvPr>
          <p:cNvSpPr txBox="1"/>
          <p:nvPr/>
        </p:nvSpPr>
        <p:spPr>
          <a:xfrm>
            <a:off x="8347166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123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bg1"/>
            </a:gs>
            <a:gs pos="2000">
              <a:schemeClr val="bg2">
                <a:lumMod val="69000"/>
                <a:alpha val="59821"/>
              </a:schemeClr>
            </a:gs>
            <a:gs pos="11000">
              <a:schemeClr val="bg1">
                <a:lumMod val="28000"/>
                <a:lumOff val="72000"/>
              </a:schemeClr>
            </a:gs>
          </a:gsLst>
          <a:lin ang="16200000" scaled="0"/>
        </a:gra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1D9086A3-1460-8CF0-5314-C10F024A9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>
            <a:extLst>
              <a:ext uri="{FF2B5EF4-FFF2-40B4-BE49-F238E27FC236}">
                <a16:creationId xmlns:a16="http://schemas.microsoft.com/office/drawing/2014/main" id="{E9C8BA66-9819-A2FD-B5A4-99ECBA9B24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536" y="2571750"/>
            <a:ext cx="679258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Key Findings</a:t>
            </a:r>
            <a:endParaRPr sz="4000" b="1" dirty="0"/>
          </a:p>
        </p:txBody>
      </p:sp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6B691F3F-6684-D5FA-FE2D-31BE5EAA867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7444" y="1973065"/>
            <a:ext cx="1927879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05</a:t>
            </a:r>
            <a:endParaRPr sz="6600" dirty="0"/>
          </a:p>
        </p:txBody>
      </p:sp>
      <p:sp>
        <p:nvSpPr>
          <p:cNvPr id="169" name="Google Shape;169;p29">
            <a:extLst>
              <a:ext uri="{FF2B5EF4-FFF2-40B4-BE49-F238E27FC236}">
                <a16:creationId xmlns:a16="http://schemas.microsoft.com/office/drawing/2014/main" id="{28CAEBB8-1210-44C9-9677-3DA8FAAC00EA}"/>
              </a:ext>
            </a:extLst>
          </p:cNvPr>
          <p:cNvSpPr/>
          <p:nvPr/>
        </p:nvSpPr>
        <p:spPr>
          <a:xfrm>
            <a:off x="1212972" y="2014950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9">
            <a:extLst>
              <a:ext uri="{FF2B5EF4-FFF2-40B4-BE49-F238E27FC236}">
                <a16:creationId xmlns:a16="http://schemas.microsoft.com/office/drawing/2014/main" id="{95F1D902-94AC-E464-3112-21292C184E2E}"/>
              </a:ext>
            </a:extLst>
          </p:cNvPr>
          <p:cNvCxnSpPr/>
          <p:nvPr/>
        </p:nvCxnSpPr>
        <p:spPr>
          <a:xfrm>
            <a:off x="1922172" y="201495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980;p54">
            <a:extLst>
              <a:ext uri="{FF2B5EF4-FFF2-40B4-BE49-F238E27FC236}">
                <a16:creationId xmlns:a16="http://schemas.microsoft.com/office/drawing/2014/main" id="{BDEDEF7C-1877-C765-AA35-A0B83BE8F37A}"/>
              </a:ext>
            </a:extLst>
          </p:cNvPr>
          <p:cNvSpPr/>
          <p:nvPr/>
        </p:nvSpPr>
        <p:spPr>
          <a:xfrm>
            <a:off x="1354016" y="2156570"/>
            <a:ext cx="274711" cy="274445"/>
          </a:xfrm>
          <a:custGeom>
            <a:avLst/>
            <a:gdLst/>
            <a:ahLst/>
            <a:cxnLst/>
            <a:rect l="l" t="t" r="r" b="b"/>
            <a:pathLst>
              <a:path w="11347" h="11336" extrusionOk="0">
                <a:moveTo>
                  <a:pt x="2948" y="2991"/>
                </a:moveTo>
                <a:cubicBezTo>
                  <a:pt x="2993" y="2991"/>
                  <a:pt x="3039" y="2994"/>
                  <a:pt x="3084" y="3001"/>
                </a:cubicBezTo>
                <a:cubicBezTo>
                  <a:pt x="3394" y="3060"/>
                  <a:pt x="3656" y="3334"/>
                  <a:pt x="3715" y="3644"/>
                </a:cubicBezTo>
                <a:cubicBezTo>
                  <a:pt x="3775" y="3941"/>
                  <a:pt x="3667" y="4227"/>
                  <a:pt x="3441" y="4418"/>
                </a:cubicBezTo>
                <a:cubicBezTo>
                  <a:pt x="3298" y="4549"/>
                  <a:pt x="3203" y="4739"/>
                  <a:pt x="3203" y="4954"/>
                </a:cubicBezTo>
                <a:lnTo>
                  <a:pt x="3203" y="5311"/>
                </a:lnTo>
                <a:cubicBezTo>
                  <a:pt x="3203" y="5596"/>
                  <a:pt x="3441" y="5835"/>
                  <a:pt x="3727" y="5835"/>
                </a:cubicBezTo>
                <a:lnTo>
                  <a:pt x="5513" y="5835"/>
                </a:lnTo>
                <a:lnTo>
                  <a:pt x="5513" y="7621"/>
                </a:lnTo>
                <a:cubicBezTo>
                  <a:pt x="5513" y="7716"/>
                  <a:pt x="5430" y="7811"/>
                  <a:pt x="5322" y="7811"/>
                </a:cubicBezTo>
                <a:lnTo>
                  <a:pt x="4965" y="7811"/>
                </a:lnTo>
                <a:cubicBezTo>
                  <a:pt x="4858" y="7811"/>
                  <a:pt x="4751" y="7763"/>
                  <a:pt x="4691" y="7692"/>
                </a:cubicBezTo>
                <a:cubicBezTo>
                  <a:pt x="4472" y="7433"/>
                  <a:pt x="4152" y="7282"/>
                  <a:pt x="3809" y="7282"/>
                </a:cubicBezTo>
                <a:cubicBezTo>
                  <a:pt x="3743" y="7282"/>
                  <a:pt x="3675" y="7287"/>
                  <a:pt x="3608" y="7299"/>
                </a:cubicBezTo>
                <a:cubicBezTo>
                  <a:pt x="3167" y="7394"/>
                  <a:pt x="2810" y="7740"/>
                  <a:pt x="2715" y="8180"/>
                </a:cubicBezTo>
                <a:cubicBezTo>
                  <a:pt x="2644" y="8525"/>
                  <a:pt x="2727" y="8883"/>
                  <a:pt x="2941" y="9144"/>
                </a:cubicBezTo>
                <a:cubicBezTo>
                  <a:pt x="3167" y="9418"/>
                  <a:pt x="3477" y="9561"/>
                  <a:pt x="3834" y="9561"/>
                </a:cubicBezTo>
                <a:cubicBezTo>
                  <a:pt x="4179" y="9561"/>
                  <a:pt x="4501" y="9418"/>
                  <a:pt x="4715" y="9144"/>
                </a:cubicBezTo>
                <a:cubicBezTo>
                  <a:pt x="4775" y="9073"/>
                  <a:pt x="4870" y="9025"/>
                  <a:pt x="4977" y="9025"/>
                </a:cubicBezTo>
                <a:lnTo>
                  <a:pt x="5334" y="9025"/>
                </a:lnTo>
                <a:cubicBezTo>
                  <a:pt x="5441" y="9025"/>
                  <a:pt x="5525" y="9121"/>
                  <a:pt x="5525" y="9228"/>
                </a:cubicBezTo>
                <a:lnTo>
                  <a:pt x="5525" y="11014"/>
                </a:lnTo>
                <a:lnTo>
                  <a:pt x="881" y="11014"/>
                </a:lnTo>
                <a:cubicBezTo>
                  <a:pt x="584" y="11014"/>
                  <a:pt x="334" y="10776"/>
                  <a:pt x="334" y="10466"/>
                </a:cubicBezTo>
                <a:lnTo>
                  <a:pt x="334" y="5835"/>
                </a:lnTo>
                <a:lnTo>
                  <a:pt x="2120" y="5835"/>
                </a:lnTo>
                <a:cubicBezTo>
                  <a:pt x="2405" y="5835"/>
                  <a:pt x="2644" y="5596"/>
                  <a:pt x="2644" y="5311"/>
                </a:cubicBezTo>
                <a:lnTo>
                  <a:pt x="2644" y="4954"/>
                </a:lnTo>
                <a:cubicBezTo>
                  <a:pt x="2644" y="4751"/>
                  <a:pt x="2548" y="4549"/>
                  <a:pt x="2405" y="4418"/>
                </a:cubicBezTo>
                <a:cubicBezTo>
                  <a:pt x="2215" y="4275"/>
                  <a:pt x="2108" y="4025"/>
                  <a:pt x="2108" y="3799"/>
                </a:cubicBezTo>
                <a:cubicBezTo>
                  <a:pt x="2108" y="3549"/>
                  <a:pt x="2215" y="3322"/>
                  <a:pt x="2405" y="3168"/>
                </a:cubicBezTo>
                <a:cubicBezTo>
                  <a:pt x="2560" y="3052"/>
                  <a:pt x="2753" y="2991"/>
                  <a:pt x="2948" y="2991"/>
                </a:cubicBezTo>
                <a:close/>
                <a:moveTo>
                  <a:pt x="10418" y="322"/>
                </a:moveTo>
                <a:cubicBezTo>
                  <a:pt x="10716" y="322"/>
                  <a:pt x="10978" y="560"/>
                  <a:pt x="10978" y="882"/>
                </a:cubicBezTo>
                <a:lnTo>
                  <a:pt x="10978" y="5501"/>
                </a:lnTo>
                <a:lnTo>
                  <a:pt x="10811" y="5501"/>
                </a:lnTo>
                <a:cubicBezTo>
                  <a:pt x="10728" y="5501"/>
                  <a:pt x="10645" y="5585"/>
                  <a:pt x="10645" y="5668"/>
                </a:cubicBezTo>
                <a:cubicBezTo>
                  <a:pt x="10645" y="5763"/>
                  <a:pt x="10728" y="5835"/>
                  <a:pt x="10811" y="5835"/>
                </a:cubicBezTo>
                <a:lnTo>
                  <a:pt x="11002" y="5835"/>
                </a:lnTo>
                <a:lnTo>
                  <a:pt x="11002" y="10466"/>
                </a:lnTo>
                <a:cubicBezTo>
                  <a:pt x="11002" y="10764"/>
                  <a:pt x="10764" y="11014"/>
                  <a:pt x="10454" y="11014"/>
                </a:cubicBezTo>
                <a:lnTo>
                  <a:pt x="5846" y="11014"/>
                </a:lnTo>
                <a:lnTo>
                  <a:pt x="5846" y="9228"/>
                </a:lnTo>
                <a:cubicBezTo>
                  <a:pt x="5846" y="8942"/>
                  <a:pt x="5608" y="8704"/>
                  <a:pt x="5322" y="8704"/>
                </a:cubicBezTo>
                <a:lnTo>
                  <a:pt x="4965" y="8704"/>
                </a:lnTo>
                <a:cubicBezTo>
                  <a:pt x="4751" y="8704"/>
                  <a:pt x="4560" y="8799"/>
                  <a:pt x="4429" y="8942"/>
                </a:cubicBezTo>
                <a:cubicBezTo>
                  <a:pt x="4275" y="9133"/>
                  <a:pt x="4037" y="9240"/>
                  <a:pt x="3798" y="9240"/>
                </a:cubicBezTo>
                <a:cubicBezTo>
                  <a:pt x="3560" y="9240"/>
                  <a:pt x="3322" y="9133"/>
                  <a:pt x="3179" y="8942"/>
                </a:cubicBezTo>
                <a:cubicBezTo>
                  <a:pt x="3025" y="8752"/>
                  <a:pt x="2965" y="8502"/>
                  <a:pt x="3013" y="8263"/>
                </a:cubicBezTo>
                <a:cubicBezTo>
                  <a:pt x="3072" y="7942"/>
                  <a:pt x="3346" y="7692"/>
                  <a:pt x="3656" y="7632"/>
                </a:cubicBezTo>
                <a:cubicBezTo>
                  <a:pt x="3710" y="7621"/>
                  <a:pt x="3764" y="7616"/>
                  <a:pt x="3818" y="7616"/>
                </a:cubicBezTo>
                <a:cubicBezTo>
                  <a:pt x="4055" y="7616"/>
                  <a:pt x="4274" y="7722"/>
                  <a:pt x="4429" y="7906"/>
                </a:cubicBezTo>
                <a:cubicBezTo>
                  <a:pt x="4560" y="8049"/>
                  <a:pt x="4751" y="8144"/>
                  <a:pt x="4953" y="8144"/>
                </a:cubicBezTo>
                <a:lnTo>
                  <a:pt x="5311" y="8144"/>
                </a:lnTo>
                <a:cubicBezTo>
                  <a:pt x="5584" y="8144"/>
                  <a:pt x="5822" y="7906"/>
                  <a:pt x="5822" y="7621"/>
                </a:cubicBezTo>
                <a:lnTo>
                  <a:pt x="5822" y="5835"/>
                </a:lnTo>
                <a:lnTo>
                  <a:pt x="7608" y="5835"/>
                </a:lnTo>
                <a:cubicBezTo>
                  <a:pt x="7716" y="5835"/>
                  <a:pt x="7811" y="5918"/>
                  <a:pt x="7811" y="6025"/>
                </a:cubicBezTo>
                <a:lnTo>
                  <a:pt x="7811" y="6382"/>
                </a:lnTo>
                <a:cubicBezTo>
                  <a:pt x="7811" y="6489"/>
                  <a:pt x="7763" y="6597"/>
                  <a:pt x="7692" y="6656"/>
                </a:cubicBezTo>
                <a:cubicBezTo>
                  <a:pt x="7370" y="6918"/>
                  <a:pt x="7227" y="7323"/>
                  <a:pt x="7299" y="7740"/>
                </a:cubicBezTo>
                <a:cubicBezTo>
                  <a:pt x="7394" y="8180"/>
                  <a:pt x="7727" y="8537"/>
                  <a:pt x="8180" y="8633"/>
                </a:cubicBezTo>
                <a:cubicBezTo>
                  <a:pt x="8251" y="8644"/>
                  <a:pt x="8347" y="8656"/>
                  <a:pt x="8418" y="8656"/>
                </a:cubicBezTo>
                <a:cubicBezTo>
                  <a:pt x="8680" y="8656"/>
                  <a:pt x="8942" y="8573"/>
                  <a:pt x="9132" y="8406"/>
                </a:cubicBezTo>
                <a:cubicBezTo>
                  <a:pt x="9394" y="8180"/>
                  <a:pt x="9549" y="7871"/>
                  <a:pt x="9549" y="7513"/>
                </a:cubicBezTo>
                <a:cubicBezTo>
                  <a:pt x="9549" y="7168"/>
                  <a:pt x="9394" y="6847"/>
                  <a:pt x="9132" y="6632"/>
                </a:cubicBezTo>
                <a:cubicBezTo>
                  <a:pt x="9061" y="6573"/>
                  <a:pt x="9013" y="6478"/>
                  <a:pt x="9013" y="6370"/>
                </a:cubicBezTo>
                <a:lnTo>
                  <a:pt x="9013" y="6013"/>
                </a:lnTo>
                <a:cubicBezTo>
                  <a:pt x="9013" y="5906"/>
                  <a:pt x="9097" y="5823"/>
                  <a:pt x="9204" y="5823"/>
                </a:cubicBezTo>
                <a:lnTo>
                  <a:pt x="10097" y="5823"/>
                </a:lnTo>
                <a:cubicBezTo>
                  <a:pt x="10192" y="5823"/>
                  <a:pt x="10264" y="5739"/>
                  <a:pt x="10264" y="5656"/>
                </a:cubicBezTo>
                <a:cubicBezTo>
                  <a:pt x="10264" y="5561"/>
                  <a:pt x="10192" y="5489"/>
                  <a:pt x="10097" y="5489"/>
                </a:cubicBezTo>
                <a:lnTo>
                  <a:pt x="9204" y="5489"/>
                </a:lnTo>
                <a:cubicBezTo>
                  <a:pt x="8918" y="5489"/>
                  <a:pt x="8680" y="5727"/>
                  <a:pt x="8680" y="6013"/>
                </a:cubicBezTo>
                <a:lnTo>
                  <a:pt x="8680" y="6370"/>
                </a:lnTo>
                <a:cubicBezTo>
                  <a:pt x="8680" y="6573"/>
                  <a:pt x="8775" y="6775"/>
                  <a:pt x="8918" y="6906"/>
                </a:cubicBezTo>
                <a:cubicBezTo>
                  <a:pt x="9121" y="7049"/>
                  <a:pt x="9216" y="7287"/>
                  <a:pt x="9216" y="7525"/>
                </a:cubicBezTo>
                <a:cubicBezTo>
                  <a:pt x="9216" y="7763"/>
                  <a:pt x="9121" y="8002"/>
                  <a:pt x="8918" y="8156"/>
                </a:cubicBezTo>
                <a:cubicBezTo>
                  <a:pt x="8764" y="8272"/>
                  <a:pt x="8570" y="8333"/>
                  <a:pt x="8376" y="8333"/>
                </a:cubicBezTo>
                <a:cubicBezTo>
                  <a:pt x="8330" y="8333"/>
                  <a:pt x="8285" y="8330"/>
                  <a:pt x="8239" y="8323"/>
                </a:cubicBezTo>
                <a:cubicBezTo>
                  <a:pt x="7930" y="8263"/>
                  <a:pt x="7668" y="7990"/>
                  <a:pt x="7608" y="7680"/>
                </a:cubicBezTo>
                <a:cubicBezTo>
                  <a:pt x="7549" y="7382"/>
                  <a:pt x="7656" y="7097"/>
                  <a:pt x="7882" y="6906"/>
                </a:cubicBezTo>
                <a:cubicBezTo>
                  <a:pt x="8025" y="6775"/>
                  <a:pt x="8120" y="6573"/>
                  <a:pt x="8120" y="6370"/>
                </a:cubicBezTo>
                <a:lnTo>
                  <a:pt x="8120" y="6013"/>
                </a:lnTo>
                <a:cubicBezTo>
                  <a:pt x="8120" y="5727"/>
                  <a:pt x="7882" y="5489"/>
                  <a:pt x="7597" y="5489"/>
                </a:cubicBezTo>
                <a:lnTo>
                  <a:pt x="5811" y="5489"/>
                </a:lnTo>
                <a:lnTo>
                  <a:pt x="5811" y="3703"/>
                </a:lnTo>
                <a:cubicBezTo>
                  <a:pt x="5811" y="3596"/>
                  <a:pt x="5894" y="3513"/>
                  <a:pt x="6001" y="3513"/>
                </a:cubicBezTo>
                <a:lnTo>
                  <a:pt x="6358" y="3513"/>
                </a:lnTo>
                <a:cubicBezTo>
                  <a:pt x="6465" y="3513"/>
                  <a:pt x="6573" y="3560"/>
                  <a:pt x="6632" y="3632"/>
                </a:cubicBezTo>
                <a:cubicBezTo>
                  <a:pt x="6847" y="3886"/>
                  <a:pt x="7157" y="4035"/>
                  <a:pt x="7492" y="4035"/>
                </a:cubicBezTo>
                <a:cubicBezTo>
                  <a:pt x="7565" y="4035"/>
                  <a:pt x="7640" y="4028"/>
                  <a:pt x="7716" y="4013"/>
                </a:cubicBezTo>
                <a:cubicBezTo>
                  <a:pt x="8156" y="3930"/>
                  <a:pt x="8525" y="3584"/>
                  <a:pt x="8609" y="3144"/>
                </a:cubicBezTo>
                <a:cubicBezTo>
                  <a:pt x="8680" y="2798"/>
                  <a:pt x="8597" y="2441"/>
                  <a:pt x="8382" y="2167"/>
                </a:cubicBezTo>
                <a:cubicBezTo>
                  <a:pt x="8156" y="1906"/>
                  <a:pt x="7847" y="1751"/>
                  <a:pt x="7489" y="1751"/>
                </a:cubicBezTo>
                <a:cubicBezTo>
                  <a:pt x="7156" y="1751"/>
                  <a:pt x="6823" y="1906"/>
                  <a:pt x="6608" y="2167"/>
                </a:cubicBezTo>
                <a:cubicBezTo>
                  <a:pt x="6549" y="2251"/>
                  <a:pt x="6454" y="2287"/>
                  <a:pt x="6346" y="2287"/>
                </a:cubicBezTo>
                <a:lnTo>
                  <a:pt x="5989" y="2287"/>
                </a:lnTo>
                <a:cubicBezTo>
                  <a:pt x="5882" y="2287"/>
                  <a:pt x="5799" y="2203"/>
                  <a:pt x="5799" y="2096"/>
                </a:cubicBezTo>
                <a:lnTo>
                  <a:pt x="5799" y="1203"/>
                </a:lnTo>
                <a:cubicBezTo>
                  <a:pt x="5799" y="1120"/>
                  <a:pt x="5715" y="1036"/>
                  <a:pt x="5632" y="1036"/>
                </a:cubicBezTo>
                <a:cubicBezTo>
                  <a:pt x="5549" y="1036"/>
                  <a:pt x="5465" y="1120"/>
                  <a:pt x="5465" y="1203"/>
                </a:cubicBezTo>
                <a:lnTo>
                  <a:pt x="5465" y="2096"/>
                </a:lnTo>
                <a:cubicBezTo>
                  <a:pt x="5465" y="2382"/>
                  <a:pt x="5703" y="2620"/>
                  <a:pt x="5989" y="2620"/>
                </a:cubicBezTo>
                <a:lnTo>
                  <a:pt x="6346" y="2620"/>
                </a:lnTo>
                <a:cubicBezTo>
                  <a:pt x="6561" y="2620"/>
                  <a:pt x="6751" y="2525"/>
                  <a:pt x="6882" y="2382"/>
                </a:cubicBezTo>
                <a:cubicBezTo>
                  <a:pt x="7037" y="2191"/>
                  <a:pt x="7263" y="2084"/>
                  <a:pt x="7513" y="2084"/>
                </a:cubicBezTo>
                <a:cubicBezTo>
                  <a:pt x="7751" y="2084"/>
                  <a:pt x="7989" y="2191"/>
                  <a:pt x="8132" y="2382"/>
                </a:cubicBezTo>
                <a:cubicBezTo>
                  <a:pt x="8287" y="2572"/>
                  <a:pt x="8347" y="2822"/>
                  <a:pt x="8299" y="3060"/>
                </a:cubicBezTo>
                <a:cubicBezTo>
                  <a:pt x="8239" y="3382"/>
                  <a:pt x="7966" y="3632"/>
                  <a:pt x="7656" y="3691"/>
                </a:cubicBezTo>
                <a:cubicBezTo>
                  <a:pt x="7601" y="3702"/>
                  <a:pt x="7547" y="3708"/>
                  <a:pt x="7494" y="3708"/>
                </a:cubicBezTo>
                <a:cubicBezTo>
                  <a:pt x="7257" y="3708"/>
                  <a:pt x="7038" y="3602"/>
                  <a:pt x="6882" y="3418"/>
                </a:cubicBezTo>
                <a:cubicBezTo>
                  <a:pt x="6751" y="3275"/>
                  <a:pt x="6561" y="3179"/>
                  <a:pt x="6346" y="3179"/>
                </a:cubicBezTo>
                <a:lnTo>
                  <a:pt x="5989" y="3179"/>
                </a:lnTo>
                <a:cubicBezTo>
                  <a:pt x="5703" y="3179"/>
                  <a:pt x="5465" y="3418"/>
                  <a:pt x="5465" y="3703"/>
                </a:cubicBezTo>
                <a:lnTo>
                  <a:pt x="5465" y="5489"/>
                </a:lnTo>
                <a:lnTo>
                  <a:pt x="3679" y="5489"/>
                </a:lnTo>
                <a:cubicBezTo>
                  <a:pt x="3584" y="5489"/>
                  <a:pt x="3489" y="5406"/>
                  <a:pt x="3489" y="5299"/>
                </a:cubicBezTo>
                <a:lnTo>
                  <a:pt x="3489" y="4942"/>
                </a:lnTo>
                <a:cubicBezTo>
                  <a:pt x="3489" y="4834"/>
                  <a:pt x="3536" y="4727"/>
                  <a:pt x="3608" y="4668"/>
                </a:cubicBezTo>
                <a:cubicBezTo>
                  <a:pt x="3917" y="4406"/>
                  <a:pt x="4072" y="4001"/>
                  <a:pt x="3989" y="3584"/>
                </a:cubicBezTo>
                <a:cubicBezTo>
                  <a:pt x="3906" y="3144"/>
                  <a:pt x="3560" y="2787"/>
                  <a:pt x="3120" y="2691"/>
                </a:cubicBezTo>
                <a:cubicBezTo>
                  <a:pt x="3039" y="2675"/>
                  <a:pt x="2957" y="2666"/>
                  <a:pt x="2876" y="2666"/>
                </a:cubicBezTo>
                <a:cubicBezTo>
                  <a:pt x="2611" y="2666"/>
                  <a:pt x="2353" y="2754"/>
                  <a:pt x="2143" y="2918"/>
                </a:cubicBezTo>
                <a:cubicBezTo>
                  <a:pt x="1882" y="3144"/>
                  <a:pt x="1727" y="3453"/>
                  <a:pt x="1727" y="3811"/>
                </a:cubicBezTo>
                <a:cubicBezTo>
                  <a:pt x="1727" y="4156"/>
                  <a:pt x="1882" y="4477"/>
                  <a:pt x="2143" y="4692"/>
                </a:cubicBezTo>
                <a:cubicBezTo>
                  <a:pt x="2227" y="4751"/>
                  <a:pt x="2263" y="4846"/>
                  <a:pt x="2263" y="4954"/>
                </a:cubicBezTo>
                <a:lnTo>
                  <a:pt x="2263" y="5311"/>
                </a:lnTo>
                <a:cubicBezTo>
                  <a:pt x="2263" y="5418"/>
                  <a:pt x="2179" y="5501"/>
                  <a:pt x="2072" y="5501"/>
                </a:cubicBezTo>
                <a:lnTo>
                  <a:pt x="286" y="5501"/>
                </a:lnTo>
                <a:lnTo>
                  <a:pt x="286" y="882"/>
                </a:lnTo>
                <a:cubicBezTo>
                  <a:pt x="286" y="584"/>
                  <a:pt x="524" y="322"/>
                  <a:pt x="834" y="322"/>
                </a:cubicBezTo>
                <a:lnTo>
                  <a:pt x="5465" y="322"/>
                </a:lnTo>
                <a:lnTo>
                  <a:pt x="5465" y="524"/>
                </a:lnTo>
                <a:cubicBezTo>
                  <a:pt x="5465" y="608"/>
                  <a:pt x="5537" y="679"/>
                  <a:pt x="5632" y="679"/>
                </a:cubicBezTo>
                <a:cubicBezTo>
                  <a:pt x="5715" y="679"/>
                  <a:pt x="5799" y="608"/>
                  <a:pt x="5799" y="524"/>
                </a:cubicBezTo>
                <a:lnTo>
                  <a:pt x="5799" y="322"/>
                </a:lnTo>
                <a:close/>
                <a:moveTo>
                  <a:pt x="881" y="1"/>
                </a:moveTo>
                <a:cubicBezTo>
                  <a:pt x="405" y="1"/>
                  <a:pt x="0" y="382"/>
                  <a:pt x="0" y="870"/>
                </a:cubicBezTo>
                <a:lnTo>
                  <a:pt x="0" y="10454"/>
                </a:lnTo>
                <a:cubicBezTo>
                  <a:pt x="0" y="10930"/>
                  <a:pt x="393" y="11335"/>
                  <a:pt x="881" y="11335"/>
                </a:cubicBezTo>
                <a:lnTo>
                  <a:pt x="10466" y="11335"/>
                </a:lnTo>
                <a:cubicBezTo>
                  <a:pt x="10942" y="11335"/>
                  <a:pt x="11347" y="10954"/>
                  <a:pt x="11347" y="10454"/>
                </a:cubicBezTo>
                <a:lnTo>
                  <a:pt x="11347" y="870"/>
                </a:lnTo>
                <a:cubicBezTo>
                  <a:pt x="11347" y="405"/>
                  <a:pt x="10942" y="1"/>
                  <a:pt x="10466" y="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861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3CE97EE0-538D-E4FB-9B0F-347A329C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12;p47">
            <a:extLst>
              <a:ext uri="{FF2B5EF4-FFF2-40B4-BE49-F238E27FC236}">
                <a16:creationId xmlns:a16="http://schemas.microsoft.com/office/drawing/2014/main" id="{9B15C45F-6D34-447E-2B10-E1A553ED403A}"/>
              </a:ext>
            </a:extLst>
          </p:cNvPr>
          <p:cNvSpPr/>
          <p:nvPr/>
        </p:nvSpPr>
        <p:spPr>
          <a:xfrm>
            <a:off x="380588" y="735095"/>
            <a:ext cx="4169831" cy="3970240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  <p:sp>
        <p:nvSpPr>
          <p:cNvPr id="10" name="Google Shape;1012;p47">
            <a:extLst>
              <a:ext uri="{FF2B5EF4-FFF2-40B4-BE49-F238E27FC236}">
                <a16:creationId xmlns:a16="http://schemas.microsoft.com/office/drawing/2014/main" id="{DDF2383B-7174-3D4B-46DC-91A77E834C0F}"/>
              </a:ext>
            </a:extLst>
          </p:cNvPr>
          <p:cNvSpPr/>
          <p:nvPr/>
        </p:nvSpPr>
        <p:spPr>
          <a:xfrm>
            <a:off x="4632970" y="735095"/>
            <a:ext cx="4169831" cy="3970240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  <p:sp>
        <p:nvSpPr>
          <p:cNvPr id="28" name="Subtitle 24">
            <a:extLst>
              <a:ext uri="{FF2B5EF4-FFF2-40B4-BE49-F238E27FC236}">
                <a16:creationId xmlns:a16="http://schemas.microsoft.com/office/drawing/2014/main" id="{6494A508-C3A7-4278-69B1-6C478364E778}"/>
              </a:ext>
            </a:extLst>
          </p:cNvPr>
          <p:cNvSpPr txBox="1">
            <a:spLocks/>
          </p:cNvSpPr>
          <p:nvPr/>
        </p:nvSpPr>
        <p:spPr>
          <a:xfrm>
            <a:off x="480069" y="2048918"/>
            <a:ext cx="3970868" cy="27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/>
            <a:r>
              <a:rPr lang="en-US" sz="1400" dirty="0"/>
              <a:t>1. Most dispatch calls did not result in a crime report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400" dirty="0"/>
              <a:t>The perception gap was mainly driven by “No Report” outcomes </a:t>
            </a:r>
          </a:p>
          <a:p>
            <a:pPr marL="139700" indent="0"/>
            <a:endParaRPr lang="en-US" sz="1400" dirty="0"/>
          </a:p>
          <a:p>
            <a:pPr marL="139700" indent="0"/>
            <a:r>
              <a:rPr lang="en-US" sz="1400" dirty="0"/>
              <a:t>2. Service-related calls strongly contributed to the gap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400" dirty="0"/>
              <a:t>Many incidents involved non-criminal or service situations </a:t>
            </a:r>
          </a:p>
          <a:p>
            <a:pPr marL="139700" indent="0"/>
            <a:endParaRPr lang="en-US" sz="1400" dirty="0"/>
          </a:p>
          <a:p>
            <a:pPr marL="139700" indent="0"/>
            <a:r>
              <a:rPr lang="en-US" sz="1400" dirty="0"/>
              <a:t>3. Perception gap rates varied across districts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400" dirty="0"/>
              <a:t>Districts 1 and 2 showed higher gap rates than Districts 5 and 6 </a:t>
            </a:r>
          </a:p>
          <a:p>
            <a:pPr marL="139700" indent="0"/>
            <a:endParaRPr lang="en-US" sz="1400" dirty="0"/>
          </a:p>
        </p:txBody>
      </p:sp>
      <p:sp>
        <p:nvSpPr>
          <p:cNvPr id="8" name="Subtitle 24">
            <a:extLst>
              <a:ext uri="{FF2B5EF4-FFF2-40B4-BE49-F238E27FC236}">
                <a16:creationId xmlns:a16="http://schemas.microsoft.com/office/drawing/2014/main" id="{A90CCDA1-6D2E-D9CC-E22E-5447B9725B9A}"/>
              </a:ext>
            </a:extLst>
          </p:cNvPr>
          <p:cNvSpPr txBox="1">
            <a:spLocks/>
          </p:cNvSpPr>
          <p:nvPr/>
        </p:nvSpPr>
        <p:spPr>
          <a:xfrm>
            <a:off x="4809225" y="1032934"/>
            <a:ext cx="3954187" cy="3375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/>
            <a:endParaRPr lang="en-US" sz="1400" dirty="0"/>
          </a:p>
          <a:p>
            <a:pPr marL="139700" indent="0"/>
            <a:r>
              <a:rPr lang="en-US" sz="1400" dirty="0"/>
              <a:t>4. Severity upgrades occurred more often than downgrades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400" dirty="0"/>
              <a:t>Confirmed crimes were often classified as more severe later</a:t>
            </a:r>
          </a:p>
          <a:p>
            <a:pPr marL="139700" indent="0"/>
            <a:endParaRPr lang="en-US" sz="1400" dirty="0"/>
          </a:p>
          <a:p>
            <a:pPr marL="139700" indent="0"/>
            <a:r>
              <a:rPr lang="en-US" sz="1400" dirty="0"/>
              <a:t>5. Reporting outcomes varied by time of day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400" dirty="0"/>
              <a:t>Nighttime calls were more likely to end without a crime report</a:t>
            </a:r>
          </a:p>
          <a:p>
            <a:pPr marL="139700" indent="0"/>
            <a:endParaRPr lang="en-US" sz="1400" dirty="0"/>
          </a:p>
          <a:p>
            <a:pPr marL="139700" indent="0"/>
            <a:r>
              <a:rPr lang="en-US" sz="1400" dirty="0"/>
              <a:t>6. Police response activity reflects both crime and community concerns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400" dirty="0"/>
              <a:t>Dispatch demand reflects both crime and non-criminal community concerns.</a:t>
            </a:r>
          </a:p>
        </p:txBody>
      </p:sp>
    </p:spTree>
    <p:extLst>
      <p:ext uri="{BB962C8B-B14F-4D97-AF65-F5344CB8AC3E}">
        <p14:creationId xmlns:p14="http://schemas.microsoft.com/office/powerpoint/2010/main" val="2885448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bg1"/>
            </a:gs>
            <a:gs pos="2000">
              <a:schemeClr val="bg2">
                <a:lumMod val="69000"/>
                <a:alpha val="59821"/>
              </a:schemeClr>
            </a:gs>
            <a:gs pos="11000">
              <a:schemeClr val="bg1">
                <a:lumMod val="28000"/>
                <a:lumOff val="72000"/>
              </a:schemeClr>
            </a:gs>
          </a:gsLst>
          <a:lin ang="16200000" scaled="0"/>
        </a:gra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B867B2D9-1B1A-0D29-26FB-D4EEBB8E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>
            <a:extLst>
              <a:ext uri="{FF2B5EF4-FFF2-40B4-BE49-F238E27FC236}">
                <a16:creationId xmlns:a16="http://schemas.microsoft.com/office/drawing/2014/main" id="{5D339F41-2012-E859-126B-8FD0A4F7F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536" y="2571750"/>
            <a:ext cx="679258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Reflection</a:t>
            </a:r>
            <a:endParaRPr sz="4000" b="1" dirty="0"/>
          </a:p>
        </p:txBody>
      </p:sp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CE10B5FD-ECC5-38BB-84E5-770F024382F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7444" y="1973065"/>
            <a:ext cx="1927879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06</a:t>
            </a:r>
            <a:endParaRPr sz="6600" dirty="0"/>
          </a:p>
        </p:txBody>
      </p:sp>
      <p:sp>
        <p:nvSpPr>
          <p:cNvPr id="169" name="Google Shape;169;p29">
            <a:extLst>
              <a:ext uri="{FF2B5EF4-FFF2-40B4-BE49-F238E27FC236}">
                <a16:creationId xmlns:a16="http://schemas.microsoft.com/office/drawing/2014/main" id="{FCEFE3D2-0EDE-7C7F-1483-025426A2F341}"/>
              </a:ext>
            </a:extLst>
          </p:cNvPr>
          <p:cNvSpPr/>
          <p:nvPr/>
        </p:nvSpPr>
        <p:spPr>
          <a:xfrm>
            <a:off x="1212972" y="2014950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9">
            <a:extLst>
              <a:ext uri="{FF2B5EF4-FFF2-40B4-BE49-F238E27FC236}">
                <a16:creationId xmlns:a16="http://schemas.microsoft.com/office/drawing/2014/main" id="{DEDF0CC5-CAF5-C3A9-9CC4-3B2E7AAF70A1}"/>
              </a:ext>
            </a:extLst>
          </p:cNvPr>
          <p:cNvCxnSpPr/>
          <p:nvPr/>
        </p:nvCxnSpPr>
        <p:spPr>
          <a:xfrm>
            <a:off x="1922172" y="201495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oogle Shape;2877;p54">
            <a:extLst>
              <a:ext uri="{FF2B5EF4-FFF2-40B4-BE49-F238E27FC236}">
                <a16:creationId xmlns:a16="http://schemas.microsoft.com/office/drawing/2014/main" id="{9AD1E774-65F7-69B2-F570-2032F0FB46DD}"/>
              </a:ext>
            </a:extLst>
          </p:cNvPr>
          <p:cNvGrpSpPr/>
          <p:nvPr/>
        </p:nvGrpSpPr>
        <p:grpSpPr>
          <a:xfrm>
            <a:off x="1371464" y="2146783"/>
            <a:ext cx="239815" cy="284232"/>
            <a:chOff x="8020159" y="1516551"/>
            <a:chExt cx="300897" cy="356627"/>
          </a:xfrm>
          <a:solidFill>
            <a:schemeClr val="bg2"/>
          </a:solidFill>
        </p:grpSpPr>
        <p:sp>
          <p:nvSpPr>
            <p:cNvPr id="4" name="Google Shape;2878;p54">
              <a:extLst>
                <a:ext uri="{FF2B5EF4-FFF2-40B4-BE49-F238E27FC236}">
                  <a16:creationId xmlns:a16="http://schemas.microsoft.com/office/drawing/2014/main" id="{53EA8A9D-98E5-A01E-480E-34A66B5ACC95}"/>
                </a:ext>
              </a:extLst>
            </p:cNvPr>
            <p:cNvSpPr/>
            <p:nvPr/>
          </p:nvSpPr>
          <p:spPr>
            <a:xfrm>
              <a:off x="8126240" y="1669482"/>
              <a:ext cx="88703" cy="30523"/>
            </a:xfrm>
            <a:custGeom>
              <a:avLst/>
              <a:gdLst/>
              <a:ahLst/>
              <a:cxnLst/>
              <a:rect l="l" t="t" r="r" b="b"/>
              <a:pathLst>
                <a:path w="2787" h="959" extrusionOk="0">
                  <a:moveTo>
                    <a:pt x="1144" y="1"/>
                  </a:moveTo>
                  <a:cubicBezTo>
                    <a:pt x="800" y="1"/>
                    <a:pt x="487" y="41"/>
                    <a:pt x="287" y="77"/>
                  </a:cubicBezTo>
                  <a:cubicBezTo>
                    <a:pt x="120" y="101"/>
                    <a:pt x="1" y="244"/>
                    <a:pt x="1" y="411"/>
                  </a:cubicBezTo>
                  <a:lnTo>
                    <a:pt x="1" y="792"/>
                  </a:lnTo>
                  <a:cubicBezTo>
                    <a:pt x="1" y="875"/>
                    <a:pt x="72" y="958"/>
                    <a:pt x="167" y="958"/>
                  </a:cubicBezTo>
                  <a:cubicBezTo>
                    <a:pt x="251" y="958"/>
                    <a:pt x="322" y="875"/>
                    <a:pt x="322" y="792"/>
                  </a:cubicBezTo>
                  <a:lnTo>
                    <a:pt x="322" y="411"/>
                  </a:lnTo>
                  <a:cubicBezTo>
                    <a:pt x="322" y="411"/>
                    <a:pt x="322" y="399"/>
                    <a:pt x="346" y="399"/>
                  </a:cubicBezTo>
                  <a:cubicBezTo>
                    <a:pt x="510" y="379"/>
                    <a:pt x="814" y="344"/>
                    <a:pt x="1164" y="344"/>
                  </a:cubicBezTo>
                  <a:cubicBezTo>
                    <a:pt x="1246" y="344"/>
                    <a:pt x="1331" y="346"/>
                    <a:pt x="1418" y="351"/>
                  </a:cubicBezTo>
                  <a:cubicBezTo>
                    <a:pt x="1918" y="387"/>
                    <a:pt x="2287" y="518"/>
                    <a:pt x="2513" y="744"/>
                  </a:cubicBezTo>
                  <a:cubicBezTo>
                    <a:pt x="2543" y="774"/>
                    <a:pt x="2584" y="789"/>
                    <a:pt x="2628" y="789"/>
                  </a:cubicBezTo>
                  <a:cubicBezTo>
                    <a:pt x="2671" y="789"/>
                    <a:pt x="2715" y="774"/>
                    <a:pt x="2751" y="744"/>
                  </a:cubicBezTo>
                  <a:cubicBezTo>
                    <a:pt x="2787" y="672"/>
                    <a:pt x="2787" y="565"/>
                    <a:pt x="2727" y="494"/>
                  </a:cubicBezTo>
                  <a:cubicBezTo>
                    <a:pt x="2338" y="104"/>
                    <a:pt x="1699" y="1"/>
                    <a:pt x="11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879;p54">
              <a:extLst>
                <a:ext uri="{FF2B5EF4-FFF2-40B4-BE49-F238E27FC236}">
                  <a16:creationId xmlns:a16="http://schemas.microsoft.com/office/drawing/2014/main" id="{D0DF3180-8D33-020A-01CC-62E9A676B386}"/>
                </a:ext>
              </a:extLst>
            </p:cNvPr>
            <p:cNvSpPr/>
            <p:nvPr/>
          </p:nvSpPr>
          <p:spPr>
            <a:xfrm>
              <a:off x="8069778" y="1621518"/>
              <a:ext cx="200513" cy="251278"/>
            </a:xfrm>
            <a:custGeom>
              <a:avLst/>
              <a:gdLst/>
              <a:ahLst/>
              <a:cxnLst/>
              <a:rect l="l" t="t" r="r" b="b"/>
              <a:pathLst>
                <a:path w="6300" h="7895" extrusionOk="0">
                  <a:moveTo>
                    <a:pt x="4918" y="358"/>
                  </a:moveTo>
                  <a:lnTo>
                    <a:pt x="4918" y="1953"/>
                  </a:lnTo>
                  <a:cubicBezTo>
                    <a:pt x="4918" y="2191"/>
                    <a:pt x="4859" y="2429"/>
                    <a:pt x="4751" y="2644"/>
                  </a:cubicBezTo>
                  <a:cubicBezTo>
                    <a:pt x="4739" y="2656"/>
                    <a:pt x="4739" y="2680"/>
                    <a:pt x="4739" y="2715"/>
                  </a:cubicBezTo>
                  <a:lnTo>
                    <a:pt x="4739" y="3180"/>
                  </a:lnTo>
                  <a:cubicBezTo>
                    <a:pt x="4739" y="3620"/>
                    <a:pt x="4561" y="4037"/>
                    <a:pt x="4227" y="4334"/>
                  </a:cubicBezTo>
                  <a:cubicBezTo>
                    <a:pt x="3935" y="4605"/>
                    <a:pt x="3563" y="4768"/>
                    <a:pt x="3158" y="4768"/>
                  </a:cubicBezTo>
                  <a:cubicBezTo>
                    <a:pt x="3118" y="4768"/>
                    <a:pt x="3077" y="4766"/>
                    <a:pt x="3037" y="4763"/>
                  </a:cubicBezTo>
                  <a:cubicBezTo>
                    <a:pt x="2227" y="4704"/>
                    <a:pt x="1572" y="3977"/>
                    <a:pt x="1572" y="3108"/>
                  </a:cubicBezTo>
                  <a:lnTo>
                    <a:pt x="1572" y="2715"/>
                  </a:lnTo>
                  <a:cubicBezTo>
                    <a:pt x="1572" y="2680"/>
                    <a:pt x="1572" y="2668"/>
                    <a:pt x="1549" y="2644"/>
                  </a:cubicBezTo>
                  <a:cubicBezTo>
                    <a:pt x="1453" y="2418"/>
                    <a:pt x="1394" y="2191"/>
                    <a:pt x="1394" y="1953"/>
                  </a:cubicBezTo>
                  <a:lnTo>
                    <a:pt x="1394" y="1596"/>
                  </a:lnTo>
                  <a:cubicBezTo>
                    <a:pt x="1394" y="905"/>
                    <a:pt x="1941" y="358"/>
                    <a:pt x="2620" y="358"/>
                  </a:cubicBezTo>
                  <a:close/>
                  <a:moveTo>
                    <a:pt x="4049" y="4858"/>
                  </a:moveTo>
                  <a:lnTo>
                    <a:pt x="4049" y="5156"/>
                  </a:lnTo>
                  <a:lnTo>
                    <a:pt x="3156" y="5775"/>
                  </a:lnTo>
                  <a:lnTo>
                    <a:pt x="2263" y="5168"/>
                  </a:lnTo>
                  <a:lnTo>
                    <a:pt x="2263" y="4858"/>
                  </a:lnTo>
                  <a:cubicBezTo>
                    <a:pt x="2489" y="4977"/>
                    <a:pt x="2763" y="5061"/>
                    <a:pt x="3025" y="5073"/>
                  </a:cubicBezTo>
                  <a:lnTo>
                    <a:pt x="3156" y="5073"/>
                  </a:lnTo>
                  <a:cubicBezTo>
                    <a:pt x="3477" y="5073"/>
                    <a:pt x="3775" y="5001"/>
                    <a:pt x="4049" y="4858"/>
                  </a:cubicBezTo>
                  <a:close/>
                  <a:moveTo>
                    <a:pt x="2132" y="5477"/>
                  </a:moveTo>
                  <a:lnTo>
                    <a:pt x="2906" y="6013"/>
                  </a:lnTo>
                  <a:lnTo>
                    <a:pt x="2489" y="6418"/>
                  </a:lnTo>
                  <a:lnTo>
                    <a:pt x="2477" y="6418"/>
                  </a:lnTo>
                  <a:lnTo>
                    <a:pt x="1965" y="5656"/>
                  </a:lnTo>
                  <a:lnTo>
                    <a:pt x="2132" y="5477"/>
                  </a:lnTo>
                  <a:close/>
                  <a:moveTo>
                    <a:pt x="4168" y="5466"/>
                  </a:moveTo>
                  <a:lnTo>
                    <a:pt x="4335" y="5644"/>
                  </a:lnTo>
                  <a:lnTo>
                    <a:pt x="3835" y="6418"/>
                  </a:lnTo>
                  <a:lnTo>
                    <a:pt x="3811" y="6418"/>
                  </a:lnTo>
                  <a:lnTo>
                    <a:pt x="3394" y="6001"/>
                  </a:lnTo>
                  <a:lnTo>
                    <a:pt x="4168" y="5466"/>
                  </a:lnTo>
                  <a:close/>
                  <a:moveTo>
                    <a:pt x="2620" y="1"/>
                  </a:moveTo>
                  <a:cubicBezTo>
                    <a:pt x="1763" y="1"/>
                    <a:pt x="1060" y="703"/>
                    <a:pt x="1060" y="1572"/>
                  </a:cubicBezTo>
                  <a:lnTo>
                    <a:pt x="1060" y="1918"/>
                  </a:lnTo>
                  <a:cubicBezTo>
                    <a:pt x="1060" y="2203"/>
                    <a:pt x="1120" y="2477"/>
                    <a:pt x="1239" y="2727"/>
                  </a:cubicBezTo>
                  <a:lnTo>
                    <a:pt x="1239" y="3096"/>
                  </a:lnTo>
                  <a:cubicBezTo>
                    <a:pt x="1239" y="3703"/>
                    <a:pt x="1513" y="4263"/>
                    <a:pt x="1941" y="4632"/>
                  </a:cubicBezTo>
                  <a:lnTo>
                    <a:pt x="1941" y="5180"/>
                  </a:lnTo>
                  <a:lnTo>
                    <a:pt x="1632" y="5513"/>
                  </a:lnTo>
                  <a:cubicBezTo>
                    <a:pt x="1596" y="5537"/>
                    <a:pt x="1584" y="5585"/>
                    <a:pt x="1584" y="5632"/>
                  </a:cubicBezTo>
                  <a:lnTo>
                    <a:pt x="572" y="6001"/>
                  </a:lnTo>
                  <a:cubicBezTo>
                    <a:pt x="227" y="6120"/>
                    <a:pt x="1" y="6442"/>
                    <a:pt x="1" y="6823"/>
                  </a:cubicBezTo>
                  <a:lnTo>
                    <a:pt x="1" y="7728"/>
                  </a:lnTo>
                  <a:cubicBezTo>
                    <a:pt x="1" y="7823"/>
                    <a:pt x="84" y="7894"/>
                    <a:pt x="167" y="7894"/>
                  </a:cubicBezTo>
                  <a:cubicBezTo>
                    <a:pt x="263" y="7894"/>
                    <a:pt x="334" y="7823"/>
                    <a:pt x="334" y="7728"/>
                  </a:cubicBezTo>
                  <a:lnTo>
                    <a:pt x="334" y="6823"/>
                  </a:lnTo>
                  <a:cubicBezTo>
                    <a:pt x="334" y="6597"/>
                    <a:pt x="477" y="6382"/>
                    <a:pt x="691" y="6311"/>
                  </a:cubicBezTo>
                  <a:lnTo>
                    <a:pt x="1751" y="5930"/>
                  </a:lnTo>
                  <a:lnTo>
                    <a:pt x="2192" y="6597"/>
                  </a:lnTo>
                  <a:cubicBezTo>
                    <a:pt x="2251" y="6680"/>
                    <a:pt x="2346" y="6728"/>
                    <a:pt x="2442" y="6740"/>
                  </a:cubicBezTo>
                  <a:lnTo>
                    <a:pt x="2477" y="6740"/>
                  </a:lnTo>
                  <a:cubicBezTo>
                    <a:pt x="2561" y="6740"/>
                    <a:pt x="2656" y="6716"/>
                    <a:pt x="2715" y="6644"/>
                  </a:cubicBezTo>
                  <a:lnTo>
                    <a:pt x="2977" y="6370"/>
                  </a:lnTo>
                  <a:lnTo>
                    <a:pt x="2977" y="7728"/>
                  </a:lnTo>
                  <a:cubicBezTo>
                    <a:pt x="2977" y="7823"/>
                    <a:pt x="3061" y="7894"/>
                    <a:pt x="3144" y="7894"/>
                  </a:cubicBezTo>
                  <a:cubicBezTo>
                    <a:pt x="3239" y="7894"/>
                    <a:pt x="3311" y="7823"/>
                    <a:pt x="3311" y="7728"/>
                  </a:cubicBezTo>
                  <a:lnTo>
                    <a:pt x="3311" y="6370"/>
                  </a:lnTo>
                  <a:lnTo>
                    <a:pt x="3573" y="6644"/>
                  </a:lnTo>
                  <a:cubicBezTo>
                    <a:pt x="3632" y="6704"/>
                    <a:pt x="3727" y="6740"/>
                    <a:pt x="3811" y="6740"/>
                  </a:cubicBezTo>
                  <a:lnTo>
                    <a:pt x="3846" y="6740"/>
                  </a:lnTo>
                  <a:cubicBezTo>
                    <a:pt x="3954" y="6728"/>
                    <a:pt x="4037" y="6680"/>
                    <a:pt x="4097" y="6597"/>
                  </a:cubicBezTo>
                  <a:lnTo>
                    <a:pt x="4549" y="5930"/>
                  </a:lnTo>
                  <a:lnTo>
                    <a:pt x="5597" y="6311"/>
                  </a:lnTo>
                  <a:cubicBezTo>
                    <a:pt x="5811" y="6382"/>
                    <a:pt x="5954" y="6597"/>
                    <a:pt x="5954" y="6823"/>
                  </a:cubicBezTo>
                  <a:lnTo>
                    <a:pt x="5954" y="7728"/>
                  </a:lnTo>
                  <a:cubicBezTo>
                    <a:pt x="5954" y="7823"/>
                    <a:pt x="6037" y="7894"/>
                    <a:pt x="6121" y="7894"/>
                  </a:cubicBezTo>
                  <a:cubicBezTo>
                    <a:pt x="6204" y="7894"/>
                    <a:pt x="6287" y="7823"/>
                    <a:pt x="6287" y="7728"/>
                  </a:cubicBezTo>
                  <a:lnTo>
                    <a:pt x="6287" y="6823"/>
                  </a:lnTo>
                  <a:cubicBezTo>
                    <a:pt x="6299" y="6466"/>
                    <a:pt x="6073" y="6132"/>
                    <a:pt x="5740" y="6001"/>
                  </a:cubicBezTo>
                  <a:lnTo>
                    <a:pt x="4728" y="5632"/>
                  </a:lnTo>
                  <a:cubicBezTo>
                    <a:pt x="4728" y="5585"/>
                    <a:pt x="4704" y="5537"/>
                    <a:pt x="4680" y="5513"/>
                  </a:cubicBezTo>
                  <a:lnTo>
                    <a:pt x="4370" y="5180"/>
                  </a:lnTo>
                  <a:lnTo>
                    <a:pt x="4370" y="4644"/>
                  </a:lnTo>
                  <a:lnTo>
                    <a:pt x="4454" y="4561"/>
                  </a:lnTo>
                  <a:cubicBezTo>
                    <a:pt x="4847" y="4204"/>
                    <a:pt x="5061" y="3680"/>
                    <a:pt x="5061" y="3156"/>
                  </a:cubicBezTo>
                  <a:lnTo>
                    <a:pt x="5061" y="2727"/>
                  </a:lnTo>
                  <a:cubicBezTo>
                    <a:pt x="5180" y="2477"/>
                    <a:pt x="5240" y="2203"/>
                    <a:pt x="5240" y="1929"/>
                  </a:cubicBezTo>
                  <a:lnTo>
                    <a:pt x="5240" y="167"/>
                  </a:lnTo>
                  <a:cubicBezTo>
                    <a:pt x="5240" y="84"/>
                    <a:pt x="5168" y="1"/>
                    <a:pt x="50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880;p54">
              <a:extLst>
                <a:ext uri="{FF2B5EF4-FFF2-40B4-BE49-F238E27FC236}">
                  <a16:creationId xmlns:a16="http://schemas.microsoft.com/office/drawing/2014/main" id="{60AFA656-7F10-4015-4AF4-A10EE3CF9EAB}"/>
                </a:ext>
              </a:extLst>
            </p:cNvPr>
            <p:cNvSpPr/>
            <p:nvPr/>
          </p:nvSpPr>
          <p:spPr>
            <a:xfrm>
              <a:off x="8103515" y="1851535"/>
              <a:ext cx="10630" cy="21643"/>
            </a:xfrm>
            <a:custGeom>
              <a:avLst/>
              <a:gdLst/>
              <a:ahLst/>
              <a:cxnLst/>
              <a:rect l="l" t="t" r="r" b="b"/>
              <a:pathLst>
                <a:path w="334" h="680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513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0" y="679"/>
                    <a:pt x="334" y="608"/>
                    <a:pt x="334" y="513"/>
                  </a:cubicBezTo>
                  <a:lnTo>
                    <a:pt x="334" y="155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881;p54">
              <a:extLst>
                <a:ext uri="{FF2B5EF4-FFF2-40B4-BE49-F238E27FC236}">
                  <a16:creationId xmlns:a16="http://schemas.microsoft.com/office/drawing/2014/main" id="{7C0060BF-AA59-6C16-651D-953845B0D9C6}"/>
                </a:ext>
              </a:extLst>
            </p:cNvPr>
            <p:cNvSpPr/>
            <p:nvPr/>
          </p:nvSpPr>
          <p:spPr>
            <a:xfrm>
              <a:off x="8226306" y="1851535"/>
              <a:ext cx="10248" cy="21643"/>
            </a:xfrm>
            <a:custGeom>
              <a:avLst/>
              <a:gdLst/>
              <a:ahLst/>
              <a:cxnLst/>
              <a:rect l="l" t="t" r="r" b="b"/>
              <a:pathLst>
                <a:path w="322" h="680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lnTo>
                    <a:pt x="0" y="513"/>
                  </a:lnTo>
                  <a:cubicBezTo>
                    <a:pt x="0" y="608"/>
                    <a:pt x="71" y="679"/>
                    <a:pt x="167" y="679"/>
                  </a:cubicBezTo>
                  <a:cubicBezTo>
                    <a:pt x="250" y="679"/>
                    <a:pt x="322" y="608"/>
                    <a:pt x="322" y="513"/>
                  </a:cubicBezTo>
                  <a:lnTo>
                    <a:pt x="322" y="155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882;p54">
              <a:extLst>
                <a:ext uri="{FF2B5EF4-FFF2-40B4-BE49-F238E27FC236}">
                  <a16:creationId xmlns:a16="http://schemas.microsoft.com/office/drawing/2014/main" id="{3C01D401-D882-D188-7643-5F8F03230D00}"/>
                </a:ext>
              </a:extLst>
            </p:cNvPr>
            <p:cNvSpPr/>
            <p:nvPr/>
          </p:nvSpPr>
          <p:spPr>
            <a:xfrm>
              <a:off x="8020159" y="1516551"/>
              <a:ext cx="300897" cy="284251"/>
            </a:xfrm>
            <a:custGeom>
              <a:avLst/>
              <a:gdLst/>
              <a:ahLst/>
              <a:cxnLst/>
              <a:rect l="l" t="t" r="r" b="b"/>
              <a:pathLst>
                <a:path w="9454" h="8931" extrusionOk="0">
                  <a:moveTo>
                    <a:pt x="6263" y="596"/>
                  </a:moveTo>
                  <a:lnTo>
                    <a:pt x="6263" y="596"/>
                  </a:lnTo>
                  <a:cubicBezTo>
                    <a:pt x="7060" y="894"/>
                    <a:pt x="7739" y="1406"/>
                    <a:pt x="8227" y="2084"/>
                  </a:cubicBezTo>
                  <a:lnTo>
                    <a:pt x="7322" y="2084"/>
                  </a:lnTo>
                  <a:cubicBezTo>
                    <a:pt x="7215" y="1846"/>
                    <a:pt x="7096" y="1620"/>
                    <a:pt x="6953" y="1394"/>
                  </a:cubicBezTo>
                  <a:cubicBezTo>
                    <a:pt x="6739" y="1084"/>
                    <a:pt x="6525" y="822"/>
                    <a:pt x="6263" y="596"/>
                  </a:cubicBezTo>
                  <a:close/>
                  <a:moveTo>
                    <a:pt x="3143" y="608"/>
                  </a:moveTo>
                  <a:cubicBezTo>
                    <a:pt x="2893" y="822"/>
                    <a:pt x="2667" y="1084"/>
                    <a:pt x="2453" y="1406"/>
                  </a:cubicBezTo>
                  <a:cubicBezTo>
                    <a:pt x="2322" y="1620"/>
                    <a:pt x="2203" y="1846"/>
                    <a:pt x="2084" y="2096"/>
                  </a:cubicBezTo>
                  <a:lnTo>
                    <a:pt x="1179" y="2096"/>
                  </a:lnTo>
                  <a:cubicBezTo>
                    <a:pt x="1667" y="1429"/>
                    <a:pt x="2357" y="905"/>
                    <a:pt x="3143" y="608"/>
                  </a:cubicBezTo>
                  <a:close/>
                  <a:moveTo>
                    <a:pt x="4560" y="322"/>
                  </a:moveTo>
                  <a:lnTo>
                    <a:pt x="4560" y="2096"/>
                  </a:lnTo>
                  <a:lnTo>
                    <a:pt x="2453" y="2096"/>
                  </a:lnTo>
                  <a:cubicBezTo>
                    <a:pt x="2929" y="1084"/>
                    <a:pt x="3691" y="393"/>
                    <a:pt x="4560" y="322"/>
                  </a:cubicBezTo>
                  <a:close/>
                  <a:moveTo>
                    <a:pt x="4882" y="322"/>
                  </a:moveTo>
                  <a:cubicBezTo>
                    <a:pt x="5751" y="393"/>
                    <a:pt x="6489" y="1084"/>
                    <a:pt x="6977" y="2096"/>
                  </a:cubicBezTo>
                  <a:lnTo>
                    <a:pt x="4882" y="2096"/>
                  </a:lnTo>
                  <a:lnTo>
                    <a:pt x="4882" y="322"/>
                  </a:lnTo>
                  <a:close/>
                  <a:moveTo>
                    <a:pt x="1953" y="2418"/>
                  </a:moveTo>
                  <a:cubicBezTo>
                    <a:pt x="1715" y="3084"/>
                    <a:pt x="1584" y="3799"/>
                    <a:pt x="1560" y="4549"/>
                  </a:cubicBezTo>
                  <a:lnTo>
                    <a:pt x="310" y="4549"/>
                  </a:lnTo>
                  <a:cubicBezTo>
                    <a:pt x="345" y="3775"/>
                    <a:pt x="572" y="3049"/>
                    <a:pt x="953" y="2418"/>
                  </a:cubicBezTo>
                  <a:close/>
                  <a:moveTo>
                    <a:pt x="8465" y="2429"/>
                  </a:moveTo>
                  <a:cubicBezTo>
                    <a:pt x="8858" y="3049"/>
                    <a:pt x="9085" y="3775"/>
                    <a:pt x="9108" y="4549"/>
                  </a:cubicBezTo>
                  <a:lnTo>
                    <a:pt x="7858" y="4549"/>
                  </a:lnTo>
                  <a:cubicBezTo>
                    <a:pt x="7846" y="3799"/>
                    <a:pt x="7715" y="3084"/>
                    <a:pt x="7477" y="2429"/>
                  </a:cubicBezTo>
                  <a:close/>
                  <a:moveTo>
                    <a:pt x="1560" y="4882"/>
                  </a:moveTo>
                  <a:cubicBezTo>
                    <a:pt x="1584" y="5585"/>
                    <a:pt x="1703" y="6251"/>
                    <a:pt x="1905" y="6870"/>
                  </a:cubicBezTo>
                  <a:lnTo>
                    <a:pt x="1953" y="7001"/>
                  </a:lnTo>
                  <a:lnTo>
                    <a:pt x="953" y="7001"/>
                  </a:lnTo>
                  <a:cubicBezTo>
                    <a:pt x="572" y="6382"/>
                    <a:pt x="345" y="5656"/>
                    <a:pt x="310" y="4882"/>
                  </a:cubicBezTo>
                  <a:close/>
                  <a:moveTo>
                    <a:pt x="9096" y="4894"/>
                  </a:moveTo>
                  <a:cubicBezTo>
                    <a:pt x="9085" y="5608"/>
                    <a:pt x="8870" y="6323"/>
                    <a:pt x="8501" y="6954"/>
                  </a:cubicBezTo>
                  <a:cubicBezTo>
                    <a:pt x="8489" y="6966"/>
                    <a:pt x="8465" y="6990"/>
                    <a:pt x="8453" y="7001"/>
                  </a:cubicBezTo>
                  <a:lnTo>
                    <a:pt x="7453" y="7001"/>
                  </a:lnTo>
                  <a:lnTo>
                    <a:pt x="7501" y="6870"/>
                  </a:lnTo>
                  <a:cubicBezTo>
                    <a:pt x="7715" y="6251"/>
                    <a:pt x="7834" y="5585"/>
                    <a:pt x="7846" y="4894"/>
                  </a:cubicBezTo>
                  <a:close/>
                  <a:moveTo>
                    <a:pt x="4715" y="1"/>
                  </a:moveTo>
                  <a:cubicBezTo>
                    <a:pt x="3465" y="1"/>
                    <a:pt x="2262" y="489"/>
                    <a:pt x="1381" y="1382"/>
                  </a:cubicBezTo>
                  <a:cubicBezTo>
                    <a:pt x="488" y="2275"/>
                    <a:pt x="0" y="3465"/>
                    <a:pt x="0" y="4715"/>
                  </a:cubicBezTo>
                  <a:cubicBezTo>
                    <a:pt x="0" y="6489"/>
                    <a:pt x="976" y="8097"/>
                    <a:pt x="2548" y="8918"/>
                  </a:cubicBezTo>
                  <a:cubicBezTo>
                    <a:pt x="2572" y="8930"/>
                    <a:pt x="2584" y="8930"/>
                    <a:pt x="2619" y="8930"/>
                  </a:cubicBezTo>
                  <a:cubicBezTo>
                    <a:pt x="2679" y="8930"/>
                    <a:pt x="2738" y="8895"/>
                    <a:pt x="2762" y="8835"/>
                  </a:cubicBezTo>
                  <a:cubicBezTo>
                    <a:pt x="2810" y="8764"/>
                    <a:pt x="2786" y="8656"/>
                    <a:pt x="2691" y="8621"/>
                  </a:cubicBezTo>
                  <a:cubicBezTo>
                    <a:pt x="2084" y="8299"/>
                    <a:pt x="1572" y="7859"/>
                    <a:pt x="1191" y="7335"/>
                  </a:cubicBezTo>
                  <a:lnTo>
                    <a:pt x="2096" y="7335"/>
                  </a:lnTo>
                  <a:cubicBezTo>
                    <a:pt x="2286" y="7775"/>
                    <a:pt x="2548" y="8180"/>
                    <a:pt x="2846" y="8514"/>
                  </a:cubicBezTo>
                  <a:cubicBezTo>
                    <a:pt x="2877" y="8551"/>
                    <a:pt x="2918" y="8569"/>
                    <a:pt x="2961" y="8569"/>
                  </a:cubicBezTo>
                  <a:cubicBezTo>
                    <a:pt x="3002" y="8569"/>
                    <a:pt x="3044" y="8554"/>
                    <a:pt x="3084" y="8525"/>
                  </a:cubicBezTo>
                  <a:cubicBezTo>
                    <a:pt x="3155" y="8466"/>
                    <a:pt x="3155" y="8359"/>
                    <a:pt x="3096" y="8287"/>
                  </a:cubicBezTo>
                  <a:cubicBezTo>
                    <a:pt x="2858" y="8013"/>
                    <a:pt x="2643" y="7692"/>
                    <a:pt x="2465" y="7335"/>
                  </a:cubicBezTo>
                  <a:cubicBezTo>
                    <a:pt x="2548" y="7323"/>
                    <a:pt x="2619" y="7263"/>
                    <a:pt x="2619" y="7168"/>
                  </a:cubicBezTo>
                  <a:cubicBezTo>
                    <a:pt x="2619" y="7085"/>
                    <a:pt x="2548" y="7001"/>
                    <a:pt x="2453" y="7001"/>
                  </a:cubicBezTo>
                  <a:lnTo>
                    <a:pt x="2334" y="7001"/>
                  </a:lnTo>
                  <a:cubicBezTo>
                    <a:pt x="2084" y="6370"/>
                    <a:pt x="1929" y="5632"/>
                    <a:pt x="1917" y="4882"/>
                  </a:cubicBezTo>
                  <a:lnTo>
                    <a:pt x="2096" y="4882"/>
                  </a:lnTo>
                  <a:cubicBezTo>
                    <a:pt x="2191" y="4882"/>
                    <a:pt x="2262" y="4799"/>
                    <a:pt x="2262" y="4715"/>
                  </a:cubicBezTo>
                  <a:cubicBezTo>
                    <a:pt x="2262" y="4620"/>
                    <a:pt x="2191" y="4549"/>
                    <a:pt x="2096" y="4549"/>
                  </a:cubicBezTo>
                  <a:lnTo>
                    <a:pt x="1917" y="4549"/>
                  </a:lnTo>
                  <a:cubicBezTo>
                    <a:pt x="1929" y="3775"/>
                    <a:pt x="2084" y="3049"/>
                    <a:pt x="2334" y="2418"/>
                  </a:cubicBezTo>
                  <a:lnTo>
                    <a:pt x="4572" y="2418"/>
                  </a:lnTo>
                  <a:lnTo>
                    <a:pt x="4572" y="2775"/>
                  </a:lnTo>
                  <a:cubicBezTo>
                    <a:pt x="4572" y="2870"/>
                    <a:pt x="4643" y="2941"/>
                    <a:pt x="4727" y="2941"/>
                  </a:cubicBezTo>
                  <a:cubicBezTo>
                    <a:pt x="4822" y="2941"/>
                    <a:pt x="4894" y="2870"/>
                    <a:pt x="4894" y="2775"/>
                  </a:cubicBezTo>
                  <a:lnTo>
                    <a:pt x="4894" y="2418"/>
                  </a:lnTo>
                  <a:lnTo>
                    <a:pt x="7132" y="2418"/>
                  </a:lnTo>
                  <a:cubicBezTo>
                    <a:pt x="7370" y="3049"/>
                    <a:pt x="7513" y="3775"/>
                    <a:pt x="7549" y="4549"/>
                  </a:cubicBezTo>
                  <a:lnTo>
                    <a:pt x="7370" y="4549"/>
                  </a:lnTo>
                  <a:cubicBezTo>
                    <a:pt x="7275" y="4549"/>
                    <a:pt x="7203" y="4620"/>
                    <a:pt x="7203" y="4715"/>
                  </a:cubicBezTo>
                  <a:cubicBezTo>
                    <a:pt x="7203" y="4799"/>
                    <a:pt x="7275" y="4882"/>
                    <a:pt x="7370" y="4882"/>
                  </a:cubicBezTo>
                  <a:lnTo>
                    <a:pt x="7549" y="4882"/>
                  </a:lnTo>
                  <a:cubicBezTo>
                    <a:pt x="7525" y="5632"/>
                    <a:pt x="7382" y="6370"/>
                    <a:pt x="7132" y="7001"/>
                  </a:cubicBezTo>
                  <a:lnTo>
                    <a:pt x="7013" y="7001"/>
                  </a:lnTo>
                  <a:cubicBezTo>
                    <a:pt x="6918" y="7001"/>
                    <a:pt x="6846" y="7085"/>
                    <a:pt x="6846" y="7168"/>
                  </a:cubicBezTo>
                  <a:cubicBezTo>
                    <a:pt x="6846" y="7263"/>
                    <a:pt x="6906" y="7323"/>
                    <a:pt x="6989" y="7335"/>
                  </a:cubicBezTo>
                  <a:cubicBezTo>
                    <a:pt x="6810" y="7692"/>
                    <a:pt x="6608" y="8025"/>
                    <a:pt x="6370" y="8287"/>
                  </a:cubicBezTo>
                  <a:cubicBezTo>
                    <a:pt x="6310" y="8359"/>
                    <a:pt x="6310" y="8466"/>
                    <a:pt x="6382" y="8525"/>
                  </a:cubicBezTo>
                  <a:cubicBezTo>
                    <a:pt x="6418" y="8549"/>
                    <a:pt x="6453" y="8573"/>
                    <a:pt x="6489" y="8573"/>
                  </a:cubicBezTo>
                  <a:cubicBezTo>
                    <a:pt x="6537" y="8573"/>
                    <a:pt x="6572" y="8549"/>
                    <a:pt x="6608" y="8514"/>
                  </a:cubicBezTo>
                  <a:cubicBezTo>
                    <a:pt x="6894" y="8180"/>
                    <a:pt x="7144" y="7787"/>
                    <a:pt x="7346" y="7335"/>
                  </a:cubicBezTo>
                  <a:lnTo>
                    <a:pt x="8263" y="7335"/>
                  </a:lnTo>
                  <a:cubicBezTo>
                    <a:pt x="7906" y="7811"/>
                    <a:pt x="7441" y="8228"/>
                    <a:pt x="6918" y="8525"/>
                  </a:cubicBezTo>
                  <a:cubicBezTo>
                    <a:pt x="6846" y="8573"/>
                    <a:pt x="6810" y="8680"/>
                    <a:pt x="6858" y="8752"/>
                  </a:cubicBezTo>
                  <a:cubicBezTo>
                    <a:pt x="6891" y="8801"/>
                    <a:pt x="6951" y="8833"/>
                    <a:pt x="7009" y="8833"/>
                  </a:cubicBezTo>
                  <a:cubicBezTo>
                    <a:pt x="7036" y="8833"/>
                    <a:pt x="7062" y="8826"/>
                    <a:pt x="7084" y="8811"/>
                  </a:cubicBezTo>
                  <a:cubicBezTo>
                    <a:pt x="7787" y="8406"/>
                    <a:pt x="8382" y="7811"/>
                    <a:pt x="8799" y="7109"/>
                  </a:cubicBezTo>
                  <a:cubicBezTo>
                    <a:pt x="9227" y="6382"/>
                    <a:pt x="9454" y="5561"/>
                    <a:pt x="9454" y="4715"/>
                  </a:cubicBezTo>
                  <a:cubicBezTo>
                    <a:pt x="9442" y="3453"/>
                    <a:pt x="8942" y="2275"/>
                    <a:pt x="8049" y="1382"/>
                  </a:cubicBezTo>
                  <a:cubicBezTo>
                    <a:pt x="7156" y="489"/>
                    <a:pt x="5965" y="1"/>
                    <a:pt x="47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49427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E71242B4-1C90-A961-A9CA-5B4FFA8E4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7BF7C247-8554-BADF-619B-408AA71B8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939" y="392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Reflection</a:t>
            </a:r>
            <a:endParaRPr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8F07C8-922D-5F96-A089-F9BA8B5A1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437" y="1168187"/>
            <a:ext cx="3561502" cy="2049390"/>
          </a:xfrm>
        </p:spPr>
        <p:txBody>
          <a:bodyPr/>
          <a:lstStyle/>
          <a:p>
            <a:pPr marL="139700" indent="0" algn="ctr"/>
            <a:r>
              <a:rPr lang="en-US" sz="1400" b="1" dirty="0"/>
              <a:t>WHAT WAS CHALLENGING?</a:t>
            </a:r>
            <a:endParaRPr lang="en-US" sz="1400" dirty="0"/>
          </a:p>
          <a:p>
            <a:pPr>
              <a:buFontTx/>
              <a:buChar char="-"/>
            </a:pPr>
            <a:r>
              <a:rPr lang="en-US" sz="1400" dirty="0"/>
              <a:t>Integrating multiple datasets with different structures </a:t>
            </a:r>
          </a:p>
          <a:p>
            <a:pPr>
              <a:buFontTx/>
              <a:buChar char="-"/>
            </a:pPr>
            <a:r>
              <a:rPr lang="en-US" sz="1400" dirty="0"/>
              <a:t>Defining a consistent severity scale (0–3) across different data sources </a:t>
            </a:r>
          </a:p>
          <a:p>
            <a:pPr>
              <a:buFontTx/>
              <a:buChar char="-"/>
            </a:pPr>
            <a:endParaRPr lang="en-US" sz="1400" dirty="0"/>
          </a:p>
          <a:p>
            <a:pPr>
              <a:buFontTx/>
              <a:buChar char="-"/>
            </a:pPr>
            <a:endParaRPr lang="en-US" sz="1400" dirty="0"/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6A4054D1-A81E-B500-B4B8-6BC102CBCA6C}"/>
              </a:ext>
            </a:extLst>
          </p:cNvPr>
          <p:cNvSpPr txBox="1">
            <a:spLocks/>
          </p:cNvSpPr>
          <p:nvPr/>
        </p:nvSpPr>
        <p:spPr>
          <a:xfrm>
            <a:off x="4789637" y="1536527"/>
            <a:ext cx="4027423" cy="1025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/>
            <a:r>
              <a:rPr lang="en-US" sz="1400" b="1" dirty="0"/>
              <a:t>WHAT WAS REWARDING?</a:t>
            </a:r>
            <a:endParaRPr lang="en-US" sz="1400" dirty="0"/>
          </a:p>
          <a:p>
            <a:pPr>
              <a:buFontTx/>
              <a:buChar char="-"/>
            </a:pPr>
            <a:r>
              <a:rPr lang="en-US" sz="1400" dirty="0"/>
              <a:t>Discovering meaningful patterns</a:t>
            </a:r>
          </a:p>
          <a:p>
            <a:pPr>
              <a:buFontTx/>
              <a:buChar char="-"/>
            </a:pPr>
            <a:r>
              <a:rPr lang="en-US" sz="1400" dirty="0"/>
              <a:t>Applying new methods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78C9DE74-B201-89D1-2B31-973B44B4541D}"/>
              </a:ext>
            </a:extLst>
          </p:cNvPr>
          <p:cNvSpPr txBox="1">
            <a:spLocks/>
          </p:cNvSpPr>
          <p:nvPr/>
        </p:nvSpPr>
        <p:spPr>
          <a:xfrm>
            <a:off x="2566659" y="2562208"/>
            <a:ext cx="4445957" cy="204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/>
            <a:r>
              <a:rPr lang="en-US" sz="1400" b="1" dirty="0"/>
              <a:t>WHAT WOULD YOU CHANGE NEXT TIME?</a:t>
            </a:r>
            <a:endParaRPr lang="en-US" sz="1400" dirty="0"/>
          </a:p>
          <a:p>
            <a:pPr>
              <a:buFontTx/>
              <a:buChar char="-"/>
            </a:pPr>
            <a:r>
              <a:rPr lang="en-US" sz="1400" dirty="0"/>
              <a:t>Add additional variables (e.g., response time)</a:t>
            </a:r>
          </a:p>
          <a:p>
            <a:pPr>
              <a:buFontTx/>
              <a:buChar char="-"/>
            </a:pPr>
            <a:r>
              <a:rPr lang="en-US" sz="1400" dirty="0"/>
              <a:t>Explore alternative modeling approaches</a:t>
            </a:r>
          </a:p>
          <a:p>
            <a:pPr>
              <a:buFontTx/>
              <a:buChar char="-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81972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64DCA049-8644-A597-920C-2DEFF30F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39;p46" descr="Timeline background shape">
            <a:extLst>
              <a:ext uri="{FF2B5EF4-FFF2-40B4-BE49-F238E27FC236}">
                <a16:creationId xmlns:a16="http://schemas.microsoft.com/office/drawing/2014/main" id="{77520C04-F45F-6386-9F6C-870C2C942E3D}"/>
              </a:ext>
            </a:extLst>
          </p:cNvPr>
          <p:cNvSpPr/>
          <p:nvPr/>
        </p:nvSpPr>
        <p:spPr>
          <a:xfrm>
            <a:off x="326940" y="1411114"/>
            <a:ext cx="5429102" cy="2538717"/>
          </a:xfrm>
          <a:prstGeom prst="homePlate">
            <a:avLst>
              <a:gd name="adj" fmla="val 50000"/>
            </a:avLst>
          </a:prstGeom>
          <a:solidFill>
            <a:schemeClr val="bg2">
              <a:alpha val="3311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32C878D9-8FCE-4EF4-1E96-4386A8DDB2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939" y="392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Next Steps</a:t>
            </a:r>
            <a:endParaRPr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86C554B-23CE-376D-62D6-1CF4838C6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067" y="1411114"/>
            <a:ext cx="5345975" cy="2860060"/>
          </a:xfrm>
        </p:spPr>
        <p:txBody>
          <a:bodyPr/>
          <a:lstStyle/>
          <a:p>
            <a:pPr>
              <a:buFontTx/>
              <a:buChar char="-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Analyze the gap across different stages: </a:t>
            </a:r>
          </a:p>
          <a:p>
            <a:pPr marL="139700" indent="0"/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                - caller -&gt; officer </a:t>
            </a:r>
          </a:p>
          <a:p>
            <a:pPr marL="139700" indent="0"/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                - officer -&gt; system </a:t>
            </a:r>
          </a:p>
          <a:p>
            <a:pPr>
              <a:buFontTx/>
              <a:buChar char="-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Investigate why certain districts show consistently higher gaps </a:t>
            </a:r>
          </a:p>
          <a:p>
            <a:pPr>
              <a:buFontTx/>
              <a:buChar char="-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Refine the severity classification to improve measurement accuracy </a:t>
            </a:r>
          </a:p>
          <a:p>
            <a:pPr>
              <a:buFontTx/>
              <a:buChar char="-"/>
            </a:pP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buFontTx/>
              <a:buChar char="-"/>
            </a:pP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490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6CA15127-FF88-2826-5E90-F9F0947FC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012;p47">
            <a:extLst>
              <a:ext uri="{FF2B5EF4-FFF2-40B4-BE49-F238E27FC236}">
                <a16:creationId xmlns:a16="http://schemas.microsoft.com/office/drawing/2014/main" id="{B8EBDA2A-6466-92E6-B01A-CD53547C1D51}"/>
              </a:ext>
            </a:extLst>
          </p:cNvPr>
          <p:cNvSpPr/>
          <p:nvPr/>
        </p:nvSpPr>
        <p:spPr>
          <a:xfrm>
            <a:off x="931417" y="1351357"/>
            <a:ext cx="4275688" cy="2664902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695E9526-199C-ABE2-4015-9D6FDE8363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939" y="392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Recommendations</a:t>
            </a:r>
            <a:endParaRPr b="1" dirty="0"/>
          </a:p>
        </p:txBody>
      </p:sp>
      <p:sp>
        <p:nvSpPr>
          <p:cNvPr id="18" name="Google Shape;1012;p47">
            <a:extLst>
              <a:ext uri="{FF2B5EF4-FFF2-40B4-BE49-F238E27FC236}">
                <a16:creationId xmlns:a16="http://schemas.microsoft.com/office/drawing/2014/main" id="{3DA3C53A-53E3-73DC-FF4F-8A5AA93DCE93}"/>
              </a:ext>
            </a:extLst>
          </p:cNvPr>
          <p:cNvSpPr/>
          <p:nvPr/>
        </p:nvSpPr>
        <p:spPr>
          <a:xfrm>
            <a:off x="5669256" y="1508759"/>
            <a:ext cx="2543327" cy="2416060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Subtitle 3">
            <a:extLst>
              <a:ext uri="{FF2B5EF4-FFF2-40B4-BE49-F238E27FC236}">
                <a16:creationId xmlns:a16="http://schemas.microsoft.com/office/drawing/2014/main" id="{6F708726-871B-7FAE-B2A9-AF6142E5A277}"/>
              </a:ext>
            </a:extLst>
          </p:cNvPr>
          <p:cNvSpPr txBox="1">
            <a:spLocks/>
          </p:cNvSpPr>
          <p:nvPr/>
        </p:nvSpPr>
        <p:spPr>
          <a:xfrm>
            <a:off x="903706" y="830136"/>
            <a:ext cx="4263994" cy="3264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/>
            <a:r>
              <a:rPr lang="en-US" sz="1200" b="1" u="sng" dirty="0">
                <a:solidFill>
                  <a:schemeClr val="tx1">
                    <a:lumMod val="50000"/>
                  </a:schemeClr>
                </a:solidFill>
              </a:rPr>
              <a:t>For Police (MCPD)</a:t>
            </a: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Monitor high gap districts (e.g., District 1 and 2</a:t>
            </a:r>
          </a:p>
          <a:p>
            <a:pPr marL="139700" indent="0" algn="ctr"/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Compare practices with district 5 &amp; 6 </a:t>
            </a:r>
          </a:p>
          <a:p>
            <a:pPr marL="139700" indent="0" algn="ctr"/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Track severity changes (downgrades / upgrades)</a:t>
            </a:r>
          </a:p>
          <a:p>
            <a:pPr marL="139700" indent="0" algn="ctr"/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Develop public information campaigns</a:t>
            </a:r>
          </a:p>
          <a:p>
            <a:pPr marL="139700" indent="0" algn="ctr"/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Support outreach efforts to improve understanding of the reporting process </a:t>
            </a: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3" name="Subtitle 3">
            <a:extLst>
              <a:ext uri="{FF2B5EF4-FFF2-40B4-BE49-F238E27FC236}">
                <a16:creationId xmlns:a16="http://schemas.microsoft.com/office/drawing/2014/main" id="{C2301753-7155-4B6D-71C0-A2B3B7E44D29}"/>
              </a:ext>
            </a:extLst>
          </p:cNvPr>
          <p:cNvSpPr txBox="1">
            <a:spLocks/>
          </p:cNvSpPr>
          <p:nvPr/>
        </p:nvSpPr>
        <p:spPr>
          <a:xfrm>
            <a:off x="5641545" y="1508759"/>
            <a:ext cx="2543327" cy="230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/>
            <a:r>
              <a:rPr lang="en-US" sz="1200" b="1" u="sng" dirty="0">
                <a:solidFill>
                  <a:schemeClr val="tx1">
                    <a:lumMod val="50000"/>
                  </a:schemeClr>
                </a:solidFill>
              </a:rPr>
              <a:t>For the public</a:t>
            </a: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Promote clear and accurate incident reporting</a:t>
            </a:r>
          </a:p>
          <a:p>
            <a:pPr marL="139700" indent="0" algn="ctr"/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Increase awareness of different types of incidents</a:t>
            </a:r>
          </a:p>
          <a:p>
            <a:pPr marL="139700" indent="0" algn="ctr"/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Encourage proper use of emergency vs non emergency services</a:t>
            </a:r>
          </a:p>
        </p:txBody>
      </p:sp>
    </p:spTree>
    <p:extLst>
      <p:ext uri="{BB962C8B-B14F-4D97-AF65-F5344CB8AC3E}">
        <p14:creationId xmlns:p14="http://schemas.microsoft.com/office/powerpoint/2010/main" val="2584391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Resources</a:t>
            </a:r>
            <a:endParaRPr b="1" dirty="0"/>
          </a:p>
        </p:txBody>
      </p:sp>
      <p:sp>
        <p:nvSpPr>
          <p:cNvPr id="2" name="Google Shape;406;p41">
            <a:extLst>
              <a:ext uri="{FF2B5EF4-FFF2-40B4-BE49-F238E27FC236}">
                <a16:creationId xmlns:a16="http://schemas.microsoft.com/office/drawing/2014/main" id="{369FF93C-FB54-B894-94EB-3FD910CA17E6}"/>
              </a:ext>
            </a:extLst>
          </p:cNvPr>
          <p:cNvSpPr txBox="1">
            <a:spLocks/>
          </p:cNvSpPr>
          <p:nvPr/>
        </p:nvSpPr>
        <p:spPr>
          <a:xfrm>
            <a:off x="528034" y="1235172"/>
            <a:ext cx="8448542" cy="324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Montgomery County Government – Public Safety &amp; Budget Reports Montgomery</a:t>
            </a:r>
          </a:p>
          <a:p>
            <a:endParaRPr lang="en-US" sz="1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County FY2026 Approved Operating Budget (OMB) Montgomery County Police</a:t>
            </a:r>
          </a:p>
          <a:p>
            <a:endParaRPr lang="en-US" sz="1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Department Press Releases </a:t>
            </a:r>
            <a:r>
              <a:rPr lang="en-US" sz="1800" dirty="0" err="1"/>
              <a:t>CitizenPortal</a:t>
            </a:r>
            <a:r>
              <a:rPr lang="en-US" sz="1800" dirty="0"/>
              <a:t> – Emergency Communications &amp; 91</a:t>
            </a:r>
          </a:p>
          <a:p>
            <a:endParaRPr lang="en-US" sz="1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System Overview Talha Ilyas – Perception vs Reality (conceptual reference)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8642B8BD-2021-C1B4-4B51-9E55DDE0F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3833;p55">
            <a:extLst>
              <a:ext uri="{FF2B5EF4-FFF2-40B4-BE49-F238E27FC236}">
                <a16:creationId xmlns:a16="http://schemas.microsoft.com/office/drawing/2014/main" id="{2A394D69-8A0C-1D5F-6450-95A3C58BA90F}"/>
              </a:ext>
            </a:extLst>
          </p:cNvPr>
          <p:cNvGrpSpPr/>
          <p:nvPr/>
        </p:nvGrpSpPr>
        <p:grpSpPr>
          <a:xfrm>
            <a:off x="5424927" y="1263397"/>
            <a:ext cx="2741280" cy="2572079"/>
            <a:chOff x="2928280" y="5825680"/>
            <a:chExt cx="254135" cy="254193"/>
          </a:xfrm>
        </p:grpSpPr>
        <p:sp>
          <p:nvSpPr>
            <p:cNvPr id="6" name="Google Shape;3834;p55">
              <a:extLst>
                <a:ext uri="{FF2B5EF4-FFF2-40B4-BE49-F238E27FC236}">
                  <a16:creationId xmlns:a16="http://schemas.microsoft.com/office/drawing/2014/main" id="{56679B53-1B0A-842E-168F-A242D239A02C}"/>
                </a:ext>
              </a:extLst>
            </p:cNvPr>
            <p:cNvSpPr/>
            <p:nvPr/>
          </p:nvSpPr>
          <p:spPr>
            <a:xfrm>
              <a:off x="3008046" y="5869615"/>
              <a:ext cx="94624" cy="127809"/>
            </a:xfrm>
            <a:custGeom>
              <a:avLst/>
              <a:gdLst/>
              <a:ahLst/>
              <a:cxnLst/>
              <a:rect l="l" t="t" r="r" b="b"/>
              <a:pathLst>
                <a:path w="142292" h="192194" extrusionOk="0">
                  <a:moveTo>
                    <a:pt x="94592" y="164781"/>
                  </a:moveTo>
                  <a:cubicBezTo>
                    <a:pt x="94592" y="150450"/>
                    <a:pt x="101262" y="137066"/>
                    <a:pt x="112494" y="129061"/>
                  </a:cubicBezTo>
                  <a:cubicBezTo>
                    <a:pt x="132075" y="115032"/>
                    <a:pt x="143222" y="92309"/>
                    <a:pt x="142232" y="68209"/>
                  </a:cubicBezTo>
                  <a:cubicBezTo>
                    <a:pt x="140726" y="31586"/>
                    <a:pt x="112021" y="2279"/>
                    <a:pt x="75441" y="127"/>
                  </a:cubicBezTo>
                  <a:cubicBezTo>
                    <a:pt x="57323" y="-948"/>
                    <a:pt x="39679" y="4818"/>
                    <a:pt x="25778" y="16352"/>
                  </a:cubicBezTo>
                  <a:cubicBezTo>
                    <a:pt x="12050" y="27713"/>
                    <a:pt x="3141" y="43679"/>
                    <a:pt x="689" y="61238"/>
                  </a:cubicBezTo>
                  <a:cubicBezTo>
                    <a:pt x="215" y="64508"/>
                    <a:pt x="0" y="67822"/>
                    <a:pt x="0" y="71136"/>
                  </a:cubicBezTo>
                  <a:cubicBezTo>
                    <a:pt x="0" y="84089"/>
                    <a:pt x="10501" y="94590"/>
                    <a:pt x="23454" y="94590"/>
                  </a:cubicBezTo>
                  <a:cubicBezTo>
                    <a:pt x="36408" y="94590"/>
                    <a:pt x="46909" y="84089"/>
                    <a:pt x="46909" y="71136"/>
                  </a:cubicBezTo>
                  <a:cubicBezTo>
                    <a:pt x="46909" y="69974"/>
                    <a:pt x="46995" y="68855"/>
                    <a:pt x="47124" y="67736"/>
                  </a:cubicBezTo>
                  <a:cubicBezTo>
                    <a:pt x="48845" y="55342"/>
                    <a:pt x="60077" y="46218"/>
                    <a:pt x="72644" y="46950"/>
                  </a:cubicBezTo>
                  <a:cubicBezTo>
                    <a:pt x="85081" y="47681"/>
                    <a:pt x="94850" y="57666"/>
                    <a:pt x="95366" y="70103"/>
                  </a:cubicBezTo>
                  <a:cubicBezTo>
                    <a:pt x="95711" y="78323"/>
                    <a:pt x="91880" y="86069"/>
                    <a:pt x="85210" y="90889"/>
                  </a:cubicBezTo>
                  <a:cubicBezTo>
                    <a:pt x="78583" y="95623"/>
                    <a:pt x="72601" y="101303"/>
                    <a:pt x="67479" y="107759"/>
                  </a:cubicBezTo>
                  <a:cubicBezTo>
                    <a:pt x="65543" y="110169"/>
                    <a:pt x="65973" y="113698"/>
                    <a:pt x="68383" y="115634"/>
                  </a:cubicBezTo>
                  <a:cubicBezTo>
                    <a:pt x="70793" y="117571"/>
                    <a:pt x="74322" y="117140"/>
                    <a:pt x="76259" y="114731"/>
                  </a:cubicBezTo>
                  <a:cubicBezTo>
                    <a:pt x="80734" y="109093"/>
                    <a:pt x="85942" y="104144"/>
                    <a:pt x="91751" y="100012"/>
                  </a:cubicBezTo>
                  <a:cubicBezTo>
                    <a:pt x="101520" y="92998"/>
                    <a:pt x="107072" y="81679"/>
                    <a:pt x="106599" y="69673"/>
                  </a:cubicBezTo>
                  <a:cubicBezTo>
                    <a:pt x="105867" y="51426"/>
                    <a:pt x="91579" y="36880"/>
                    <a:pt x="73375" y="35804"/>
                  </a:cubicBezTo>
                  <a:cubicBezTo>
                    <a:pt x="54999" y="34728"/>
                    <a:pt x="38646" y="48069"/>
                    <a:pt x="36107" y="66230"/>
                  </a:cubicBezTo>
                  <a:cubicBezTo>
                    <a:pt x="35892" y="67865"/>
                    <a:pt x="35762" y="69543"/>
                    <a:pt x="35762" y="71179"/>
                  </a:cubicBezTo>
                  <a:cubicBezTo>
                    <a:pt x="35762" y="77935"/>
                    <a:pt x="30254" y="83444"/>
                    <a:pt x="23497" y="83444"/>
                  </a:cubicBezTo>
                  <a:cubicBezTo>
                    <a:pt x="16741" y="83444"/>
                    <a:pt x="11232" y="77935"/>
                    <a:pt x="11232" y="71179"/>
                  </a:cubicBezTo>
                  <a:cubicBezTo>
                    <a:pt x="11232" y="68381"/>
                    <a:pt x="11448" y="65584"/>
                    <a:pt x="11792" y="62830"/>
                  </a:cubicBezTo>
                  <a:cubicBezTo>
                    <a:pt x="13858" y="48026"/>
                    <a:pt x="21346" y="34599"/>
                    <a:pt x="32922" y="25002"/>
                  </a:cubicBezTo>
                  <a:cubicBezTo>
                    <a:pt x="44671" y="15276"/>
                    <a:pt x="59518" y="10413"/>
                    <a:pt x="74795" y="11317"/>
                  </a:cubicBezTo>
                  <a:cubicBezTo>
                    <a:pt x="105609" y="13167"/>
                    <a:pt x="129795" y="37826"/>
                    <a:pt x="131043" y="68683"/>
                  </a:cubicBezTo>
                  <a:cubicBezTo>
                    <a:pt x="131860" y="88952"/>
                    <a:pt x="122479" y="108146"/>
                    <a:pt x="105953" y="119938"/>
                  </a:cubicBezTo>
                  <a:cubicBezTo>
                    <a:pt x="91838" y="130051"/>
                    <a:pt x="83359" y="146792"/>
                    <a:pt x="83359" y="164781"/>
                  </a:cubicBezTo>
                  <a:lnTo>
                    <a:pt x="83359" y="168740"/>
                  </a:lnTo>
                  <a:cubicBezTo>
                    <a:pt x="83359" y="175496"/>
                    <a:pt x="77851" y="181005"/>
                    <a:pt x="71094" y="181005"/>
                  </a:cubicBezTo>
                  <a:cubicBezTo>
                    <a:pt x="64338" y="181005"/>
                    <a:pt x="58829" y="175496"/>
                    <a:pt x="58829" y="168740"/>
                  </a:cubicBezTo>
                  <a:lnTo>
                    <a:pt x="58829" y="164781"/>
                  </a:lnTo>
                  <a:cubicBezTo>
                    <a:pt x="58829" y="154883"/>
                    <a:pt x="60594" y="145200"/>
                    <a:pt x="64123" y="135990"/>
                  </a:cubicBezTo>
                  <a:cubicBezTo>
                    <a:pt x="65242" y="133107"/>
                    <a:pt x="63778" y="129879"/>
                    <a:pt x="60895" y="128760"/>
                  </a:cubicBezTo>
                  <a:cubicBezTo>
                    <a:pt x="58012" y="127641"/>
                    <a:pt x="54784" y="129104"/>
                    <a:pt x="53665" y="131988"/>
                  </a:cubicBezTo>
                  <a:cubicBezTo>
                    <a:pt x="49663" y="142488"/>
                    <a:pt x="47640" y="153505"/>
                    <a:pt x="47640" y="164781"/>
                  </a:cubicBezTo>
                  <a:lnTo>
                    <a:pt x="47640" y="168740"/>
                  </a:lnTo>
                  <a:cubicBezTo>
                    <a:pt x="47640" y="181694"/>
                    <a:pt x="58141" y="192194"/>
                    <a:pt x="71094" y="192194"/>
                  </a:cubicBezTo>
                  <a:cubicBezTo>
                    <a:pt x="84048" y="192194"/>
                    <a:pt x="94549" y="181694"/>
                    <a:pt x="94549" y="168740"/>
                  </a:cubicBezTo>
                  <a:lnTo>
                    <a:pt x="94549" y="1647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835;p55">
              <a:extLst>
                <a:ext uri="{FF2B5EF4-FFF2-40B4-BE49-F238E27FC236}">
                  <a16:creationId xmlns:a16="http://schemas.microsoft.com/office/drawing/2014/main" id="{0B3ADB4E-8EA5-76D4-BEAC-C9F2353C0D55}"/>
                </a:ext>
              </a:extLst>
            </p:cNvPr>
            <p:cNvSpPr/>
            <p:nvPr/>
          </p:nvSpPr>
          <p:spPr>
            <a:xfrm>
              <a:off x="3039758" y="6004735"/>
              <a:ext cx="31194" cy="31194"/>
            </a:xfrm>
            <a:custGeom>
              <a:avLst/>
              <a:gdLst/>
              <a:ahLst/>
              <a:cxnLst/>
              <a:rect l="l" t="t" r="r" b="b"/>
              <a:pathLst>
                <a:path w="46908" h="46908" extrusionOk="0">
                  <a:moveTo>
                    <a:pt x="23454" y="0"/>
                  </a:moveTo>
                  <a:cubicBezTo>
                    <a:pt x="10501" y="0"/>
                    <a:pt x="0" y="10501"/>
                    <a:pt x="0" y="23454"/>
                  </a:cubicBezTo>
                  <a:cubicBezTo>
                    <a:pt x="0" y="36408"/>
                    <a:pt x="10501" y="46908"/>
                    <a:pt x="23454" y="46908"/>
                  </a:cubicBezTo>
                  <a:cubicBezTo>
                    <a:pt x="36408" y="46908"/>
                    <a:pt x="46908" y="36408"/>
                    <a:pt x="46908" y="23454"/>
                  </a:cubicBezTo>
                  <a:cubicBezTo>
                    <a:pt x="46908" y="10501"/>
                    <a:pt x="36408" y="0"/>
                    <a:pt x="23454" y="0"/>
                  </a:cubicBezTo>
                  <a:close/>
                  <a:moveTo>
                    <a:pt x="23454" y="35719"/>
                  </a:moveTo>
                  <a:cubicBezTo>
                    <a:pt x="16698" y="35719"/>
                    <a:pt x="11189" y="30211"/>
                    <a:pt x="11189" y="23454"/>
                  </a:cubicBezTo>
                  <a:cubicBezTo>
                    <a:pt x="11189" y="16698"/>
                    <a:pt x="16698" y="11189"/>
                    <a:pt x="23454" y="11189"/>
                  </a:cubicBezTo>
                  <a:cubicBezTo>
                    <a:pt x="30211" y="11189"/>
                    <a:pt x="35719" y="16698"/>
                    <a:pt x="35719" y="23454"/>
                  </a:cubicBezTo>
                  <a:cubicBezTo>
                    <a:pt x="35719" y="30211"/>
                    <a:pt x="30211" y="35719"/>
                    <a:pt x="23454" y="357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836;p55">
              <a:extLst>
                <a:ext uri="{FF2B5EF4-FFF2-40B4-BE49-F238E27FC236}">
                  <a16:creationId xmlns:a16="http://schemas.microsoft.com/office/drawing/2014/main" id="{AF54DD41-35A8-6DE6-DA41-696AFB0FC71B}"/>
                </a:ext>
              </a:extLst>
            </p:cNvPr>
            <p:cNvSpPr/>
            <p:nvPr/>
          </p:nvSpPr>
          <p:spPr>
            <a:xfrm>
              <a:off x="2928280" y="5866596"/>
              <a:ext cx="195796" cy="213277"/>
            </a:xfrm>
            <a:custGeom>
              <a:avLst/>
              <a:gdLst/>
              <a:ahLst/>
              <a:cxnLst/>
              <a:rect l="l" t="t" r="r" b="b"/>
              <a:pathLst>
                <a:path w="294430" h="320717" extrusionOk="0">
                  <a:moveTo>
                    <a:pt x="285841" y="282546"/>
                  </a:moveTo>
                  <a:cubicBezTo>
                    <a:pt x="257437" y="300190"/>
                    <a:pt x="224688" y="309486"/>
                    <a:pt x="191077" y="309486"/>
                  </a:cubicBezTo>
                  <a:cubicBezTo>
                    <a:pt x="91880" y="309486"/>
                    <a:pt x="11189" y="228794"/>
                    <a:pt x="11189" y="129598"/>
                  </a:cubicBezTo>
                  <a:cubicBezTo>
                    <a:pt x="11189" y="85099"/>
                    <a:pt x="27543" y="42408"/>
                    <a:pt x="57280" y="9357"/>
                  </a:cubicBezTo>
                  <a:cubicBezTo>
                    <a:pt x="59346" y="7076"/>
                    <a:pt x="59174" y="3504"/>
                    <a:pt x="56850" y="1439"/>
                  </a:cubicBezTo>
                  <a:cubicBezTo>
                    <a:pt x="54569" y="-627"/>
                    <a:pt x="50997" y="-455"/>
                    <a:pt x="48931" y="1869"/>
                  </a:cubicBezTo>
                  <a:cubicBezTo>
                    <a:pt x="17386" y="36986"/>
                    <a:pt x="0" y="82345"/>
                    <a:pt x="0" y="129598"/>
                  </a:cubicBezTo>
                  <a:cubicBezTo>
                    <a:pt x="0" y="180638"/>
                    <a:pt x="19882" y="228622"/>
                    <a:pt x="55989" y="264729"/>
                  </a:cubicBezTo>
                  <a:cubicBezTo>
                    <a:pt x="92096" y="300836"/>
                    <a:pt x="140080" y="320718"/>
                    <a:pt x="191120" y="320718"/>
                  </a:cubicBezTo>
                  <a:cubicBezTo>
                    <a:pt x="226796" y="320718"/>
                    <a:pt x="261612" y="310820"/>
                    <a:pt x="291779" y="292099"/>
                  </a:cubicBezTo>
                  <a:cubicBezTo>
                    <a:pt x="294405" y="290464"/>
                    <a:pt x="295222" y="287021"/>
                    <a:pt x="293587" y="284396"/>
                  </a:cubicBezTo>
                  <a:cubicBezTo>
                    <a:pt x="291952" y="281771"/>
                    <a:pt x="288509" y="280953"/>
                    <a:pt x="285884" y="2825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837;p55">
              <a:extLst>
                <a:ext uri="{FF2B5EF4-FFF2-40B4-BE49-F238E27FC236}">
                  <a16:creationId xmlns:a16="http://schemas.microsoft.com/office/drawing/2014/main" id="{817DBD41-882F-0093-AF2A-501AAFC1F01E}"/>
                </a:ext>
              </a:extLst>
            </p:cNvPr>
            <p:cNvSpPr/>
            <p:nvPr/>
          </p:nvSpPr>
          <p:spPr>
            <a:xfrm>
              <a:off x="2972374" y="5825680"/>
              <a:ext cx="210041" cy="225485"/>
            </a:xfrm>
            <a:custGeom>
              <a:avLst/>
              <a:gdLst/>
              <a:ahLst/>
              <a:cxnLst/>
              <a:rect l="l" t="t" r="r" b="b"/>
              <a:pathLst>
                <a:path w="315851" h="339075" extrusionOk="0">
                  <a:moveTo>
                    <a:pt x="259906" y="55989"/>
                  </a:moveTo>
                  <a:cubicBezTo>
                    <a:pt x="223799" y="19882"/>
                    <a:pt x="175815" y="0"/>
                    <a:pt x="124775" y="0"/>
                  </a:cubicBezTo>
                  <a:cubicBezTo>
                    <a:pt x="101923" y="0"/>
                    <a:pt x="79545" y="4002"/>
                    <a:pt x="58329" y="11878"/>
                  </a:cubicBezTo>
                  <a:cubicBezTo>
                    <a:pt x="37801" y="19495"/>
                    <a:pt x="18865" y="30512"/>
                    <a:pt x="1995" y="44671"/>
                  </a:cubicBezTo>
                  <a:cubicBezTo>
                    <a:pt x="-372" y="46650"/>
                    <a:pt x="-673" y="50179"/>
                    <a:pt x="1307" y="52546"/>
                  </a:cubicBezTo>
                  <a:cubicBezTo>
                    <a:pt x="3286" y="54913"/>
                    <a:pt x="6815" y="55214"/>
                    <a:pt x="9182" y="53235"/>
                  </a:cubicBezTo>
                  <a:cubicBezTo>
                    <a:pt x="41502" y="26122"/>
                    <a:pt x="82514" y="11189"/>
                    <a:pt x="124775" y="11189"/>
                  </a:cubicBezTo>
                  <a:cubicBezTo>
                    <a:pt x="223972" y="11189"/>
                    <a:pt x="304663" y="91880"/>
                    <a:pt x="304663" y="191077"/>
                  </a:cubicBezTo>
                  <a:cubicBezTo>
                    <a:pt x="304663" y="244527"/>
                    <a:pt x="281122" y="294835"/>
                    <a:pt x="240067" y="329177"/>
                  </a:cubicBezTo>
                  <a:cubicBezTo>
                    <a:pt x="237700" y="331157"/>
                    <a:pt x="237399" y="334686"/>
                    <a:pt x="239378" y="337053"/>
                  </a:cubicBezTo>
                  <a:cubicBezTo>
                    <a:pt x="240497" y="338387"/>
                    <a:pt x="242089" y="339075"/>
                    <a:pt x="243682" y="339075"/>
                  </a:cubicBezTo>
                  <a:cubicBezTo>
                    <a:pt x="244930" y="339075"/>
                    <a:pt x="246221" y="338645"/>
                    <a:pt x="247254" y="337784"/>
                  </a:cubicBezTo>
                  <a:cubicBezTo>
                    <a:pt x="290848" y="301333"/>
                    <a:pt x="315852" y="247884"/>
                    <a:pt x="315852" y="191120"/>
                  </a:cubicBezTo>
                  <a:cubicBezTo>
                    <a:pt x="315852" y="140080"/>
                    <a:pt x="295970" y="92096"/>
                    <a:pt x="259863" y="559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838;p55">
              <a:extLst>
                <a:ext uri="{FF2B5EF4-FFF2-40B4-BE49-F238E27FC236}">
                  <a16:creationId xmlns:a16="http://schemas.microsoft.com/office/drawing/2014/main" id="{82C91AE6-4BDC-335F-9C69-D9A3DECE78C0}"/>
                </a:ext>
              </a:extLst>
            </p:cNvPr>
            <p:cNvSpPr/>
            <p:nvPr/>
          </p:nvSpPr>
          <p:spPr>
            <a:xfrm>
              <a:off x="2947370" y="5844799"/>
              <a:ext cx="215955" cy="215955"/>
            </a:xfrm>
            <a:custGeom>
              <a:avLst/>
              <a:gdLst/>
              <a:ahLst/>
              <a:cxnLst/>
              <a:rect l="l" t="t" r="r" b="b"/>
              <a:pathLst>
                <a:path w="324744" h="324744" extrusionOk="0">
                  <a:moveTo>
                    <a:pt x="277191" y="55473"/>
                  </a:moveTo>
                  <a:cubicBezTo>
                    <a:pt x="279386" y="53278"/>
                    <a:pt x="279386" y="49749"/>
                    <a:pt x="277191" y="47554"/>
                  </a:cubicBezTo>
                  <a:cubicBezTo>
                    <a:pt x="246506" y="16870"/>
                    <a:pt x="205752" y="0"/>
                    <a:pt x="162372" y="0"/>
                  </a:cubicBezTo>
                  <a:cubicBezTo>
                    <a:pt x="118993" y="0"/>
                    <a:pt x="78238" y="16870"/>
                    <a:pt x="47554" y="47554"/>
                  </a:cubicBezTo>
                  <a:cubicBezTo>
                    <a:pt x="16870" y="78238"/>
                    <a:pt x="0" y="118993"/>
                    <a:pt x="0" y="162372"/>
                  </a:cubicBezTo>
                  <a:cubicBezTo>
                    <a:pt x="0" y="205752"/>
                    <a:pt x="16870" y="246506"/>
                    <a:pt x="47554" y="277191"/>
                  </a:cubicBezTo>
                  <a:cubicBezTo>
                    <a:pt x="78238" y="307875"/>
                    <a:pt x="118993" y="324745"/>
                    <a:pt x="162372" y="324745"/>
                  </a:cubicBezTo>
                  <a:cubicBezTo>
                    <a:pt x="205752" y="324745"/>
                    <a:pt x="246506" y="307875"/>
                    <a:pt x="277191" y="277191"/>
                  </a:cubicBezTo>
                  <a:cubicBezTo>
                    <a:pt x="307875" y="246506"/>
                    <a:pt x="324745" y="205752"/>
                    <a:pt x="324745" y="162372"/>
                  </a:cubicBezTo>
                  <a:cubicBezTo>
                    <a:pt x="324745" y="128461"/>
                    <a:pt x="314373" y="95926"/>
                    <a:pt x="294792" y="68383"/>
                  </a:cubicBezTo>
                  <a:cubicBezTo>
                    <a:pt x="292985" y="65844"/>
                    <a:pt x="289499" y="65285"/>
                    <a:pt x="287003" y="67049"/>
                  </a:cubicBezTo>
                  <a:cubicBezTo>
                    <a:pt x="284464" y="68857"/>
                    <a:pt x="283904" y="72342"/>
                    <a:pt x="285669" y="74838"/>
                  </a:cubicBezTo>
                  <a:cubicBezTo>
                    <a:pt x="303915" y="100488"/>
                    <a:pt x="313556" y="130741"/>
                    <a:pt x="313556" y="162329"/>
                  </a:cubicBezTo>
                  <a:cubicBezTo>
                    <a:pt x="313556" y="245689"/>
                    <a:pt x="245732" y="313469"/>
                    <a:pt x="162415" y="313469"/>
                  </a:cubicBezTo>
                  <a:cubicBezTo>
                    <a:pt x="79099" y="313469"/>
                    <a:pt x="11275" y="245646"/>
                    <a:pt x="11275" y="162329"/>
                  </a:cubicBezTo>
                  <a:cubicBezTo>
                    <a:pt x="11275" y="79013"/>
                    <a:pt x="79099" y="11189"/>
                    <a:pt x="162415" y="11189"/>
                  </a:cubicBezTo>
                  <a:cubicBezTo>
                    <a:pt x="202782" y="11189"/>
                    <a:pt x="240740" y="26897"/>
                    <a:pt x="269315" y="55473"/>
                  </a:cubicBezTo>
                  <a:cubicBezTo>
                    <a:pt x="271510" y="57667"/>
                    <a:pt x="275039" y="57667"/>
                    <a:pt x="277234" y="55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Google Shape;380;p39">
            <a:extLst>
              <a:ext uri="{FF2B5EF4-FFF2-40B4-BE49-F238E27FC236}">
                <a16:creationId xmlns:a16="http://schemas.microsoft.com/office/drawing/2014/main" id="{1405779C-418D-019F-7C4E-166E15B78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4586" y="1091720"/>
            <a:ext cx="4110275" cy="31456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1"/>
                </a:solidFill>
              </a:rPr>
              <a:t>Thank you!</a:t>
            </a:r>
            <a:br>
              <a:rPr lang="en" sz="4000" b="1" dirty="0">
                <a:solidFill>
                  <a:schemeClr val="lt1"/>
                </a:solidFill>
              </a:rPr>
            </a:br>
            <a:br>
              <a:rPr lang="en" sz="4000" b="1" dirty="0">
                <a:solidFill>
                  <a:schemeClr val="lt1"/>
                </a:solidFill>
              </a:rPr>
            </a:br>
            <a:br>
              <a:rPr lang="en" sz="4000" b="1" dirty="0">
                <a:solidFill>
                  <a:schemeClr val="lt1"/>
                </a:solidFill>
              </a:rPr>
            </a:br>
            <a:br>
              <a:rPr lang="en" sz="4000" b="1" dirty="0">
                <a:solidFill>
                  <a:schemeClr val="lt1"/>
                </a:solidFill>
              </a:rPr>
            </a:br>
            <a:r>
              <a:rPr lang="en" sz="4000" b="1" dirty="0">
                <a:solidFill>
                  <a:schemeClr val="lt1"/>
                </a:solidFill>
              </a:rPr>
              <a:t>Any Questions?</a:t>
            </a:r>
            <a:endParaRPr sz="4000" b="1" dirty="0">
              <a:solidFill>
                <a:schemeClr val="lt1"/>
              </a:solidFill>
            </a:endParaRPr>
          </a:p>
        </p:txBody>
      </p:sp>
      <p:sp>
        <p:nvSpPr>
          <p:cNvPr id="12" name="Google Shape;400;p40">
            <a:extLst>
              <a:ext uri="{FF2B5EF4-FFF2-40B4-BE49-F238E27FC236}">
                <a16:creationId xmlns:a16="http://schemas.microsoft.com/office/drawing/2014/main" id="{A0771353-007D-CD15-AC4E-472AD55E6AA6}"/>
              </a:ext>
            </a:extLst>
          </p:cNvPr>
          <p:cNvSpPr txBox="1">
            <a:spLocks/>
          </p:cNvSpPr>
          <p:nvPr/>
        </p:nvSpPr>
        <p:spPr>
          <a:xfrm>
            <a:off x="734586" y="1414849"/>
            <a:ext cx="3998804" cy="249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endParaRPr lang="en-US" sz="1200" b="1" dirty="0">
              <a:latin typeface="Andale Mono" panose="020B0509000000000004" pitchFamily="49" charset="0"/>
              <a:cs typeface="Courier New" panose="02070309020205020404" pitchFamily="49" charset="0"/>
            </a:endParaRP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Professor </a:t>
            </a:r>
            <a:r>
              <a:rPr lang="en-US" sz="1200" dirty="0" err="1">
                <a:latin typeface="Andale Mono" panose="020B0509000000000004" pitchFamily="49" charset="0"/>
                <a:cs typeface="Courier New" panose="02070309020205020404" pitchFamily="49" charset="0"/>
              </a:rPr>
              <a:t>Alraee</a:t>
            </a:r>
            <a:endParaRPr lang="en-US" sz="1200" dirty="0">
              <a:latin typeface="Andale Mono" panose="020B0509000000000004" pitchFamily="49" charset="0"/>
              <a:cs typeface="Courier New" panose="02070309020205020404" pitchFamily="49" charset="0"/>
            </a:endParaRP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Professor Saidi</a:t>
            </a: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Professor Perine</a:t>
            </a:r>
          </a:p>
          <a:p>
            <a:pPr marL="285750" indent="-285750" algn="ctr">
              <a:buFontTx/>
              <a:buChar char="-"/>
            </a:pPr>
            <a:r>
              <a:rPr lang="en-US" sz="1200" dirty="0" err="1">
                <a:latin typeface="Andale Mono" panose="020B0509000000000004" pitchFamily="49" charset="0"/>
                <a:cs typeface="Courier New" panose="02070309020205020404" pitchFamily="49" charset="0"/>
              </a:rPr>
              <a:t>Dr.Park</a:t>
            </a:r>
            <a:endParaRPr lang="en-US" sz="1200" dirty="0">
              <a:latin typeface="Andale Mono" panose="020B0509000000000004" pitchFamily="49" charset="0"/>
              <a:cs typeface="Courier New" panose="02070309020205020404" pitchFamily="49" charset="0"/>
            </a:endParaRP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Victoria Liu</a:t>
            </a: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Darren Dobkin</a:t>
            </a: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Montgomery County Government</a:t>
            </a:r>
          </a:p>
          <a:p>
            <a:pPr marL="285750" indent="-285750" algn="ctr">
              <a:buFontTx/>
              <a:buChar char="-"/>
            </a:pPr>
            <a:r>
              <a:rPr lang="en-US" sz="1200" dirty="0" err="1">
                <a:latin typeface="Andale Mono" panose="020B0509000000000004" pitchFamily="49" charset="0"/>
                <a:cs typeface="Courier New" panose="02070309020205020404" pitchFamily="49" charset="0"/>
              </a:rPr>
              <a:t>DataMontgomery</a:t>
            </a: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 team</a:t>
            </a: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Classmates</a:t>
            </a:r>
          </a:p>
          <a:p>
            <a:pPr marL="285750" indent="-285750" algn="ctr">
              <a:buFontTx/>
              <a:buChar char="-"/>
            </a:pPr>
            <a:endParaRPr lang="en-US" sz="1200" dirty="0">
              <a:latin typeface="Andale Mono" panose="020B05090000000000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768A88-3D72-9C60-DA64-339D34192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07" y="4166890"/>
            <a:ext cx="2296601" cy="26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1153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ational Organizations in Globalization by Slidesgo">
  <a:themeElements>
    <a:clrScheme name="Simple Light">
      <a:dk1>
        <a:srgbClr val="333333"/>
      </a:dk1>
      <a:lt1>
        <a:srgbClr val="FFF8F2"/>
      </a:lt1>
      <a:dk2>
        <a:srgbClr val="98000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5412</TotalTime>
  <Words>941</Words>
  <Application>Microsoft Macintosh PowerPoint</Application>
  <PresentationFormat>On-screen Show (16:9)</PresentationFormat>
  <Paragraphs>185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Inria Serif</vt:lpstr>
      <vt:lpstr>Andale Mono</vt:lpstr>
      <vt:lpstr>Inter</vt:lpstr>
      <vt:lpstr>Calibri</vt:lpstr>
      <vt:lpstr>Lato</vt:lpstr>
      <vt:lpstr>DM Sans</vt:lpstr>
      <vt:lpstr>Kohinoor Bangla</vt:lpstr>
      <vt:lpstr>Anaheim</vt:lpstr>
      <vt:lpstr>Courier New</vt:lpstr>
      <vt:lpstr>Nunito Light</vt:lpstr>
      <vt:lpstr>Arial</vt:lpstr>
      <vt:lpstr>International Organizations in Globalization by Slidesgo</vt:lpstr>
      <vt:lpstr>The Perception Gap 911 calls vs. crime reality </vt:lpstr>
      <vt:lpstr>01</vt:lpstr>
      <vt:lpstr>Background Information</vt:lpstr>
      <vt:lpstr>Why the Perception Gap Matters</vt:lpstr>
      <vt:lpstr>Datasets</vt:lpstr>
      <vt:lpstr>Data Source Overview * DataMontgomery</vt:lpstr>
      <vt:lpstr>Incident Classification </vt:lpstr>
      <vt:lpstr>How the Perception Gap Happens</vt:lpstr>
      <vt:lpstr>The Perception Gap Structure</vt:lpstr>
      <vt:lpstr>Potential reasons for crimes with No Report </vt:lpstr>
      <vt:lpstr>Final Data Product</vt:lpstr>
      <vt:lpstr>Dashboard</vt:lpstr>
      <vt:lpstr>Statistical Analysis</vt:lpstr>
      <vt:lpstr>Tests</vt:lpstr>
      <vt:lpstr>Models</vt:lpstr>
      <vt:lpstr>Key Findings</vt:lpstr>
      <vt:lpstr>PowerPoint Presentation</vt:lpstr>
      <vt:lpstr>Reflection</vt:lpstr>
      <vt:lpstr>Reflection</vt:lpstr>
      <vt:lpstr>Next Steps</vt:lpstr>
      <vt:lpstr>Recommendations</vt:lpstr>
      <vt:lpstr>Resources</vt:lpstr>
      <vt:lpstr>Thank you!  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Melo Cavalcante, Julia</cp:lastModifiedBy>
  <cp:revision>14</cp:revision>
  <dcterms:modified xsi:type="dcterms:W3CDTF">2026-05-11T23:15:34Z</dcterms:modified>
</cp:coreProperties>
</file>